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74" r:id="rId26"/>
    <p:sldId id="260" r:id="rId12"/>
    <p:sldId id="262" r:id="rId14"/>
    <p:sldId id="261" r:id="rId13"/>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introduce the product yet. Open with the problem everyone in the room already feels: children spend more time on screens than ever, yet it rarely turns into learning. Thank the principal for the time, then move straight to the question.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this question and then STOP talking. Let the principal answer fully. Write down their exact words — you will use them later in the pilot plan. Follow-up if needed: “Which part of learning do you wish stayed longer — the concept, the interest, or the habit of practice?”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Questions to ask, one card at a time:</a:t>
            </a:r>
          </a:p>
          <a:p>
            <a:r>
              <a:t>• In class: “At what point in a lesson do you see attention drop? Which subjects do children find hardest in Class 3–5?”</a:t>
            </a:r>
          </a:p>
          <a:p>
            <a:r>
              <a:t>• At home: “What do children usually do after school? How much do parents help with practice?”</a:t>
            </a:r>
          </a:p>
          <a:p>
            <a:r>
              <a:t>• Real life: “Can they apply maths or science outside the textbook — for example, with money or measurements?”</a:t>
            </a:r>
          </a:p>
          <a:p>
            <a:r>
              <a:t>• Confidence: “Do children volunteer answers, or wait for the right one?”</a:t>
            </a:r>
          </a:p>
          <a:p>
            <a:r>
              <a:t>Listen more than you speak. Note the subjects and problems they mention.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“These are things teachers and parents often share with us — does this match what you see here?” Invite them to add or correct. Do not quote numbers we do not have; let the principal’s own experience be the evidence. Connect each point to what they said on the previous slide.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on this slide. This is the heart of the pitch. Say it slowly. Then: “That is what we built Zungga for.”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REVEAL. Only now say the name: “This is Zungga.” Introduce it in one breath: short cartoon episodes; the story stops and asks the child; then a real-world mission. Mention it covers maths and money today, science next, and life skills.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loop left to right. Stress two things: (1) the child must THINK during the pause — it is not passive; (2) the episode only unlocks after a real activity at home, approved by a parent. This is how screen time turns into active time.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characters: Rio (energetic), Tara (the careful thinker with her notebook), Mira (creative) and Thatha, the friendly grandfather. Each character has their own voice. The story: Rio opens a lemonade stall on a hot day, spends ₹70, earns only ₹50 — and asks the children for help.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the video to play (it plays inside the slide, with sound — check the volume before the meeting). Tell the principal: watch for the three moments where Rio stops and asks the children. Afterwards ask: “Would your children answer out loud here?”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why each pause works for Class 3–5: LOOK builds confidence (the answer is visible), CHOOSE works for shy children and whole classes (fingers), COUNT is real syllabus maths. After each pause the characters confirm the answer and praise: “If you said two, you think like a real business person!”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mission links the lesson to home. Always three unrelated choices at the same level of effort — movement, family, creative — so every child (including children who cannot do physical activity) has an option. A grown-up at home confirms it with a PIN, and the next episode unlocks. Long tasks like “help prepare dinner” can be approved later.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Principals worry about screens and data — address it directly. The app never tracks children; parents confirm activities themselves with a separate login and PIN. No ads. Minimal data with parental consent. Mention we follow India’s Digital Personal Data Protection Act requirements for children (verifiable parental consent, no tracking or targeted ads).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it easy for teachers: one episode takes about 5 minutes of class time including the pauses. Content follows the Class 3–5 state-board topics (we map each episode to a chapter). NEP 2020 emphasises experiential learning and critical thinking — this is exactly that. Ask: “Which chapter would you most like to see as an episode?”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ask small and low-risk. Fill in the cost line before the meeting (e.g. free pilot). Be honest: Episode 1 is complete; the rest are being produced with the same studio for the pilot schedule. Ask which class and sections they would like.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Measurement respects privacy: teacher forms, classroom observation, counts of approved missions, children's own reflections and a short parent survey. We bring everything to a review meeting in week 4 and decide together whether to continue.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Agree on a start date. Week 0 is light: pick the sections, send a consent note to parents (we provide the draft), and a 20-minute teacher walkthrough.</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the ask concrete and small. Close with a question, not a statement: “Which class would you like to start with, and could we begin on [date]?” Then stop and wait.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the principal. Leave contact details. Offer to send the episode video and a one-page pilot summary the same day.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principal first: “If you could change one thing, how would you solve this?” Listen. Then walk the common answers left to right — each has a cost. Land on the last card: what if the screen itself made children think? That is the bridge to the next slide.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3.jp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jpg"/><Relationship Id="rId4" Type="http://schemas.openxmlformats.org/officeDocument/2006/relationships/image" Target="../media/image5.jpg"/><Relationship Id="rId5" Type="http://schemas.openxmlformats.org/officeDocument/2006/relationships/image" Target="../media/image6.jpg"/><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image" Target="../media/image2.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A1458"/>
        </a:solidFill>
        <a:effectLst/>
      </p:bgPr>
    </p:bg>
    <p:spTree>
      <p:nvGrpSpPr>
        <p:cNvPr id="1" name=""/>
        <p:cNvGrpSpPr/>
        <p:nvPr/>
      </p:nvGrpSpPr>
      <p:grpSpPr/>
      <p:sp>
        <p:nvSpPr>
          <p:cNvPr id="2" name="!!orbA"/>
          <p:cNvSpPr/>
          <p:nvPr/>
        </p:nvSpPr>
        <p:spPr>
          <a:xfrm>
            <a:off x="9052560" y="-1463040"/>
            <a:ext cx="4937760" cy="4937760"/>
          </a:xfrm>
          <a:prstGeom prst="ellipse">
            <a:avLst/>
          </a:prstGeom>
          <a:solidFill>
            <a:srgbClr val="FCC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rbB"/>
          <p:cNvSpPr/>
          <p:nvPr/>
        </p:nvSpPr>
        <p:spPr>
          <a:xfrm>
            <a:off x="10607040" y="4754880"/>
            <a:ext cx="2377440" cy="2377440"/>
          </a:xfrm>
          <a:prstGeom prst="ellipse">
            <a:avLst/>
          </a:prstGeom>
          <a:solidFill>
            <a:srgbClr val="FF4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rbC"/>
          <p:cNvSpPr/>
          <p:nvPr/>
        </p:nvSpPr>
        <p:spPr>
          <a:xfrm>
            <a:off x="-1097280" y="5120640"/>
            <a:ext cx="2194560" cy="21945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eyebrow"/>
          <p:cNvSpPr txBox="1"/>
          <p:nvPr/>
        </p:nvSpPr>
        <p:spPr>
          <a:xfrm>
            <a:off x="841248" y="1417320"/>
            <a:ext cx="7315200" cy="457200"/>
          </a:xfrm>
          <a:prstGeom prst="rect">
            <a:avLst/>
          </a:prstGeom>
          <a:noFill/>
        </p:spPr>
        <p:txBody>
          <a:bodyPr wrap="square" lIns="45720" rIns="45720" tIns="27432" bIns="27432" anchor="t">
            <a:spAutoFit/>
          </a:bodyPr>
          <a:lstStyle/>
          <a:p>
            <a:pPr algn="l">
              <a:lnSpc>
                <a:spcPct val="110000"/>
              </a:lnSpc>
            </a:pPr>
            <a:r>
              <a:rPr sz="1600" b="0">
                <a:solidFill>
                  <a:srgbClr val="FCC72C"/>
                </a:solidFill>
                <a:latin typeface="Arial Rounded MT Bold"/>
              </a:rPr>
              <a:t>A CONVERSATION ABOUT CLASS 3–5 LEARNING</a:t>
            </a:r>
          </a:p>
        </p:txBody>
      </p:sp>
      <p:sp>
        <p:nvSpPr>
          <p:cNvPr id="6" name="!!title"/>
          <p:cNvSpPr txBox="1"/>
          <p:nvPr/>
        </p:nvSpPr>
        <p:spPr>
          <a:xfrm>
            <a:off x="822960" y="2057400"/>
            <a:ext cx="7863840" cy="2560320"/>
          </a:xfrm>
          <a:prstGeom prst="rect">
            <a:avLst/>
          </a:prstGeom>
          <a:noFill/>
        </p:spPr>
        <p:txBody>
          <a:bodyPr wrap="square" lIns="45720" rIns="45720" tIns="27432" bIns="27432" anchor="t">
            <a:spAutoFit/>
          </a:bodyPr>
          <a:lstStyle/>
          <a:p>
            <a:pPr algn="l">
              <a:lnSpc>
                <a:spcPct val="100000"/>
              </a:lnSpc>
            </a:pPr>
            <a:r>
              <a:rPr sz="5000" b="0">
                <a:solidFill>
                  <a:srgbClr val="FBF7EE"/>
                </a:solidFill>
                <a:latin typeface="Arial Rounded MT Bold"/>
              </a:rPr>
              <a:t>More screen time than ever.</a:t>
            </a:r>
          </a:p>
          <a:p>
            <a:pPr algn="l">
              <a:lnSpc>
                <a:spcPct val="100000"/>
              </a:lnSpc>
            </a:pPr>
            <a:r>
              <a:rPr sz="5000" b="0">
                <a:solidFill>
                  <a:srgbClr val="FBF7EE"/>
                </a:solidFill>
                <a:latin typeface="Arial Rounded MT Bold"/>
              </a:rPr>
              <a:t>Are our children </a:t>
            </a:r>
            <a:r>
              <a:rPr sz="5000" b="0">
                <a:solidFill>
                  <a:srgbClr val="FCC72C"/>
                </a:solidFill>
                <a:latin typeface="Arial Rounded MT Bold"/>
              </a:rPr>
              <a:t>learning more?</a:t>
            </a:r>
          </a:p>
        </p:txBody>
      </p:sp>
      <p:sp>
        <p:nvSpPr>
          <p:cNvPr id="7" name="meta"/>
          <p:cNvSpPr txBox="1"/>
          <p:nvPr/>
        </p:nvSpPr>
        <p:spPr>
          <a:xfrm>
            <a:off x="841248" y="5989320"/>
            <a:ext cx="7315200" cy="365760"/>
          </a:xfrm>
          <a:prstGeom prst="rect">
            <a:avLst/>
          </a:prstGeom>
          <a:noFill/>
        </p:spPr>
        <p:txBody>
          <a:bodyPr wrap="square" lIns="45720" rIns="45720" tIns="27432" bIns="27432" anchor="t">
            <a:spAutoFit/>
          </a:bodyPr>
          <a:lstStyle/>
          <a:p>
            <a:pPr algn="l">
              <a:lnSpc>
                <a:spcPct val="110000"/>
              </a:lnSpc>
            </a:pPr>
            <a:r>
              <a:rPr sz="1400" b="0">
                <a:solidFill>
                  <a:srgbClr val="D9CCF5"/>
                </a:solidFill>
                <a:latin typeface="Avenir Next"/>
              </a:rPr>
              <a:t>[School name]  ·  [Date]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7EE"/>
        </a:solidFill>
        <a:effectLst/>
      </p:bgPr>
    </p:bg>
    <p:spTree>
      <p:nvGrpSpPr>
        <p:cNvPr id="1" name=""/>
        <p:cNvGrpSpPr/>
        <p:nvPr/>
      </p:nvGrpSpPr>
      <p:grpSpPr/>
      <p:sp>
        <p:nvSpPr>
          <p:cNvPr id="2" name="!!orbA"/>
          <p:cNvSpPr/>
          <p:nvPr/>
        </p:nvSpPr>
        <p:spPr>
          <a:xfrm>
            <a:off x="9692640" y="-822960"/>
            <a:ext cx="3108960" cy="3108960"/>
          </a:xfrm>
          <a:prstGeom prst="ellipse">
            <a:avLst/>
          </a:prstGeom>
          <a:solidFill>
            <a:srgbClr val="FCC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rbB"/>
          <p:cNvSpPr/>
          <p:nvPr/>
        </p:nvSpPr>
        <p:spPr>
          <a:xfrm>
            <a:off x="11247120" y="2103120"/>
            <a:ext cx="1097280" cy="1097280"/>
          </a:xfrm>
          <a:prstGeom prst="ellipse">
            <a:avLst/>
          </a:prstGeom>
          <a:solidFill>
            <a:srgbClr val="FF4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rbC"/>
          <p:cNvSpPr/>
          <p:nvPr/>
        </p:nvSpPr>
        <p:spPr>
          <a:xfrm>
            <a:off x="-640080" y="5486400"/>
            <a:ext cx="1463040" cy="14630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eyebrow"/>
          <p:cNvSpPr txBox="1"/>
          <p:nvPr/>
        </p:nvSpPr>
        <p:spPr>
          <a:xfrm>
            <a:off x="804672" y="347472"/>
            <a:ext cx="8229600" cy="365760"/>
          </a:xfrm>
          <a:prstGeom prst="rect">
            <a:avLst/>
          </a:prstGeom>
          <a:noFill/>
        </p:spPr>
        <p:txBody>
          <a:bodyPr wrap="square" lIns="45720" rIns="45720" tIns="27432" bIns="27432" anchor="t">
            <a:spAutoFit/>
          </a:bodyPr>
          <a:lstStyle/>
          <a:p>
            <a:pPr algn="l">
              <a:lnSpc>
                <a:spcPct val="110000"/>
              </a:lnSpc>
            </a:pPr>
            <a:r>
              <a:rPr sz="1400" b="0">
                <a:solidFill>
                  <a:srgbClr val="7C3AED"/>
                </a:solidFill>
                <a:latin typeface="Arial Rounded MT Bold"/>
              </a:rPr>
              <a:t>BEFORE WE SHOW ANYTHING</a:t>
            </a:r>
          </a:p>
        </p:txBody>
      </p:sp>
      <p:sp>
        <p:nvSpPr>
          <p:cNvPr id="6" name="!!title"/>
          <p:cNvSpPr txBox="1"/>
          <p:nvPr/>
        </p:nvSpPr>
        <p:spPr>
          <a:xfrm>
            <a:off x="777240" y="1417320"/>
            <a:ext cx="10241280" cy="2560320"/>
          </a:xfrm>
          <a:prstGeom prst="rect">
            <a:avLst/>
          </a:prstGeom>
          <a:noFill/>
        </p:spPr>
        <p:txBody>
          <a:bodyPr wrap="square" lIns="45720" rIns="45720" tIns="27432" bIns="27432" anchor="t">
            <a:spAutoFit/>
          </a:bodyPr>
          <a:lstStyle/>
          <a:p>
            <a:pPr algn="l">
              <a:lnSpc>
                <a:spcPct val="105000"/>
              </a:lnSpc>
            </a:pPr>
            <a:r>
              <a:rPr sz="4800" b="0">
                <a:solidFill>
                  <a:srgbClr val="2A1458"/>
                </a:solidFill>
                <a:latin typeface="Arial Rounded MT Bold"/>
              </a:rPr>
              <a:t>When your Class 3–5 children close the textbook,</a:t>
            </a:r>
          </a:p>
          <a:p>
            <a:pPr algn="l">
              <a:lnSpc>
                <a:spcPct val="105000"/>
              </a:lnSpc>
            </a:pPr>
            <a:r>
              <a:rPr sz="4800" b="0">
                <a:solidFill>
                  <a:srgbClr val="2A1458"/>
                </a:solidFill>
                <a:latin typeface="Arial Rounded MT Bold"/>
              </a:rPr>
              <a:t>what </a:t>
            </a:r>
            <a:r>
              <a:rPr sz="4800" b="0">
                <a:solidFill>
                  <a:srgbClr val="7C3AED"/>
                </a:solidFill>
                <a:latin typeface="Arial Rounded MT Bold"/>
              </a:rPr>
              <a:t>stays</a:t>
            </a:r>
            <a:r>
              <a:rPr sz="4800" b="0">
                <a:solidFill>
                  <a:srgbClr val="2A1458"/>
                </a:solidFill>
                <a:latin typeface="Arial Rounded MT Bold"/>
              </a:rPr>
              <a:t> with them?</a:t>
            </a:r>
          </a:p>
        </p:txBody>
      </p:sp>
      <p:sp>
        <p:nvSpPr>
          <p:cNvPr id="7" name="!!sub"/>
          <p:cNvSpPr txBox="1"/>
          <p:nvPr/>
        </p:nvSpPr>
        <p:spPr>
          <a:xfrm>
            <a:off x="804672" y="4206240"/>
            <a:ext cx="8686800" cy="1097280"/>
          </a:xfrm>
          <a:prstGeom prst="rect">
            <a:avLst/>
          </a:prstGeom>
          <a:noFill/>
        </p:spPr>
        <p:txBody>
          <a:bodyPr wrap="square" lIns="45720" rIns="45720" tIns="27432" bIns="27432" anchor="t">
            <a:spAutoFit/>
          </a:bodyPr>
          <a:lstStyle/>
          <a:p>
            <a:pPr algn="l">
              <a:lnSpc>
                <a:spcPct val="110000"/>
              </a:lnSpc>
            </a:pPr>
            <a:r>
              <a:rPr sz="2200" b="0">
                <a:solidFill>
                  <a:srgbClr val="4B4466"/>
                </a:solidFill>
                <a:latin typeface="Avenir Next"/>
              </a:rPr>
              <a:t>We would love to start by listening — you see these children every day.</a:t>
            </a:r>
          </a:p>
        </p:txBody>
      </p:sp>
      <p:sp>
        <p:nvSpPr>
          <p:cNvPr id="8" name="footer"/>
          <p:cNvSpPr txBox="1"/>
          <p:nvPr/>
        </p:nvSpPr>
        <p:spPr>
          <a:xfrm>
            <a:off x="804672" y="6327648"/>
            <a:ext cx="7315200" cy="320040"/>
          </a:xfrm>
          <a:prstGeom prst="rect">
            <a:avLst/>
          </a:prstGeom>
          <a:noFill/>
        </p:spPr>
        <p:txBody>
          <a:bodyPr wrap="square" lIns="45720" rIns="45720" tIns="27432" bIns="27432" anchor="t">
            <a:spAutoFit/>
          </a:bodyPr>
          <a:lstStyle/>
          <a:p>
            <a:pPr algn="l">
              <a:lnSpc>
                <a:spcPct val="110000"/>
              </a:lnSpc>
            </a:pPr>
            <a:r>
              <a:rPr sz="1100" b="0">
                <a:solidFill>
                  <a:srgbClr val="8A82A3"/>
                </a:solidFill>
                <a:latin typeface="Avenir Next"/>
              </a:rPr>
              <a:t>Class 3–5 learning   ·   2</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600">
        <p159:morph option="byObject"/>
      </p:transition>
    </mc:Choice>
    <mc:Fallback>
      <p:transition spd="slow">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7EE"/>
        </a:solidFill>
        <a:effectLst/>
      </p:bgPr>
    </p:bg>
    <p:spTree>
      <p:nvGrpSpPr>
        <p:cNvPr id="1" name=""/>
        <p:cNvGrpSpPr/>
        <p:nvPr/>
      </p:nvGrpSpPr>
      <p:grpSpPr/>
      <p:sp>
        <p:nvSpPr>
          <p:cNvPr id="2" name="!!orbA"/>
          <p:cNvSpPr/>
          <p:nvPr/>
        </p:nvSpPr>
        <p:spPr>
          <a:xfrm>
            <a:off x="10881360" y="-548640"/>
            <a:ext cx="1463040" cy="1463040"/>
          </a:xfrm>
          <a:prstGeom prst="ellipse">
            <a:avLst/>
          </a:prstGeom>
          <a:solidFill>
            <a:srgbClr val="FCC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rbB"/>
          <p:cNvSpPr/>
          <p:nvPr/>
        </p:nvSpPr>
        <p:spPr>
          <a:xfrm>
            <a:off x="11430000" y="5852160"/>
            <a:ext cx="1280160" cy="1280160"/>
          </a:xfrm>
          <a:prstGeom prst="ellipse">
            <a:avLst/>
          </a:prstGeom>
          <a:solidFill>
            <a:srgbClr val="FF4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rbC"/>
          <p:cNvSpPr/>
          <p:nvPr/>
        </p:nvSpPr>
        <p:spPr>
          <a:xfrm>
            <a:off x="-457200" y="-457200"/>
            <a:ext cx="1188720" cy="11887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eyebrow"/>
          <p:cNvSpPr txBox="1"/>
          <p:nvPr/>
        </p:nvSpPr>
        <p:spPr>
          <a:xfrm>
            <a:off x="804672" y="347472"/>
            <a:ext cx="8229600" cy="365760"/>
          </a:xfrm>
          <a:prstGeom prst="rect">
            <a:avLst/>
          </a:prstGeom>
          <a:noFill/>
        </p:spPr>
        <p:txBody>
          <a:bodyPr wrap="square" lIns="45720" rIns="45720" tIns="27432" bIns="27432" anchor="t">
            <a:spAutoFit/>
          </a:bodyPr>
          <a:lstStyle/>
          <a:p>
            <a:pPr algn="l">
              <a:lnSpc>
                <a:spcPct val="110000"/>
              </a:lnSpc>
            </a:pPr>
            <a:r>
              <a:rPr sz="1400" b="0">
                <a:solidFill>
                  <a:srgbClr val="7C3AED"/>
                </a:solidFill>
                <a:latin typeface="Arial Rounded MT Bold"/>
              </a:rPr>
              <a:t>A CONVERSATION</a:t>
            </a:r>
          </a:p>
        </p:txBody>
      </p:sp>
      <p:sp>
        <p:nvSpPr>
          <p:cNvPr id="6" name="!!title"/>
          <p:cNvSpPr txBox="1"/>
          <p:nvPr/>
        </p:nvSpPr>
        <p:spPr>
          <a:xfrm>
            <a:off x="777240" y="566928"/>
            <a:ext cx="9875520" cy="914400"/>
          </a:xfrm>
          <a:prstGeom prst="rect">
            <a:avLst/>
          </a:prstGeom>
          <a:noFill/>
        </p:spPr>
        <p:txBody>
          <a:bodyPr wrap="square" lIns="45720" rIns="45720" tIns="27432" bIns="27432" anchor="t">
            <a:spAutoFit/>
          </a:bodyPr>
          <a:lstStyle/>
          <a:p>
            <a:pPr algn="l">
              <a:lnSpc>
                <a:spcPct val="110000"/>
              </a:lnSpc>
            </a:pPr>
            <a:r>
              <a:rPr sz="4000" b="0">
                <a:solidFill>
                  <a:srgbClr val="2A1458"/>
                </a:solidFill>
                <a:latin typeface="Arial Rounded MT Bold"/>
              </a:rPr>
              <a:t>Where do children lose their focus?</a:t>
            </a:r>
          </a:p>
        </p:txBody>
      </p:sp>
      <p:sp>
        <p:nvSpPr>
          <p:cNvPr id="7" name="!!card0"/>
          <p:cNvSpPr/>
          <p:nvPr/>
        </p:nvSpPr>
        <p:spPr>
          <a:xfrm>
            <a:off x="777240" y="1965960"/>
            <a:ext cx="2560320" cy="2926080"/>
          </a:xfrm>
          <a:prstGeom prst="roundRect">
            <a:avLst>
              <a:gd name="adj" fmla="val 12000"/>
            </a:avLst>
          </a:prstGeom>
          <a:solidFill>
            <a:srgbClr val="FFFDF8"/>
          </a:solidFill>
          <a:ln>
            <a:noFill/>
          </a:ln>
          <a:effectLst/>
        </p:spPr>
        <p:style>
          <a:lnRef idx="1">
            <a:schemeClr val="accent1"/>
          </a:lnRef>
          <a:fillRef idx="3">
            <a:schemeClr val="accent1"/>
          </a:fillRef>
          <a:effectRef idx="2">
            <a:schemeClr val="accent1"/>
          </a:effectRef>
          <a:fontRef idx="minor">
            <a:schemeClr val="lt1"/>
          </a:fontRef>
        </p:style>
        <p:txBody>
          <a:bodyPr rtlCol="0" anchor="t" lIns="45720" rIns="45720" tIns="27432" bIns="27432" wrap="square"/>
          <a:lstStyle/>
          <a:p>
            <a:pPr algn="l">
              <a:lnSpc>
                <a:spcPct val="110000"/>
              </a:lnSpc>
            </a:pPr>
            <a:r>
              <a:rPr sz="4000" b="0">
                <a:solidFill>
                  <a:srgbClr val="2A1458"/>
                </a:solidFill>
                <a:latin typeface="Avenir Next"/>
              </a:rPr>
              <a:t>🎯</a:t>
            </a:r>
          </a:p>
          <a:p>
            <a:pPr algn="l">
              <a:lnSpc>
                <a:spcPct val="110000"/>
              </a:lnSpc>
            </a:pPr>
            <a:r>
              <a:rPr sz="2400" b="0">
                <a:solidFill>
                  <a:srgbClr val="2A1458"/>
                </a:solidFill>
                <a:latin typeface="Arial Rounded MT Bold"/>
              </a:rPr>
              <a:t>In class</a:t>
            </a:r>
          </a:p>
          <a:p>
            <a:pPr algn="l">
              <a:lnSpc>
                <a:spcPct val="110000"/>
              </a:lnSpc>
            </a:pPr>
            <a:r>
              <a:rPr sz="1700" b="0">
                <a:solidFill>
                  <a:srgbClr val="4B4466"/>
                </a:solidFill>
                <a:latin typeface="Avenir Next"/>
              </a:rPr>
              <a:t>When does attention drop? Which subjects feel hardest?</a:t>
            </a:r>
          </a:p>
        </p:txBody>
      </p:sp>
      <p:sp>
        <p:nvSpPr>
          <p:cNvPr id="8" name="!!cardbar0"/>
          <p:cNvSpPr/>
          <p:nvPr/>
        </p:nvSpPr>
        <p:spPr>
          <a:xfrm>
            <a:off x="777240" y="1965960"/>
            <a:ext cx="2560320" cy="146304"/>
          </a:xfrm>
          <a:prstGeom prst="roundRect">
            <a:avLst>
              <a:gd name="adj" fmla="val 50000"/>
            </a:avLst>
          </a:prstGeom>
          <a:solidFill>
            <a:srgbClr val="FCC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1"/>
          <p:cNvSpPr/>
          <p:nvPr/>
        </p:nvSpPr>
        <p:spPr>
          <a:xfrm>
            <a:off x="3520440" y="1965960"/>
            <a:ext cx="2560320" cy="2926080"/>
          </a:xfrm>
          <a:prstGeom prst="roundRect">
            <a:avLst>
              <a:gd name="adj" fmla="val 12000"/>
            </a:avLst>
          </a:prstGeom>
          <a:solidFill>
            <a:srgbClr val="FFFDF8"/>
          </a:solidFill>
          <a:ln>
            <a:noFill/>
          </a:ln>
          <a:effectLst/>
        </p:spPr>
        <p:style>
          <a:lnRef idx="1">
            <a:schemeClr val="accent1"/>
          </a:lnRef>
          <a:fillRef idx="3">
            <a:schemeClr val="accent1"/>
          </a:fillRef>
          <a:effectRef idx="2">
            <a:schemeClr val="accent1"/>
          </a:effectRef>
          <a:fontRef idx="minor">
            <a:schemeClr val="lt1"/>
          </a:fontRef>
        </p:style>
        <p:txBody>
          <a:bodyPr rtlCol="0" anchor="t" lIns="45720" rIns="45720" tIns="27432" bIns="27432" wrap="square"/>
          <a:lstStyle/>
          <a:p>
            <a:pPr algn="l">
              <a:lnSpc>
                <a:spcPct val="110000"/>
              </a:lnSpc>
            </a:pPr>
            <a:r>
              <a:rPr sz="4000" b="0">
                <a:solidFill>
                  <a:srgbClr val="2A1458"/>
                </a:solidFill>
                <a:latin typeface="Avenir Next"/>
              </a:rPr>
              <a:t>🏠</a:t>
            </a:r>
          </a:p>
          <a:p>
            <a:pPr algn="l">
              <a:lnSpc>
                <a:spcPct val="110000"/>
              </a:lnSpc>
            </a:pPr>
            <a:r>
              <a:rPr sz="2400" b="0">
                <a:solidFill>
                  <a:srgbClr val="2A1458"/>
                </a:solidFill>
                <a:latin typeface="Arial Rounded MT Bold"/>
              </a:rPr>
              <a:t>At home</a:t>
            </a:r>
          </a:p>
          <a:p>
            <a:pPr algn="l">
              <a:lnSpc>
                <a:spcPct val="110000"/>
              </a:lnSpc>
            </a:pPr>
            <a:r>
              <a:rPr sz="1700" b="0">
                <a:solidFill>
                  <a:srgbClr val="4B4466"/>
                </a:solidFill>
                <a:latin typeface="Avenir Next"/>
              </a:rPr>
              <a:t>What happens after school — practice, or screens?</a:t>
            </a:r>
          </a:p>
        </p:txBody>
      </p:sp>
      <p:sp>
        <p:nvSpPr>
          <p:cNvPr id="10" name="!!cardbar1"/>
          <p:cNvSpPr/>
          <p:nvPr/>
        </p:nvSpPr>
        <p:spPr>
          <a:xfrm>
            <a:off x="3520440" y="1965960"/>
            <a:ext cx="2560320" cy="146304"/>
          </a:xfrm>
          <a:prstGeom prst="roundRect">
            <a:avLst>
              <a:gd name="adj" fmla="val 50000"/>
            </a:avLst>
          </a:prstGeom>
          <a:solidFill>
            <a:srgbClr val="FF4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rd2"/>
          <p:cNvSpPr/>
          <p:nvPr/>
        </p:nvSpPr>
        <p:spPr>
          <a:xfrm>
            <a:off x="6263640" y="1965960"/>
            <a:ext cx="2560320" cy="2926080"/>
          </a:xfrm>
          <a:prstGeom prst="roundRect">
            <a:avLst>
              <a:gd name="adj" fmla="val 12000"/>
            </a:avLst>
          </a:prstGeom>
          <a:solidFill>
            <a:srgbClr val="FFFDF8"/>
          </a:solidFill>
          <a:ln>
            <a:noFill/>
          </a:ln>
          <a:effectLst/>
        </p:spPr>
        <p:style>
          <a:lnRef idx="1">
            <a:schemeClr val="accent1"/>
          </a:lnRef>
          <a:fillRef idx="3">
            <a:schemeClr val="accent1"/>
          </a:fillRef>
          <a:effectRef idx="2">
            <a:schemeClr val="accent1"/>
          </a:effectRef>
          <a:fontRef idx="minor">
            <a:schemeClr val="lt1"/>
          </a:fontRef>
        </p:style>
        <p:txBody>
          <a:bodyPr rtlCol="0" anchor="t" lIns="45720" rIns="45720" tIns="27432" bIns="27432" wrap="square"/>
          <a:lstStyle/>
          <a:p>
            <a:pPr algn="l">
              <a:lnSpc>
                <a:spcPct val="110000"/>
              </a:lnSpc>
            </a:pPr>
            <a:r>
              <a:rPr sz="4000" b="0">
                <a:solidFill>
                  <a:srgbClr val="2A1458"/>
                </a:solidFill>
                <a:latin typeface="Avenir Next"/>
              </a:rPr>
              <a:t>🌍</a:t>
            </a:r>
          </a:p>
          <a:p>
            <a:pPr algn="l">
              <a:lnSpc>
                <a:spcPct val="110000"/>
              </a:lnSpc>
            </a:pPr>
            <a:r>
              <a:rPr sz="2400" b="0">
                <a:solidFill>
                  <a:srgbClr val="2A1458"/>
                </a:solidFill>
                <a:latin typeface="Arial Rounded MT Bold"/>
              </a:rPr>
              <a:t>In real life</a:t>
            </a:r>
          </a:p>
          <a:p>
            <a:pPr algn="l">
              <a:lnSpc>
                <a:spcPct val="110000"/>
              </a:lnSpc>
            </a:pPr>
            <a:r>
              <a:rPr sz="1700" b="0">
                <a:solidFill>
                  <a:srgbClr val="4B4466"/>
                </a:solidFill>
                <a:latin typeface="Avenir Next"/>
              </a:rPr>
              <a:t>Can they use what they learned outside the book?</a:t>
            </a:r>
          </a:p>
        </p:txBody>
      </p:sp>
      <p:sp>
        <p:nvSpPr>
          <p:cNvPr id="12" name="!!cardbar2"/>
          <p:cNvSpPr/>
          <p:nvPr/>
        </p:nvSpPr>
        <p:spPr>
          <a:xfrm>
            <a:off x="6263640" y="1965960"/>
            <a:ext cx="2560320" cy="146304"/>
          </a:xfrm>
          <a:prstGeom prst="roundRect">
            <a:avLst>
              <a:gd name="adj" fmla="val 50000"/>
            </a:avLst>
          </a:prstGeom>
          <a:solidFill>
            <a:srgbClr val="7FD8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ard3"/>
          <p:cNvSpPr/>
          <p:nvPr/>
        </p:nvSpPr>
        <p:spPr>
          <a:xfrm>
            <a:off x="9006840" y="1965960"/>
            <a:ext cx="2560320" cy="2926080"/>
          </a:xfrm>
          <a:prstGeom prst="roundRect">
            <a:avLst>
              <a:gd name="adj" fmla="val 12000"/>
            </a:avLst>
          </a:prstGeom>
          <a:solidFill>
            <a:srgbClr val="FFFDF8"/>
          </a:solidFill>
          <a:ln>
            <a:noFill/>
          </a:ln>
          <a:effectLst/>
        </p:spPr>
        <p:style>
          <a:lnRef idx="1">
            <a:schemeClr val="accent1"/>
          </a:lnRef>
          <a:fillRef idx="3">
            <a:schemeClr val="accent1"/>
          </a:fillRef>
          <a:effectRef idx="2">
            <a:schemeClr val="accent1"/>
          </a:effectRef>
          <a:fontRef idx="minor">
            <a:schemeClr val="lt1"/>
          </a:fontRef>
        </p:style>
        <p:txBody>
          <a:bodyPr rtlCol="0" anchor="t" lIns="45720" rIns="45720" tIns="27432" bIns="27432" wrap="square"/>
          <a:lstStyle/>
          <a:p>
            <a:pPr algn="l">
              <a:lnSpc>
                <a:spcPct val="110000"/>
              </a:lnSpc>
            </a:pPr>
            <a:r>
              <a:rPr sz="4000" b="0">
                <a:solidFill>
                  <a:srgbClr val="2A1458"/>
                </a:solidFill>
                <a:latin typeface="Avenir Next"/>
              </a:rPr>
              <a:t>🙋</a:t>
            </a:r>
          </a:p>
          <a:p>
            <a:pPr algn="l">
              <a:lnSpc>
                <a:spcPct val="110000"/>
              </a:lnSpc>
            </a:pPr>
            <a:r>
              <a:rPr sz="2400" b="0">
                <a:solidFill>
                  <a:srgbClr val="2A1458"/>
                </a:solidFill>
                <a:latin typeface="Arial Rounded MT Bold"/>
              </a:rPr>
              <a:t>Confidence</a:t>
            </a:r>
          </a:p>
          <a:p>
            <a:pPr algn="l">
              <a:lnSpc>
                <a:spcPct val="110000"/>
              </a:lnSpc>
            </a:pPr>
            <a:r>
              <a:rPr sz="1700" b="0">
                <a:solidFill>
                  <a:srgbClr val="4B4466"/>
                </a:solidFill>
                <a:latin typeface="Avenir Next"/>
              </a:rPr>
              <a:t>Do they speak up, try ideas, and ask questions?</a:t>
            </a:r>
          </a:p>
        </p:txBody>
      </p:sp>
      <p:sp>
        <p:nvSpPr>
          <p:cNvPr id="14" name="!!cardbar3"/>
          <p:cNvSpPr/>
          <p:nvPr/>
        </p:nvSpPr>
        <p:spPr>
          <a:xfrm>
            <a:off x="9006840" y="1965960"/>
            <a:ext cx="2560320" cy="146304"/>
          </a:xfrm>
          <a:prstGeom prst="roundRect">
            <a:avLst>
              <a:gd name="adj" fmla="val 50000"/>
            </a:avLst>
          </a:prstGeom>
          <a:solidFill>
            <a:srgbClr val="C9B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ooter"/>
          <p:cNvSpPr txBox="1"/>
          <p:nvPr/>
        </p:nvSpPr>
        <p:spPr>
          <a:xfrm>
            <a:off x="804672" y="6327648"/>
            <a:ext cx="7315200" cy="320040"/>
          </a:xfrm>
          <a:prstGeom prst="rect">
            <a:avLst/>
          </a:prstGeom>
          <a:noFill/>
        </p:spPr>
        <p:txBody>
          <a:bodyPr wrap="square" lIns="45720" rIns="45720" tIns="27432" bIns="27432" anchor="t">
            <a:spAutoFit/>
          </a:bodyPr>
          <a:lstStyle/>
          <a:p>
            <a:pPr algn="l">
              <a:lnSpc>
                <a:spcPct val="110000"/>
              </a:lnSpc>
            </a:pPr>
            <a:r>
              <a:rPr sz="1100" b="0">
                <a:solidFill>
                  <a:srgbClr val="8A82A3"/>
                </a:solidFill>
                <a:latin typeface="Avenir Next"/>
              </a:rPr>
              <a:t>Class 3–5 learning   ·   3</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600">
        <p159:morph option="byObject"/>
      </p:transition>
    </mc:Choice>
    <mc:Fallback>
      <p:transition spd="slow">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A1458"/>
        </a:solidFill>
        <a:effectLst/>
      </p:bgPr>
    </p:bg>
    <p:spTree>
      <p:nvGrpSpPr>
        <p:cNvPr id="1" name=""/>
        <p:cNvGrpSpPr/>
        <p:nvPr/>
      </p:nvGrpSpPr>
      <p:grpSpPr/>
      <p:sp>
        <p:nvSpPr>
          <p:cNvPr id="2" name="!!orbA"/>
          <p:cNvSpPr/>
          <p:nvPr/>
        </p:nvSpPr>
        <p:spPr>
          <a:xfrm>
            <a:off x="5120640" y="5943600"/>
            <a:ext cx="2377440" cy="2377440"/>
          </a:xfrm>
          <a:prstGeom prst="ellipse">
            <a:avLst/>
          </a:prstGeom>
          <a:solidFill>
            <a:srgbClr val="FCC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rbB"/>
          <p:cNvSpPr/>
          <p:nvPr/>
        </p:nvSpPr>
        <p:spPr>
          <a:xfrm>
            <a:off x="11155680" y="-731520"/>
            <a:ext cx="2011680" cy="2011680"/>
          </a:xfrm>
          <a:prstGeom prst="ellipse">
            <a:avLst/>
          </a:prstGeom>
          <a:solidFill>
            <a:srgbClr val="FF4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rbC"/>
          <p:cNvSpPr/>
          <p:nvPr/>
        </p:nvSpPr>
        <p:spPr>
          <a:xfrm>
            <a:off x="10058400" y="5669280"/>
            <a:ext cx="1097280" cy="109728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eyebrow"/>
          <p:cNvSpPr txBox="1"/>
          <p:nvPr/>
        </p:nvSpPr>
        <p:spPr>
          <a:xfrm>
            <a:off x="804672" y="347472"/>
            <a:ext cx="8229600" cy="365760"/>
          </a:xfrm>
          <a:prstGeom prst="rect">
            <a:avLst/>
          </a:prstGeom>
          <a:noFill/>
        </p:spPr>
        <p:txBody>
          <a:bodyPr wrap="square" lIns="45720" rIns="45720" tIns="27432" bIns="27432" anchor="t">
            <a:spAutoFit/>
          </a:bodyPr>
          <a:lstStyle/>
          <a:p>
            <a:pPr algn="l">
              <a:lnSpc>
                <a:spcPct val="110000"/>
              </a:lnSpc>
            </a:pPr>
            <a:r>
              <a:rPr sz="1400" b="0">
                <a:solidFill>
                  <a:srgbClr val="FCC72C"/>
                </a:solidFill>
                <a:latin typeface="Arial Rounded MT Bold"/>
              </a:rPr>
              <a:t>WHAT TEACHERS AND PARENTS OFTEN TELL US</a:t>
            </a:r>
          </a:p>
        </p:txBody>
      </p:sp>
      <p:sp>
        <p:nvSpPr>
          <p:cNvPr id="6" name="!!title"/>
          <p:cNvSpPr txBox="1"/>
          <p:nvPr/>
        </p:nvSpPr>
        <p:spPr>
          <a:xfrm>
            <a:off x="777240" y="566928"/>
            <a:ext cx="9875520" cy="914400"/>
          </a:xfrm>
          <a:prstGeom prst="rect">
            <a:avLst/>
          </a:prstGeom>
          <a:noFill/>
        </p:spPr>
        <p:txBody>
          <a:bodyPr wrap="square" lIns="45720" rIns="45720" tIns="27432" bIns="27432" anchor="t">
            <a:spAutoFit/>
          </a:bodyPr>
          <a:lstStyle/>
          <a:p>
            <a:pPr algn="l">
              <a:lnSpc>
                <a:spcPct val="110000"/>
              </a:lnSpc>
            </a:pPr>
            <a:r>
              <a:rPr sz="4000" b="0">
                <a:solidFill>
                  <a:srgbClr val="FBF7EE"/>
                </a:solidFill>
                <a:latin typeface="Arial Rounded MT Bold"/>
              </a:rPr>
              <a:t>The gaps usually look like this</a:t>
            </a:r>
          </a:p>
        </p:txBody>
      </p:sp>
      <p:sp>
        <p:nvSpPr>
          <p:cNvPr id="7" name="!!card0"/>
          <p:cNvSpPr/>
          <p:nvPr/>
        </p:nvSpPr>
        <p:spPr>
          <a:xfrm>
            <a:off x="777240" y="1874519"/>
            <a:ext cx="5074920" cy="1691640"/>
          </a:xfrm>
          <a:prstGeom prst="roundRect">
            <a:avLst>
              <a:gd name="adj" fmla="val 12000"/>
            </a:avLst>
          </a:prstGeom>
          <a:solidFill>
            <a:srgbClr val="3A217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l">
              <a:lnSpc>
                <a:spcPct val="110000"/>
              </a:lnSpc>
            </a:pPr>
            <a:r>
              <a:rPr sz="3000" b="0">
                <a:solidFill>
                  <a:srgbClr val="2A1458"/>
                </a:solidFill>
                <a:latin typeface="Avenir Next"/>
              </a:rPr>
              <a:t>📺  </a:t>
            </a:r>
            <a:r>
              <a:rPr sz="2400" b="0">
                <a:solidFill>
                  <a:srgbClr val="FBF7EE"/>
                </a:solidFill>
                <a:latin typeface="Arial Rounded MT Bold"/>
              </a:rPr>
              <a:t>Screens are passive</a:t>
            </a:r>
          </a:p>
          <a:p>
            <a:pPr algn="l">
              <a:lnSpc>
                <a:spcPct val="110000"/>
              </a:lnSpc>
            </a:pPr>
            <a:r>
              <a:rPr sz="1800" b="0">
                <a:solidFill>
                  <a:srgbClr val="D9CCF5"/>
                </a:solidFill>
                <a:latin typeface="Avenir Next"/>
              </a:rPr>
              <a:t>Children watch, but nobody asks them to think.</a:t>
            </a:r>
          </a:p>
        </p:txBody>
      </p:sp>
      <p:sp>
        <p:nvSpPr>
          <p:cNvPr id="8" name="!!card1"/>
          <p:cNvSpPr/>
          <p:nvPr/>
        </p:nvSpPr>
        <p:spPr>
          <a:xfrm>
            <a:off x="6126479" y="1874519"/>
            <a:ext cx="5074920" cy="1691640"/>
          </a:xfrm>
          <a:prstGeom prst="roundRect">
            <a:avLst>
              <a:gd name="adj" fmla="val 12000"/>
            </a:avLst>
          </a:prstGeom>
          <a:solidFill>
            <a:srgbClr val="3A217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l">
              <a:lnSpc>
                <a:spcPct val="110000"/>
              </a:lnSpc>
            </a:pPr>
            <a:r>
              <a:rPr sz="3000" b="0">
                <a:solidFill>
                  <a:srgbClr val="2A1458"/>
                </a:solidFill>
                <a:latin typeface="Avenir Next"/>
              </a:rPr>
              <a:t>📚  </a:t>
            </a:r>
            <a:r>
              <a:rPr sz="2400" b="0">
                <a:solidFill>
                  <a:srgbClr val="FBF7EE"/>
                </a:solidFill>
                <a:latin typeface="Arial Rounded MT Bold"/>
              </a:rPr>
              <a:t>Learning stays in the book</a:t>
            </a:r>
          </a:p>
          <a:p>
            <a:pPr algn="l">
              <a:lnSpc>
                <a:spcPct val="110000"/>
              </a:lnSpc>
            </a:pPr>
            <a:r>
              <a:rPr sz="1800" b="0">
                <a:solidFill>
                  <a:srgbClr val="D9CCF5"/>
                </a:solidFill>
                <a:latin typeface="Avenir Next"/>
              </a:rPr>
              <a:t>Concepts rarely meet the child’s real world.</a:t>
            </a:r>
          </a:p>
        </p:txBody>
      </p:sp>
      <p:sp>
        <p:nvSpPr>
          <p:cNvPr id="9" name="!!card2"/>
          <p:cNvSpPr/>
          <p:nvPr/>
        </p:nvSpPr>
        <p:spPr>
          <a:xfrm>
            <a:off x="777240" y="3840479"/>
            <a:ext cx="5074920" cy="1691640"/>
          </a:xfrm>
          <a:prstGeom prst="roundRect">
            <a:avLst>
              <a:gd name="adj" fmla="val 12000"/>
            </a:avLst>
          </a:prstGeom>
          <a:solidFill>
            <a:srgbClr val="3A217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l">
              <a:lnSpc>
                <a:spcPct val="110000"/>
              </a:lnSpc>
            </a:pPr>
            <a:r>
              <a:rPr sz="3000" b="0">
                <a:solidFill>
                  <a:srgbClr val="2A1458"/>
                </a:solidFill>
                <a:latin typeface="Avenir Next"/>
              </a:rPr>
              <a:t>😴  </a:t>
            </a:r>
            <a:r>
              <a:rPr sz="2400" b="0">
                <a:solidFill>
                  <a:srgbClr val="FBF7EE"/>
                </a:solidFill>
                <a:latin typeface="Arial Rounded MT Bold"/>
              </a:rPr>
              <a:t>Practice feels like a chore</a:t>
            </a:r>
          </a:p>
          <a:p>
            <a:pPr algn="l">
              <a:lnSpc>
                <a:spcPct val="110000"/>
              </a:lnSpc>
            </a:pPr>
            <a:r>
              <a:rPr sz="1800" b="0">
                <a:solidFill>
                  <a:srgbClr val="D9CCF5"/>
                </a:solidFill>
                <a:latin typeface="Avenir Next"/>
              </a:rPr>
              <a:t>Repetition without a story loses interest fast.</a:t>
            </a:r>
          </a:p>
        </p:txBody>
      </p:sp>
      <p:sp>
        <p:nvSpPr>
          <p:cNvPr id="10" name="!!card3"/>
          <p:cNvSpPr/>
          <p:nvPr/>
        </p:nvSpPr>
        <p:spPr>
          <a:xfrm>
            <a:off x="6126479" y="3840479"/>
            <a:ext cx="5074920" cy="1691640"/>
          </a:xfrm>
          <a:prstGeom prst="roundRect">
            <a:avLst>
              <a:gd name="adj" fmla="val 12000"/>
            </a:avLst>
          </a:prstGeom>
          <a:solidFill>
            <a:srgbClr val="3A217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l">
              <a:lnSpc>
                <a:spcPct val="110000"/>
              </a:lnSpc>
            </a:pPr>
            <a:r>
              <a:rPr sz="3000" b="0">
                <a:solidFill>
                  <a:srgbClr val="2A1458"/>
                </a:solidFill>
                <a:latin typeface="Avenir Next"/>
              </a:rPr>
              <a:t>🤷  </a:t>
            </a:r>
            <a:r>
              <a:rPr sz="2400" b="0">
                <a:solidFill>
                  <a:srgbClr val="FBF7EE"/>
                </a:solidFill>
                <a:latin typeface="Arial Rounded MT Bold"/>
              </a:rPr>
              <a:t>Parents want to help</a:t>
            </a:r>
          </a:p>
          <a:p>
            <a:pPr algn="l">
              <a:lnSpc>
                <a:spcPct val="110000"/>
              </a:lnSpc>
            </a:pPr>
            <a:r>
              <a:rPr sz="1800" b="0">
                <a:solidFill>
                  <a:srgbClr val="D9CCF5"/>
                </a:solidFill>
                <a:latin typeface="Avenir Next"/>
              </a:rPr>
              <a:t>…but are not sure how, or have little time.</a:t>
            </a:r>
          </a:p>
        </p:txBody>
      </p:sp>
      <p:sp>
        <p:nvSpPr>
          <p:cNvPr id="11" name="footer"/>
          <p:cNvSpPr txBox="1"/>
          <p:nvPr/>
        </p:nvSpPr>
        <p:spPr>
          <a:xfrm>
            <a:off x="804672" y="6327648"/>
            <a:ext cx="7315200" cy="320040"/>
          </a:xfrm>
          <a:prstGeom prst="rect">
            <a:avLst/>
          </a:prstGeom>
          <a:noFill/>
        </p:spPr>
        <p:txBody>
          <a:bodyPr wrap="square" lIns="45720" rIns="45720" tIns="27432" bIns="27432" anchor="t">
            <a:spAutoFit/>
          </a:bodyPr>
          <a:lstStyle/>
          <a:p>
            <a:pPr algn="l">
              <a:lnSpc>
                <a:spcPct val="110000"/>
              </a:lnSpc>
            </a:pPr>
            <a:r>
              <a:rPr sz="1100" b="0">
                <a:solidFill>
                  <a:srgbClr val="D9CCF5"/>
                </a:solidFill>
                <a:latin typeface="Avenir Next"/>
              </a:rPr>
              <a:t>Class 3–5 learning   ·   4</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600">
        <p159:morph option="byObject"/>
      </p:transition>
    </mc:Choice>
    <mc:Fallback>
      <p:transition spd="slow">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C72C"/>
        </a:solidFill>
        <a:effectLst/>
      </p:bgPr>
    </p:bg>
    <p:spTree>
      <p:nvGrpSpPr>
        <p:cNvPr id="1" name=""/>
        <p:cNvGrpSpPr/>
        <p:nvPr/>
      </p:nvGrpSpPr>
      <p:grpSpPr/>
      <p:sp>
        <p:nvSpPr>
          <p:cNvPr id="2" name="!!orbA"/>
          <p:cNvSpPr/>
          <p:nvPr/>
        </p:nvSpPr>
        <p:spPr>
          <a:xfrm>
            <a:off x="3840480" y="-2377440"/>
            <a:ext cx="11521440" cy="11521440"/>
          </a:xfrm>
          <a:prstGeom prst="ellipse">
            <a:avLst/>
          </a:prstGeom>
          <a:solidFill>
            <a:srgbClr val="FFD8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rbB"/>
          <p:cNvSpPr/>
          <p:nvPr/>
        </p:nvSpPr>
        <p:spPr>
          <a:xfrm>
            <a:off x="10241280" y="4937760"/>
            <a:ext cx="1463040" cy="1463040"/>
          </a:xfrm>
          <a:prstGeom prst="ellipse">
            <a:avLst/>
          </a:prstGeom>
          <a:solidFill>
            <a:srgbClr val="FF4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rbC"/>
          <p:cNvSpPr/>
          <p:nvPr/>
        </p:nvSpPr>
        <p:spPr>
          <a:xfrm>
            <a:off x="10789920" y="548640"/>
            <a:ext cx="914400" cy="9144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itle"/>
          <p:cNvSpPr txBox="1"/>
          <p:nvPr/>
        </p:nvSpPr>
        <p:spPr>
          <a:xfrm>
            <a:off x="822960" y="1600200"/>
            <a:ext cx="10607040" cy="3200400"/>
          </a:xfrm>
          <a:prstGeom prst="rect">
            <a:avLst/>
          </a:prstGeom>
          <a:noFill/>
        </p:spPr>
        <p:txBody>
          <a:bodyPr wrap="square" lIns="45720" rIns="45720" tIns="27432" bIns="27432" anchor="t">
            <a:spAutoFit/>
          </a:bodyPr>
          <a:lstStyle/>
          <a:p>
            <a:pPr algn="l">
              <a:lnSpc>
                <a:spcPct val="105000"/>
              </a:lnSpc>
            </a:pPr>
            <a:r>
              <a:rPr sz="5600" b="0">
                <a:solidFill>
                  <a:srgbClr val="2A1458"/>
                </a:solidFill>
                <a:latin typeface="Arial Rounded MT Bold"/>
              </a:rPr>
              <a:t>Children don’t lack curiosity.</a:t>
            </a:r>
          </a:p>
          <a:p>
            <a:pPr algn="l">
              <a:lnSpc>
                <a:spcPct val="105000"/>
              </a:lnSpc>
            </a:pPr>
            <a:r>
              <a:rPr sz="5600" b="0">
                <a:solidFill>
                  <a:srgbClr val="2A1458"/>
                </a:solidFill>
                <a:latin typeface="Arial Rounded MT Bold"/>
              </a:rPr>
              <a:t>They lack a </a:t>
            </a:r>
            <a:r>
              <a:rPr sz="5600" b="0">
                <a:solidFill>
                  <a:srgbClr val="FF4F8B"/>
                </a:solidFill>
                <a:latin typeface="Arial Rounded MT Bold"/>
              </a:rPr>
              <a:t>reason to lean in.</a:t>
            </a:r>
          </a:p>
        </p:txBody>
      </p:sp>
      <p:sp>
        <p:nvSpPr>
          <p:cNvPr id="6" name="!!sub"/>
          <p:cNvSpPr txBox="1"/>
          <p:nvPr/>
        </p:nvSpPr>
        <p:spPr>
          <a:xfrm>
            <a:off x="868680" y="4617720"/>
            <a:ext cx="8686800" cy="822960"/>
          </a:xfrm>
          <a:prstGeom prst="rect">
            <a:avLst/>
          </a:prstGeom>
          <a:noFill/>
        </p:spPr>
        <p:txBody>
          <a:bodyPr wrap="square" lIns="45720" rIns="45720" tIns="27432" bIns="27432" anchor="t">
            <a:spAutoFit/>
          </a:bodyPr>
          <a:lstStyle/>
          <a:p>
            <a:pPr algn="l">
              <a:lnSpc>
                <a:spcPct val="110000"/>
              </a:lnSpc>
            </a:pPr>
            <a:r>
              <a:rPr sz="2400" b="0">
                <a:solidFill>
                  <a:srgbClr val="4B4466"/>
                </a:solidFill>
                <a:latin typeface="Avenir Next"/>
              </a:rPr>
              <a:t>Give them a character who needs their help — and they think.</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spd="slow">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7EE"/>
        </a:solidFill>
        <a:effectLst/>
      </p:bgPr>
    </p:bg>
    <p:spTree>
      <p:nvGrpSpPr>
        <p:cNvPr id="1" name=""/>
        <p:cNvGrpSpPr/>
        <p:nvPr/>
      </p:nvGrpSpPr>
      <p:grpSpPr/>
      <p:sp>
        <p:nvSpPr>
          <p:cNvPr id="2" name="!!orbA"/>
          <p:cNvSpPr/>
          <p:nvPr/>
        </p:nvSpPr>
        <p:spPr>
          <a:xfrm>
            <a:off x="7498079" y="502920"/>
            <a:ext cx="4937760" cy="4937760"/>
          </a:xfrm>
          <a:prstGeom prst="ellipse">
            <a:avLst/>
          </a:prstGeom>
          <a:solidFill>
            <a:srgbClr val="FCC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rbB"/>
          <p:cNvSpPr/>
          <p:nvPr/>
        </p:nvSpPr>
        <p:spPr>
          <a:xfrm>
            <a:off x="11064240" y="5120640"/>
            <a:ext cx="1280160" cy="1280160"/>
          </a:xfrm>
          <a:prstGeom prst="ellipse">
            <a:avLst/>
          </a:prstGeom>
          <a:solidFill>
            <a:srgbClr val="FF4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rbC"/>
          <p:cNvSpPr/>
          <p:nvPr/>
        </p:nvSpPr>
        <p:spPr>
          <a:xfrm>
            <a:off x="6858000" y="5394960"/>
            <a:ext cx="822960" cy="8229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mascot" descr="zungga-mascot.png"/>
          <p:cNvPicPr>
            <a:picLocks noChangeAspect="1"/>
          </p:cNvPicPr>
          <p:nvPr/>
        </p:nvPicPr>
        <p:blipFill>
          <a:blip r:embed="rId2"/>
          <a:stretch>
            <a:fillRect/>
          </a:stretch>
        </p:blipFill>
        <p:spPr>
          <a:xfrm>
            <a:off x="8138160" y="1051560"/>
            <a:ext cx="3657600" cy="4218187"/>
          </a:xfrm>
          <a:prstGeom prst="rect">
            <a:avLst/>
          </a:prstGeom>
        </p:spPr>
      </p:pic>
      <p:sp>
        <p:nvSpPr>
          <p:cNvPr id="6" name="!!eyebrow"/>
          <p:cNvSpPr txBox="1"/>
          <p:nvPr/>
        </p:nvSpPr>
        <p:spPr>
          <a:xfrm>
            <a:off x="804672" y="347472"/>
            <a:ext cx="8229600" cy="365760"/>
          </a:xfrm>
          <a:prstGeom prst="rect">
            <a:avLst/>
          </a:prstGeom>
          <a:noFill/>
        </p:spPr>
        <p:txBody>
          <a:bodyPr wrap="square" lIns="45720" rIns="45720" tIns="27432" bIns="27432" anchor="t">
            <a:spAutoFit/>
          </a:bodyPr>
          <a:lstStyle/>
          <a:p>
            <a:pPr algn="l">
              <a:lnSpc>
                <a:spcPct val="110000"/>
              </a:lnSpc>
            </a:pPr>
            <a:r>
              <a:rPr sz="1400" b="0">
                <a:solidFill>
                  <a:srgbClr val="7C3AED"/>
                </a:solidFill>
                <a:latin typeface="Arial Rounded MT Bold"/>
              </a:rPr>
              <a:t>THAT IS WHY WE BUILT</a:t>
            </a:r>
          </a:p>
        </p:txBody>
      </p:sp>
      <p:pic>
        <p:nvPicPr>
          <p:cNvPr id="7" name="!!logo" descr="zungga-logo.png"/>
          <p:cNvPicPr>
            <a:picLocks noChangeAspect="1"/>
          </p:cNvPicPr>
          <p:nvPr/>
        </p:nvPicPr>
        <p:blipFill>
          <a:blip r:embed="rId3"/>
          <a:stretch>
            <a:fillRect/>
          </a:stretch>
        </p:blipFill>
        <p:spPr>
          <a:xfrm>
            <a:off x="777240" y="777240"/>
            <a:ext cx="2743200" cy="2251213"/>
          </a:xfrm>
          <a:prstGeom prst="rect">
            <a:avLst/>
          </a:prstGeom>
        </p:spPr>
      </p:pic>
      <p:sp>
        <p:nvSpPr>
          <p:cNvPr id="8" name="!!title"/>
          <p:cNvSpPr txBox="1"/>
          <p:nvPr/>
        </p:nvSpPr>
        <p:spPr>
          <a:xfrm>
            <a:off x="777240" y="3108960"/>
            <a:ext cx="6675120" cy="914400"/>
          </a:xfrm>
          <a:prstGeom prst="rect">
            <a:avLst/>
          </a:prstGeom>
          <a:noFill/>
        </p:spPr>
        <p:txBody>
          <a:bodyPr wrap="square" lIns="45720" rIns="45720" tIns="27432" bIns="27432" anchor="t">
            <a:spAutoFit/>
          </a:bodyPr>
          <a:lstStyle/>
          <a:p>
            <a:pPr algn="l">
              <a:lnSpc>
                <a:spcPct val="110000"/>
              </a:lnSpc>
            </a:pPr>
            <a:r>
              <a:rPr sz="2800" b="0">
                <a:solidFill>
                  <a:srgbClr val="2A1458"/>
                </a:solidFill>
                <a:latin typeface="Arial Rounded MT Bold"/>
              </a:rPr>
              <a:t>Learning through cartoon stories where the child solves the problem</a:t>
            </a:r>
          </a:p>
        </p:txBody>
      </p:sp>
      <p:sp>
        <p:nvSpPr>
          <p:cNvPr id="9" name="!!pt0"/>
          <p:cNvSpPr txBox="1"/>
          <p:nvPr/>
        </p:nvSpPr>
        <p:spPr>
          <a:xfrm>
            <a:off x="822960" y="4160520"/>
            <a:ext cx="6583680" cy="502920"/>
          </a:xfrm>
          <a:prstGeom prst="rect">
            <a:avLst/>
          </a:prstGeom>
          <a:noFill/>
        </p:spPr>
        <p:txBody>
          <a:bodyPr wrap="square" lIns="45720" rIns="45720" tIns="27432" bIns="27432" anchor="t">
            <a:spAutoFit/>
          </a:bodyPr>
          <a:lstStyle/>
          <a:p>
            <a:pPr algn="l">
              <a:lnSpc>
                <a:spcPct val="110000"/>
              </a:lnSpc>
            </a:pPr>
            <a:r>
              <a:rPr sz="2200" b="0">
                <a:solidFill>
                  <a:srgbClr val="2A1458"/>
                </a:solidFill>
                <a:latin typeface="Avenir Next"/>
              </a:rPr>
              <a:t>📖   </a:t>
            </a:r>
            <a:r>
              <a:rPr sz="2100" b="0">
                <a:solidFill>
                  <a:srgbClr val="2A1458"/>
                </a:solidFill>
                <a:latin typeface="Avenir Next"/>
              </a:rPr>
              <a:t>Short animated episodes with lovable characters</a:t>
            </a:r>
          </a:p>
        </p:txBody>
      </p:sp>
      <p:sp>
        <p:nvSpPr>
          <p:cNvPr id="10" name="!!pt1"/>
          <p:cNvSpPr txBox="1"/>
          <p:nvPr/>
        </p:nvSpPr>
        <p:spPr>
          <a:xfrm>
            <a:off x="822960" y="4663440"/>
            <a:ext cx="6583680" cy="502920"/>
          </a:xfrm>
          <a:prstGeom prst="rect">
            <a:avLst/>
          </a:prstGeom>
          <a:noFill/>
        </p:spPr>
        <p:txBody>
          <a:bodyPr wrap="square" lIns="45720" rIns="45720" tIns="27432" bIns="27432" anchor="t">
            <a:spAutoFit/>
          </a:bodyPr>
          <a:lstStyle/>
          <a:p>
            <a:pPr algn="l">
              <a:lnSpc>
                <a:spcPct val="110000"/>
              </a:lnSpc>
            </a:pPr>
            <a:r>
              <a:rPr sz="2200" b="0">
                <a:solidFill>
                  <a:srgbClr val="2A1458"/>
                </a:solidFill>
                <a:latin typeface="Avenir Next"/>
              </a:rPr>
              <a:t>💡   </a:t>
            </a:r>
            <a:r>
              <a:rPr sz="2100" b="0">
                <a:solidFill>
                  <a:srgbClr val="2A1458"/>
                </a:solidFill>
                <a:latin typeface="Avenir Next"/>
              </a:rPr>
              <a:t>The story pauses — the child gives the idea</a:t>
            </a:r>
          </a:p>
        </p:txBody>
      </p:sp>
      <p:sp>
        <p:nvSpPr>
          <p:cNvPr id="11" name="!!pt2"/>
          <p:cNvSpPr txBox="1"/>
          <p:nvPr/>
        </p:nvSpPr>
        <p:spPr>
          <a:xfrm>
            <a:off x="822960" y="5166360"/>
            <a:ext cx="6583680" cy="502920"/>
          </a:xfrm>
          <a:prstGeom prst="rect">
            <a:avLst/>
          </a:prstGeom>
          <a:noFill/>
        </p:spPr>
        <p:txBody>
          <a:bodyPr wrap="square" lIns="45720" rIns="45720" tIns="27432" bIns="27432" anchor="t">
            <a:spAutoFit/>
          </a:bodyPr>
          <a:lstStyle/>
          <a:p>
            <a:pPr algn="l">
              <a:lnSpc>
                <a:spcPct val="110000"/>
              </a:lnSpc>
            </a:pPr>
            <a:r>
              <a:rPr sz="2200" b="0">
                <a:solidFill>
                  <a:srgbClr val="2A1458"/>
                </a:solidFill>
                <a:latin typeface="Avenir Next"/>
              </a:rPr>
              <a:t>🧪   </a:t>
            </a:r>
            <a:r>
              <a:rPr sz="2100" b="0">
                <a:solidFill>
                  <a:srgbClr val="2A1458"/>
                </a:solidFill>
                <a:latin typeface="Avenir Next"/>
              </a:rPr>
              <a:t>Science, maths, money, business and life skills</a:t>
            </a:r>
          </a:p>
        </p:txBody>
      </p:sp>
      <p:sp>
        <p:nvSpPr>
          <p:cNvPr id="12" name="!!pt3"/>
          <p:cNvSpPr txBox="1"/>
          <p:nvPr/>
        </p:nvSpPr>
        <p:spPr>
          <a:xfrm>
            <a:off x="822960" y="5669280"/>
            <a:ext cx="6583680" cy="502920"/>
          </a:xfrm>
          <a:prstGeom prst="rect">
            <a:avLst/>
          </a:prstGeom>
          <a:noFill/>
        </p:spPr>
        <p:txBody>
          <a:bodyPr wrap="square" lIns="45720" rIns="45720" tIns="27432" bIns="27432" anchor="t">
            <a:spAutoFit/>
          </a:bodyPr>
          <a:lstStyle/>
          <a:p>
            <a:pPr algn="l">
              <a:lnSpc>
                <a:spcPct val="110000"/>
              </a:lnSpc>
            </a:pPr>
            <a:r>
              <a:rPr sz="2200" b="0">
                <a:solidFill>
                  <a:srgbClr val="2A1458"/>
                </a:solidFill>
                <a:latin typeface="Avenir Next"/>
              </a:rPr>
              <a:t>🏃   </a:t>
            </a:r>
            <a:r>
              <a:rPr sz="2100" b="0">
                <a:solidFill>
                  <a:srgbClr val="2A1458"/>
                </a:solidFill>
                <a:latin typeface="Avenir Next"/>
              </a:rPr>
              <a:t>Every episode ends with a real-world mission</a:t>
            </a:r>
          </a:p>
        </p:txBody>
      </p:sp>
      <p:sp>
        <p:nvSpPr>
          <p:cNvPr id="13" name="footer"/>
          <p:cNvSpPr txBox="1"/>
          <p:nvPr/>
        </p:nvSpPr>
        <p:spPr>
          <a:xfrm>
            <a:off x="804672" y="6327648"/>
            <a:ext cx="7315200" cy="320040"/>
          </a:xfrm>
          <a:prstGeom prst="rect">
            <a:avLst/>
          </a:prstGeom>
          <a:noFill/>
        </p:spPr>
        <p:txBody>
          <a:bodyPr wrap="square" lIns="45720" rIns="45720" tIns="27432" bIns="27432" anchor="t">
            <a:spAutoFit/>
          </a:bodyPr>
          <a:lstStyle/>
          <a:p>
            <a:pPr algn="l">
              <a:lnSpc>
                <a:spcPct val="110000"/>
              </a:lnSpc>
            </a:pPr>
            <a:r>
              <a:rPr sz="1100" b="0">
                <a:solidFill>
                  <a:srgbClr val="8A82A3"/>
                </a:solidFill>
                <a:latin typeface="Avenir Next"/>
              </a:rPr>
              <a:t>Zungga · School pilot proposal   ·   8</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600">
        <p159:morph option="byObject"/>
      </p:transition>
    </mc:Choice>
    <mc:Fallback>
      <p:transition spd="slow">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7EE"/>
        </a:solidFill>
        <a:effectLst/>
      </p:bgPr>
    </p:bg>
    <p:spTree>
      <p:nvGrpSpPr>
        <p:cNvPr id="1" name=""/>
        <p:cNvGrpSpPr/>
        <p:nvPr/>
      </p:nvGrpSpPr>
      <p:grpSpPr/>
      <p:sp>
        <p:nvSpPr>
          <p:cNvPr id="2" name="!!eyebrow"/>
          <p:cNvSpPr txBox="1"/>
          <p:nvPr/>
        </p:nvSpPr>
        <p:spPr>
          <a:xfrm>
            <a:off x="804672" y="347472"/>
            <a:ext cx="8229600" cy="365760"/>
          </a:xfrm>
          <a:prstGeom prst="rect">
            <a:avLst/>
          </a:prstGeom>
          <a:noFill/>
        </p:spPr>
        <p:txBody>
          <a:bodyPr wrap="square" lIns="45720" rIns="45720" tIns="27432" bIns="27432" anchor="t">
            <a:spAutoFit/>
          </a:bodyPr>
          <a:lstStyle/>
          <a:p>
            <a:pPr algn="l">
              <a:lnSpc>
                <a:spcPct val="110000"/>
              </a:lnSpc>
            </a:pPr>
            <a:r>
              <a:rPr sz="1400" b="0">
                <a:solidFill>
                  <a:srgbClr val="7C3AED"/>
                </a:solidFill>
                <a:latin typeface="Arial Rounded MT Bold"/>
              </a:rPr>
              <a:t>A DIFFERENT KIND OF SCREEN TIME</a:t>
            </a:r>
          </a:p>
        </p:txBody>
      </p:sp>
      <p:sp>
        <p:nvSpPr>
          <p:cNvPr id="3" name="!!title"/>
          <p:cNvSpPr txBox="1"/>
          <p:nvPr/>
        </p:nvSpPr>
        <p:spPr>
          <a:xfrm>
            <a:off x="777240" y="566928"/>
            <a:ext cx="9875520" cy="914400"/>
          </a:xfrm>
          <a:prstGeom prst="rect">
            <a:avLst/>
          </a:prstGeom>
          <a:noFill/>
        </p:spPr>
        <p:txBody>
          <a:bodyPr wrap="square" lIns="45720" rIns="45720" tIns="27432" bIns="27432" anchor="t">
            <a:spAutoFit/>
          </a:bodyPr>
          <a:lstStyle/>
          <a:p>
            <a:pPr algn="l">
              <a:lnSpc>
                <a:spcPct val="110000"/>
              </a:lnSpc>
            </a:pPr>
            <a:r>
              <a:rPr sz="4000" b="0">
                <a:solidFill>
                  <a:srgbClr val="2A1458"/>
                </a:solidFill>
                <a:latin typeface="Arial Rounded MT Bold"/>
              </a:rPr>
              <a:t>Watch → think → do → unlock</a:t>
            </a:r>
          </a:p>
        </p:txBody>
      </p:sp>
      <p:sp>
        <p:nvSpPr>
          <p:cNvPr id="4" name="!!orbA"/>
          <p:cNvSpPr/>
          <p:nvPr/>
        </p:nvSpPr>
        <p:spPr>
          <a:xfrm>
            <a:off x="1371600" y="2011680"/>
            <a:ext cx="1554480" cy="1554480"/>
          </a:xfrm>
          <a:prstGeom prst="ellipse">
            <a:avLst/>
          </a:prstGeom>
          <a:solidFill>
            <a:srgbClr val="FCC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stepicon0"/>
          <p:cNvSpPr txBox="1"/>
          <p:nvPr/>
        </p:nvSpPr>
        <p:spPr>
          <a:xfrm>
            <a:off x="1371600" y="2331720"/>
            <a:ext cx="1554480" cy="914400"/>
          </a:xfrm>
          <a:prstGeom prst="rect">
            <a:avLst/>
          </a:prstGeom>
          <a:noFill/>
        </p:spPr>
        <p:txBody>
          <a:bodyPr wrap="square" lIns="45720" rIns="45720" tIns="27432" bIns="27432" anchor="t">
            <a:spAutoFit/>
          </a:bodyPr>
          <a:lstStyle/>
          <a:p>
            <a:pPr algn="ctr">
              <a:lnSpc>
                <a:spcPct val="110000"/>
              </a:lnSpc>
            </a:pPr>
            <a:r>
              <a:rPr sz="4000" b="0">
                <a:solidFill>
                  <a:srgbClr val="2A1458"/>
                </a:solidFill>
                <a:latin typeface="Avenir Next"/>
              </a:rPr>
              <a:t>▶️</a:t>
            </a:r>
          </a:p>
        </p:txBody>
      </p:sp>
      <p:sp>
        <p:nvSpPr>
          <p:cNvPr id="6" name="!!steph0"/>
          <p:cNvSpPr txBox="1"/>
          <p:nvPr/>
        </p:nvSpPr>
        <p:spPr>
          <a:xfrm>
            <a:off x="868680" y="3703320"/>
            <a:ext cx="2560320" cy="822960"/>
          </a:xfrm>
          <a:prstGeom prst="rect">
            <a:avLst/>
          </a:prstGeom>
          <a:noFill/>
        </p:spPr>
        <p:txBody>
          <a:bodyPr wrap="square" lIns="45720" rIns="45720" tIns="27432" bIns="27432" anchor="b">
            <a:spAutoFit/>
          </a:bodyPr>
          <a:lstStyle/>
          <a:p>
            <a:pPr algn="ctr">
              <a:lnSpc>
                <a:spcPct val="110000"/>
              </a:lnSpc>
            </a:pPr>
            <a:r>
              <a:rPr sz="2100" b="0">
                <a:solidFill>
                  <a:srgbClr val="2A1458"/>
                </a:solidFill>
                <a:latin typeface="Arial Rounded MT Bold"/>
              </a:rPr>
              <a:t>Watch</a:t>
            </a:r>
          </a:p>
        </p:txBody>
      </p:sp>
      <p:sp>
        <p:nvSpPr>
          <p:cNvPr id="7" name="!!stepb0"/>
          <p:cNvSpPr txBox="1"/>
          <p:nvPr/>
        </p:nvSpPr>
        <p:spPr>
          <a:xfrm>
            <a:off x="868680" y="4572000"/>
            <a:ext cx="2560320" cy="822960"/>
          </a:xfrm>
          <a:prstGeom prst="rect">
            <a:avLst/>
          </a:prstGeom>
          <a:noFill/>
        </p:spPr>
        <p:txBody>
          <a:bodyPr wrap="square" lIns="45720" rIns="45720" tIns="27432" bIns="27432" anchor="t">
            <a:spAutoFit/>
          </a:bodyPr>
          <a:lstStyle/>
          <a:p>
            <a:pPr algn="ctr">
              <a:lnSpc>
                <a:spcPct val="110000"/>
              </a:lnSpc>
            </a:pPr>
            <a:r>
              <a:rPr sz="1600" b="0">
                <a:solidFill>
                  <a:srgbClr val="4B4466"/>
                </a:solidFill>
                <a:latin typeface="Avenir Next"/>
              </a:rPr>
              <a:t>A short story with a real problem</a:t>
            </a:r>
          </a:p>
        </p:txBody>
      </p:sp>
      <p:sp>
        <p:nvSpPr>
          <p:cNvPr id="8" name="!!arrow0"/>
          <p:cNvSpPr/>
          <p:nvPr/>
        </p:nvSpPr>
        <p:spPr>
          <a:xfrm>
            <a:off x="3154680" y="2606040"/>
            <a:ext cx="502920" cy="365760"/>
          </a:xfrm>
          <a:prstGeom prst="rightArrow">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rbB"/>
          <p:cNvSpPr/>
          <p:nvPr/>
        </p:nvSpPr>
        <p:spPr>
          <a:xfrm>
            <a:off x="4206240" y="2011680"/>
            <a:ext cx="1554480" cy="1554480"/>
          </a:xfrm>
          <a:prstGeom prst="ellipse">
            <a:avLst/>
          </a:prstGeom>
          <a:solidFill>
            <a:srgbClr val="FF4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tepicon1"/>
          <p:cNvSpPr txBox="1"/>
          <p:nvPr/>
        </p:nvSpPr>
        <p:spPr>
          <a:xfrm>
            <a:off x="4206240" y="2331720"/>
            <a:ext cx="1554480" cy="914400"/>
          </a:xfrm>
          <a:prstGeom prst="rect">
            <a:avLst/>
          </a:prstGeom>
          <a:noFill/>
        </p:spPr>
        <p:txBody>
          <a:bodyPr wrap="square" lIns="45720" rIns="45720" tIns="27432" bIns="27432" anchor="t">
            <a:spAutoFit/>
          </a:bodyPr>
          <a:lstStyle/>
          <a:p>
            <a:pPr algn="ctr">
              <a:lnSpc>
                <a:spcPct val="110000"/>
              </a:lnSpc>
            </a:pPr>
            <a:r>
              <a:rPr sz="4000" b="0">
                <a:solidFill>
                  <a:srgbClr val="2A1458"/>
                </a:solidFill>
                <a:latin typeface="Avenir Next"/>
              </a:rPr>
              <a:t>✋</a:t>
            </a:r>
          </a:p>
        </p:txBody>
      </p:sp>
      <p:sp>
        <p:nvSpPr>
          <p:cNvPr id="11" name="!!steph1"/>
          <p:cNvSpPr txBox="1"/>
          <p:nvPr/>
        </p:nvSpPr>
        <p:spPr>
          <a:xfrm>
            <a:off x="3703320" y="3703320"/>
            <a:ext cx="2560320" cy="822960"/>
          </a:xfrm>
          <a:prstGeom prst="rect">
            <a:avLst/>
          </a:prstGeom>
          <a:noFill/>
        </p:spPr>
        <p:txBody>
          <a:bodyPr wrap="square" lIns="45720" rIns="45720" tIns="27432" bIns="27432" anchor="b">
            <a:spAutoFit/>
          </a:bodyPr>
          <a:lstStyle/>
          <a:p>
            <a:pPr algn="ctr">
              <a:lnSpc>
                <a:spcPct val="110000"/>
              </a:lnSpc>
            </a:pPr>
            <a:r>
              <a:rPr sz="2100" b="0">
                <a:solidFill>
                  <a:srgbClr val="2A1458"/>
                </a:solidFill>
                <a:latin typeface="Arial Rounded MT Bold"/>
              </a:rPr>
              <a:t>Pause &amp; answer</a:t>
            </a:r>
          </a:p>
        </p:txBody>
      </p:sp>
      <p:sp>
        <p:nvSpPr>
          <p:cNvPr id="12" name="!!stepb1"/>
          <p:cNvSpPr txBox="1"/>
          <p:nvPr/>
        </p:nvSpPr>
        <p:spPr>
          <a:xfrm>
            <a:off x="3703320" y="4572000"/>
            <a:ext cx="2560320" cy="822960"/>
          </a:xfrm>
          <a:prstGeom prst="rect">
            <a:avLst/>
          </a:prstGeom>
          <a:noFill/>
        </p:spPr>
        <p:txBody>
          <a:bodyPr wrap="square" lIns="45720" rIns="45720" tIns="27432" bIns="27432" anchor="t">
            <a:spAutoFit/>
          </a:bodyPr>
          <a:lstStyle/>
          <a:p>
            <a:pPr algn="ctr">
              <a:lnSpc>
                <a:spcPct val="110000"/>
              </a:lnSpc>
            </a:pPr>
            <a:r>
              <a:rPr sz="1600" b="0">
                <a:solidFill>
                  <a:srgbClr val="4B4466"/>
                </a:solidFill>
                <a:latin typeface="Avenir Next"/>
              </a:rPr>
              <a:t>The child looks, chooses or counts</a:t>
            </a:r>
          </a:p>
        </p:txBody>
      </p:sp>
      <p:sp>
        <p:nvSpPr>
          <p:cNvPr id="13" name="!!arrow1"/>
          <p:cNvSpPr/>
          <p:nvPr/>
        </p:nvSpPr>
        <p:spPr>
          <a:xfrm>
            <a:off x="5989320" y="2606040"/>
            <a:ext cx="502920" cy="365760"/>
          </a:xfrm>
          <a:prstGeom prst="rightArrow">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loopC"/>
          <p:cNvSpPr/>
          <p:nvPr/>
        </p:nvSpPr>
        <p:spPr>
          <a:xfrm>
            <a:off x="7040880" y="2011680"/>
            <a:ext cx="1554480" cy="1554480"/>
          </a:xfrm>
          <a:prstGeom prst="ellipse">
            <a:avLst/>
          </a:prstGeom>
          <a:solidFill>
            <a:srgbClr val="7FD8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epicon2"/>
          <p:cNvSpPr txBox="1"/>
          <p:nvPr/>
        </p:nvSpPr>
        <p:spPr>
          <a:xfrm>
            <a:off x="7040880" y="2331720"/>
            <a:ext cx="1554480" cy="914400"/>
          </a:xfrm>
          <a:prstGeom prst="rect">
            <a:avLst/>
          </a:prstGeom>
          <a:noFill/>
        </p:spPr>
        <p:txBody>
          <a:bodyPr wrap="square" lIns="45720" rIns="45720" tIns="27432" bIns="27432" anchor="t">
            <a:spAutoFit/>
          </a:bodyPr>
          <a:lstStyle/>
          <a:p>
            <a:pPr algn="ctr">
              <a:lnSpc>
                <a:spcPct val="110000"/>
              </a:lnSpc>
            </a:pPr>
            <a:r>
              <a:rPr sz="4000" b="0">
                <a:solidFill>
                  <a:srgbClr val="2A1458"/>
                </a:solidFill>
                <a:latin typeface="Avenir Next"/>
              </a:rPr>
              <a:t>🏃</a:t>
            </a:r>
          </a:p>
        </p:txBody>
      </p:sp>
      <p:sp>
        <p:nvSpPr>
          <p:cNvPr id="16" name="!!steph2"/>
          <p:cNvSpPr txBox="1"/>
          <p:nvPr/>
        </p:nvSpPr>
        <p:spPr>
          <a:xfrm>
            <a:off x="6537960" y="3703320"/>
            <a:ext cx="2560320" cy="822960"/>
          </a:xfrm>
          <a:prstGeom prst="rect">
            <a:avLst/>
          </a:prstGeom>
          <a:noFill/>
        </p:spPr>
        <p:txBody>
          <a:bodyPr wrap="square" lIns="45720" rIns="45720" tIns="27432" bIns="27432" anchor="b">
            <a:spAutoFit/>
          </a:bodyPr>
          <a:lstStyle/>
          <a:p>
            <a:pPr algn="ctr">
              <a:lnSpc>
                <a:spcPct val="110000"/>
              </a:lnSpc>
            </a:pPr>
            <a:r>
              <a:rPr sz="2100" b="0">
                <a:solidFill>
                  <a:srgbClr val="2A1458"/>
                </a:solidFill>
                <a:latin typeface="Arial Rounded MT Bold"/>
              </a:rPr>
              <a:t>Real-world mission</a:t>
            </a:r>
          </a:p>
        </p:txBody>
      </p:sp>
      <p:sp>
        <p:nvSpPr>
          <p:cNvPr id="17" name="!!stepb2"/>
          <p:cNvSpPr txBox="1"/>
          <p:nvPr/>
        </p:nvSpPr>
        <p:spPr>
          <a:xfrm>
            <a:off x="6537960" y="4572000"/>
            <a:ext cx="2560320" cy="822960"/>
          </a:xfrm>
          <a:prstGeom prst="rect">
            <a:avLst/>
          </a:prstGeom>
          <a:noFill/>
        </p:spPr>
        <p:txBody>
          <a:bodyPr wrap="square" lIns="45720" rIns="45720" tIns="27432" bIns="27432" anchor="t">
            <a:spAutoFit/>
          </a:bodyPr>
          <a:lstStyle/>
          <a:p>
            <a:pPr algn="ctr">
              <a:lnSpc>
                <a:spcPct val="110000"/>
              </a:lnSpc>
            </a:pPr>
            <a:r>
              <a:rPr sz="1600" b="0">
                <a:solidFill>
                  <a:srgbClr val="4B4466"/>
                </a:solidFill>
                <a:latin typeface="Avenir Next"/>
              </a:rPr>
              <a:t>Choose 1 of 3 activities at home</a:t>
            </a:r>
          </a:p>
        </p:txBody>
      </p:sp>
      <p:sp>
        <p:nvSpPr>
          <p:cNvPr id="18" name="!!arrow2"/>
          <p:cNvSpPr/>
          <p:nvPr/>
        </p:nvSpPr>
        <p:spPr>
          <a:xfrm>
            <a:off x="8823960" y="2606040"/>
            <a:ext cx="502920" cy="365760"/>
          </a:xfrm>
          <a:prstGeom prst="rightArrow">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rbC"/>
          <p:cNvSpPr/>
          <p:nvPr/>
        </p:nvSpPr>
        <p:spPr>
          <a:xfrm>
            <a:off x="9875520" y="2011680"/>
            <a:ext cx="1554480" cy="1554480"/>
          </a:xfrm>
          <a:prstGeom prst="ellipse">
            <a:avLst/>
          </a:prstGeom>
          <a:solidFill>
            <a:srgbClr val="C9B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tepicon3"/>
          <p:cNvSpPr txBox="1"/>
          <p:nvPr/>
        </p:nvSpPr>
        <p:spPr>
          <a:xfrm>
            <a:off x="9875520" y="2331720"/>
            <a:ext cx="1554480" cy="914400"/>
          </a:xfrm>
          <a:prstGeom prst="rect">
            <a:avLst/>
          </a:prstGeom>
          <a:noFill/>
        </p:spPr>
        <p:txBody>
          <a:bodyPr wrap="square" lIns="45720" rIns="45720" tIns="27432" bIns="27432" anchor="t">
            <a:spAutoFit/>
          </a:bodyPr>
          <a:lstStyle/>
          <a:p>
            <a:pPr algn="ctr">
              <a:lnSpc>
                <a:spcPct val="110000"/>
              </a:lnSpc>
            </a:pPr>
            <a:r>
              <a:rPr sz="4000" b="0">
                <a:solidFill>
                  <a:srgbClr val="2A1458"/>
                </a:solidFill>
                <a:latin typeface="Avenir Next"/>
              </a:rPr>
              <a:t>✅</a:t>
            </a:r>
          </a:p>
        </p:txBody>
      </p:sp>
      <p:sp>
        <p:nvSpPr>
          <p:cNvPr id="21" name="!!steph3"/>
          <p:cNvSpPr txBox="1"/>
          <p:nvPr/>
        </p:nvSpPr>
        <p:spPr>
          <a:xfrm>
            <a:off x="9372600" y="3703320"/>
            <a:ext cx="2560320" cy="822960"/>
          </a:xfrm>
          <a:prstGeom prst="rect">
            <a:avLst/>
          </a:prstGeom>
          <a:noFill/>
        </p:spPr>
        <p:txBody>
          <a:bodyPr wrap="square" lIns="45720" rIns="45720" tIns="27432" bIns="27432" anchor="b">
            <a:spAutoFit/>
          </a:bodyPr>
          <a:lstStyle/>
          <a:p>
            <a:pPr algn="ctr">
              <a:lnSpc>
                <a:spcPct val="110000"/>
              </a:lnSpc>
            </a:pPr>
            <a:r>
              <a:rPr sz="2100" b="0">
                <a:solidFill>
                  <a:srgbClr val="2A1458"/>
                </a:solidFill>
                <a:latin typeface="Arial Rounded MT Bold"/>
              </a:rPr>
              <a:t>Grown-up approves</a:t>
            </a:r>
          </a:p>
        </p:txBody>
      </p:sp>
      <p:sp>
        <p:nvSpPr>
          <p:cNvPr id="22" name="!!stepb3"/>
          <p:cNvSpPr txBox="1"/>
          <p:nvPr/>
        </p:nvSpPr>
        <p:spPr>
          <a:xfrm>
            <a:off x="9372600" y="4572000"/>
            <a:ext cx="2560320" cy="822960"/>
          </a:xfrm>
          <a:prstGeom prst="rect">
            <a:avLst/>
          </a:prstGeom>
          <a:noFill/>
        </p:spPr>
        <p:txBody>
          <a:bodyPr wrap="square" lIns="45720" rIns="45720" tIns="27432" bIns="27432" anchor="t">
            <a:spAutoFit/>
          </a:bodyPr>
          <a:lstStyle/>
          <a:p>
            <a:pPr algn="ctr">
              <a:lnSpc>
                <a:spcPct val="110000"/>
              </a:lnSpc>
            </a:pPr>
            <a:r>
              <a:rPr sz="1600" b="0">
                <a:solidFill>
                  <a:srgbClr val="4B4466"/>
                </a:solidFill>
                <a:latin typeface="Avenir Next"/>
              </a:rPr>
              <a:t>With a PIN — then the next episode unlocks</a:t>
            </a:r>
          </a:p>
        </p:txBody>
      </p:sp>
      <p:sp>
        <p:nvSpPr>
          <p:cNvPr id="23" name="!!sub"/>
          <p:cNvSpPr txBox="1"/>
          <p:nvPr/>
        </p:nvSpPr>
        <p:spPr>
          <a:xfrm>
            <a:off x="822960" y="5623560"/>
            <a:ext cx="10515600" cy="548640"/>
          </a:xfrm>
          <a:prstGeom prst="rect">
            <a:avLst/>
          </a:prstGeom>
          <a:noFill/>
        </p:spPr>
        <p:txBody>
          <a:bodyPr wrap="square" lIns="45720" rIns="45720" tIns="27432" bIns="27432" anchor="t">
            <a:spAutoFit/>
          </a:bodyPr>
          <a:lstStyle/>
          <a:p>
            <a:pPr algn="ctr">
              <a:lnSpc>
                <a:spcPct val="110000"/>
              </a:lnSpc>
            </a:pPr>
            <a:r>
              <a:rPr sz="2000" b="0">
                <a:solidFill>
                  <a:srgbClr val="7C3AED"/>
                </a:solidFill>
                <a:latin typeface="Arial Rounded MT Bold"/>
              </a:rPr>
              <a:t>Screen time becomes the start of learning — not the end of it.</a:t>
            </a:r>
          </a:p>
        </p:txBody>
      </p:sp>
      <p:sp>
        <p:nvSpPr>
          <p:cNvPr id="24" name="footer"/>
          <p:cNvSpPr txBox="1"/>
          <p:nvPr/>
        </p:nvSpPr>
        <p:spPr>
          <a:xfrm>
            <a:off x="804672" y="6327648"/>
            <a:ext cx="7315200" cy="320040"/>
          </a:xfrm>
          <a:prstGeom prst="rect">
            <a:avLst/>
          </a:prstGeom>
          <a:noFill/>
        </p:spPr>
        <p:txBody>
          <a:bodyPr wrap="square" lIns="45720" rIns="45720" tIns="27432" bIns="27432" anchor="t">
            <a:spAutoFit/>
          </a:bodyPr>
          <a:lstStyle/>
          <a:p>
            <a:pPr algn="l">
              <a:lnSpc>
                <a:spcPct val="110000"/>
              </a:lnSpc>
            </a:pPr>
            <a:r>
              <a:rPr sz="1100" b="0">
                <a:solidFill>
                  <a:srgbClr val="8A82A3"/>
                </a:solidFill>
                <a:latin typeface="Avenir Next"/>
              </a:rPr>
              <a:t>Class 3–5 learning   ·   7</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A1458"/>
        </a:solidFill>
        <a:effectLst/>
      </p:bgPr>
    </p:bg>
    <p:spTree>
      <p:nvGrpSpPr>
        <p:cNvPr id="1" name=""/>
        <p:cNvGrpSpPr/>
        <p:nvPr/>
      </p:nvGrpSpPr>
      <p:grpSpPr/>
      <p:sp>
        <p:nvSpPr>
          <p:cNvPr id="2" name="!!orbA"/>
          <p:cNvSpPr/>
          <p:nvPr/>
        </p:nvSpPr>
        <p:spPr>
          <a:xfrm>
            <a:off x="7223760" y="228600"/>
            <a:ext cx="6035040" cy="6035040"/>
          </a:xfrm>
          <a:prstGeom prst="ellipse">
            <a:avLst/>
          </a:prstGeom>
          <a:solidFill>
            <a:srgbClr val="FCC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rbB"/>
          <p:cNvSpPr/>
          <p:nvPr/>
        </p:nvSpPr>
        <p:spPr>
          <a:xfrm>
            <a:off x="365760" y="5669280"/>
            <a:ext cx="1097280" cy="1097280"/>
          </a:xfrm>
          <a:prstGeom prst="ellipse">
            <a:avLst/>
          </a:prstGeom>
          <a:solidFill>
            <a:srgbClr val="FF4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rbC"/>
          <p:cNvSpPr/>
          <p:nvPr/>
        </p:nvSpPr>
        <p:spPr>
          <a:xfrm>
            <a:off x="11338560" y="57607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honeA_frame"/>
          <p:cNvSpPr/>
          <p:nvPr/>
        </p:nvSpPr>
        <p:spPr>
          <a:xfrm>
            <a:off x="8650224" y="576072"/>
            <a:ext cx="3136392" cy="5447792"/>
          </a:xfrm>
          <a:prstGeom prst="roundRect">
            <a:avLst>
              <a:gd name="adj" fmla="val 8000"/>
            </a:avLst>
          </a:prstGeom>
          <a:solidFill>
            <a:srgbClr val="1C1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honeA" descr="hero.jpg"/>
          <p:cNvPicPr>
            <a:picLocks noChangeAspect="1"/>
          </p:cNvPicPr>
          <p:nvPr/>
        </p:nvPicPr>
        <p:blipFill>
          <a:blip r:embed="rId2"/>
          <a:stretch>
            <a:fillRect/>
          </a:stretch>
        </p:blipFill>
        <p:spPr>
          <a:xfrm>
            <a:off x="8732520" y="658368"/>
            <a:ext cx="2971800" cy="5283200"/>
          </a:xfrm>
          <a:prstGeom prst="rect">
            <a:avLst/>
          </a:prstGeom>
        </p:spPr>
      </p:pic>
      <p:sp>
        <p:nvSpPr>
          <p:cNvPr id="7" name="!!eyebrow"/>
          <p:cNvSpPr txBox="1"/>
          <p:nvPr/>
        </p:nvSpPr>
        <p:spPr>
          <a:xfrm>
            <a:off x="804672" y="1188720"/>
            <a:ext cx="8229600" cy="365760"/>
          </a:xfrm>
          <a:prstGeom prst="rect">
            <a:avLst/>
          </a:prstGeom>
          <a:noFill/>
        </p:spPr>
        <p:txBody>
          <a:bodyPr wrap="square" lIns="45720" rIns="45720" tIns="27432" bIns="27432" anchor="t">
            <a:spAutoFit/>
          </a:bodyPr>
          <a:lstStyle/>
          <a:p>
            <a:pPr algn="l">
              <a:lnSpc>
                <a:spcPct val="110000"/>
              </a:lnSpc>
            </a:pPr>
            <a:r>
              <a:rPr sz="1400" b="0">
                <a:solidFill>
                  <a:srgbClr val="FCC72C"/>
                </a:solidFill>
                <a:latin typeface="Arial Rounded MT Bold"/>
              </a:rPr>
              <a:t>EPISODE 1 · READY TODAY</a:t>
            </a:r>
          </a:p>
        </p:txBody>
      </p:sp>
      <p:sp>
        <p:nvSpPr>
          <p:cNvPr id="8" name="!!title"/>
          <p:cNvSpPr txBox="1"/>
          <p:nvPr/>
        </p:nvSpPr>
        <p:spPr>
          <a:xfrm>
            <a:off x="777240" y="1508760"/>
            <a:ext cx="9875520" cy="914400"/>
          </a:xfrm>
          <a:prstGeom prst="rect">
            <a:avLst/>
          </a:prstGeom>
          <a:noFill/>
        </p:spPr>
        <p:txBody>
          <a:bodyPr wrap="square" lIns="45720" rIns="45720" tIns="27432" bIns="27432" anchor="t">
            <a:spAutoFit/>
          </a:bodyPr>
          <a:lstStyle/>
          <a:p>
            <a:pPr algn="l">
              <a:lnSpc>
                <a:spcPct val="110000"/>
              </a:lnSpc>
            </a:pPr>
            <a:r>
              <a:rPr sz="4600" b="0">
                <a:solidFill>
                  <a:srgbClr val="FBF7EE"/>
                </a:solidFill>
                <a:latin typeface="Arial Rounded MT Bold"/>
              </a:rPr>
              <a:t>Rio’s Lemonade Stall</a:t>
            </a:r>
          </a:p>
        </p:txBody>
      </p:sp>
      <p:sp>
        <p:nvSpPr>
          <p:cNvPr id="9" name="!!fact0"/>
          <p:cNvSpPr txBox="1"/>
          <p:nvPr/>
        </p:nvSpPr>
        <p:spPr>
          <a:xfrm>
            <a:off x="822960" y="2743200"/>
            <a:ext cx="6949440" cy="502920"/>
          </a:xfrm>
          <a:prstGeom prst="rect">
            <a:avLst/>
          </a:prstGeom>
          <a:noFill/>
        </p:spPr>
        <p:txBody>
          <a:bodyPr wrap="square" lIns="45720" rIns="45720" tIns="27432" bIns="27432" anchor="t">
            <a:spAutoFit/>
          </a:bodyPr>
          <a:lstStyle/>
          <a:p>
            <a:pPr algn="l">
              <a:lnSpc>
                <a:spcPct val="110000"/>
              </a:lnSpc>
            </a:pPr>
            <a:r>
              <a:rPr sz="1300" b="0">
                <a:solidFill>
                  <a:srgbClr val="FCC72C"/>
                </a:solidFill>
                <a:latin typeface="Arial Rounded MT Bold"/>
              </a:rPr>
              <a:t>CLASS   </a:t>
            </a:r>
            <a:r>
              <a:rPr sz="2100" b="0">
                <a:solidFill>
                  <a:srgbClr val="FBF7EE"/>
                </a:solidFill>
                <a:latin typeface="Avenir Next"/>
              </a:rPr>
              <a:t>3 – 5</a:t>
            </a:r>
          </a:p>
        </p:txBody>
      </p:sp>
      <p:sp>
        <p:nvSpPr>
          <p:cNvPr id="10" name="!!fact1"/>
          <p:cNvSpPr txBox="1"/>
          <p:nvPr/>
        </p:nvSpPr>
        <p:spPr>
          <a:xfrm>
            <a:off x="822960" y="3310128"/>
            <a:ext cx="6949440" cy="502920"/>
          </a:xfrm>
          <a:prstGeom prst="rect">
            <a:avLst/>
          </a:prstGeom>
          <a:noFill/>
        </p:spPr>
        <p:txBody>
          <a:bodyPr wrap="square" lIns="45720" rIns="45720" tIns="27432" bIns="27432" anchor="t">
            <a:spAutoFit/>
          </a:bodyPr>
          <a:lstStyle/>
          <a:p>
            <a:pPr algn="l">
              <a:lnSpc>
                <a:spcPct val="110000"/>
              </a:lnSpc>
            </a:pPr>
            <a:r>
              <a:rPr sz="1300" b="0">
                <a:solidFill>
                  <a:srgbClr val="FCC72C"/>
                </a:solidFill>
                <a:latin typeface="Arial Rounded MT Bold"/>
              </a:rPr>
              <a:t>SUBJECT   </a:t>
            </a:r>
            <a:r>
              <a:rPr sz="2100" b="0">
                <a:solidFill>
                  <a:srgbClr val="FBF7EE"/>
                </a:solidFill>
                <a:latin typeface="Avenir Next"/>
              </a:rPr>
              <a:t>Maths · Money</a:t>
            </a:r>
          </a:p>
        </p:txBody>
      </p:sp>
      <p:sp>
        <p:nvSpPr>
          <p:cNvPr id="11" name="!!fact2"/>
          <p:cNvSpPr txBox="1"/>
          <p:nvPr/>
        </p:nvSpPr>
        <p:spPr>
          <a:xfrm>
            <a:off x="822960" y="3877056"/>
            <a:ext cx="6949440" cy="502920"/>
          </a:xfrm>
          <a:prstGeom prst="rect">
            <a:avLst/>
          </a:prstGeom>
          <a:noFill/>
        </p:spPr>
        <p:txBody>
          <a:bodyPr wrap="square" lIns="45720" rIns="45720" tIns="27432" bIns="27432" anchor="t">
            <a:spAutoFit/>
          </a:bodyPr>
          <a:lstStyle/>
          <a:p>
            <a:pPr algn="l">
              <a:lnSpc>
                <a:spcPct val="110000"/>
              </a:lnSpc>
            </a:pPr>
            <a:r>
              <a:rPr sz="1300" b="0">
                <a:solidFill>
                  <a:srgbClr val="FCC72C"/>
                </a:solidFill>
                <a:latin typeface="Arial Rounded MT Bold"/>
              </a:rPr>
              <a:t>LEARNS   </a:t>
            </a:r>
            <a:r>
              <a:rPr sz="2100" b="0">
                <a:solidFill>
                  <a:srgbClr val="FBF7EE"/>
                </a:solidFill>
                <a:latin typeface="Avenir Next"/>
              </a:rPr>
              <a:t>Spent vs earned · Profit &amp; loss</a:t>
            </a:r>
          </a:p>
        </p:txBody>
      </p:sp>
      <p:sp>
        <p:nvSpPr>
          <p:cNvPr id="12" name="!!fact3"/>
          <p:cNvSpPr txBox="1"/>
          <p:nvPr/>
        </p:nvSpPr>
        <p:spPr>
          <a:xfrm>
            <a:off x="822960" y="4443983"/>
            <a:ext cx="6949440" cy="502920"/>
          </a:xfrm>
          <a:prstGeom prst="rect">
            <a:avLst/>
          </a:prstGeom>
          <a:noFill/>
        </p:spPr>
        <p:txBody>
          <a:bodyPr wrap="square" lIns="45720" rIns="45720" tIns="27432" bIns="27432" anchor="t">
            <a:spAutoFit/>
          </a:bodyPr>
          <a:lstStyle/>
          <a:p>
            <a:pPr algn="l">
              <a:lnSpc>
                <a:spcPct val="110000"/>
              </a:lnSpc>
            </a:pPr>
            <a:r>
              <a:rPr sz="1300" b="0">
                <a:solidFill>
                  <a:srgbClr val="FCC72C"/>
                </a:solidFill>
                <a:latin typeface="Arial Rounded MT Bold"/>
              </a:rPr>
              <a:t>LENGTH   </a:t>
            </a:r>
            <a:r>
              <a:rPr sz="2100" b="0">
                <a:solidFill>
                  <a:srgbClr val="FBF7EE"/>
                </a:solidFill>
                <a:latin typeface="Avenir Next"/>
              </a:rPr>
              <a:t>3 min 18 s</a:t>
            </a:r>
          </a:p>
        </p:txBody>
      </p:sp>
      <p:sp>
        <p:nvSpPr>
          <p:cNvPr id="13" name="!!fact4"/>
          <p:cNvSpPr txBox="1"/>
          <p:nvPr/>
        </p:nvSpPr>
        <p:spPr>
          <a:xfrm>
            <a:off x="822960" y="5010912"/>
            <a:ext cx="6949440" cy="502920"/>
          </a:xfrm>
          <a:prstGeom prst="rect">
            <a:avLst/>
          </a:prstGeom>
          <a:noFill/>
        </p:spPr>
        <p:txBody>
          <a:bodyPr wrap="square" lIns="45720" rIns="45720" tIns="27432" bIns="27432" anchor="t">
            <a:spAutoFit/>
          </a:bodyPr>
          <a:lstStyle/>
          <a:p>
            <a:pPr algn="l">
              <a:lnSpc>
                <a:spcPct val="110000"/>
              </a:lnSpc>
            </a:pPr>
            <a:r>
              <a:rPr sz="1300" b="0">
                <a:solidFill>
                  <a:srgbClr val="FCC72C"/>
                </a:solidFill>
                <a:latin typeface="Arial Rounded MT Bold"/>
              </a:rPr>
              <a:t>BOARD   </a:t>
            </a:r>
            <a:r>
              <a:rPr sz="2100" b="0">
                <a:solidFill>
                  <a:srgbClr val="FBF7EE"/>
                </a:solidFill>
                <a:latin typeface="Avenir Next"/>
              </a:rPr>
              <a:t>Tamil Nadu &amp; Karnataka</a:t>
            </a:r>
          </a:p>
        </p:txBody>
      </p:sp>
      <p:sp>
        <p:nvSpPr>
          <p:cNvPr id="14" name="footer"/>
          <p:cNvSpPr txBox="1"/>
          <p:nvPr/>
        </p:nvSpPr>
        <p:spPr>
          <a:xfrm>
            <a:off x="804672" y="6327648"/>
            <a:ext cx="7315200" cy="320040"/>
          </a:xfrm>
          <a:prstGeom prst="rect">
            <a:avLst/>
          </a:prstGeom>
          <a:noFill/>
        </p:spPr>
        <p:txBody>
          <a:bodyPr wrap="square" lIns="45720" rIns="45720" tIns="27432" bIns="27432" anchor="t">
            <a:spAutoFit/>
          </a:bodyPr>
          <a:lstStyle/>
          <a:p>
            <a:pPr algn="l">
              <a:lnSpc>
                <a:spcPct val="110000"/>
              </a:lnSpc>
            </a:pPr>
            <a:r>
              <a:rPr sz="1100" b="0">
                <a:solidFill>
                  <a:srgbClr val="D9CCF5"/>
                </a:solidFill>
                <a:latin typeface="Avenir Next"/>
              </a:rPr>
              <a:t>Zungga · School pilot proposal   ·   9</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600">
        <p159:morph option="byObject"/>
      </p:transition>
    </mc:Choice>
    <mc:Fallback>
      <p:transition spd="slow">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C1030"/>
        </a:solidFill>
        <a:effectLst/>
      </p:bgPr>
    </p:bg>
    <p:spTree>
      <p:nvGrpSpPr>
        <p:cNvPr id="1" name=""/>
        <p:cNvGrpSpPr/>
        <p:nvPr/>
      </p:nvGrpSpPr>
      <p:grpSpPr/>
      <p:sp>
        <p:nvSpPr>
          <p:cNvPr id="2" name="!!orbA"/>
          <p:cNvSpPr/>
          <p:nvPr/>
        </p:nvSpPr>
        <p:spPr>
          <a:xfrm>
            <a:off x="3840480" y="-548640"/>
            <a:ext cx="7863840" cy="7863840"/>
          </a:xfrm>
          <a:prstGeom prst="ellipse">
            <a:avLst/>
          </a:prstGeom>
          <a:solidFill>
            <a:srgbClr val="2E1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rbB"/>
          <p:cNvSpPr/>
          <p:nvPr/>
        </p:nvSpPr>
        <p:spPr>
          <a:xfrm>
            <a:off x="457200" y="5486400"/>
            <a:ext cx="822960" cy="822960"/>
          </a:xfrm>
          <a:prstGeom prst="ellipse">
            <a:avLst/>
          </a:prstGeom>
          <a:solidFill>
            <a:srgbClr val="FF4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rbC"/>
          <p:cNvSpPr/>
          <p:nvPr/>
        </p:nvSpPr>
        <p:spPr>
          <a:xfrm>
            <a:off x="10972800" y="548640"/>
            <a:ext cx="640080" cy="64008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honeA_frame"/>
          <p:cNvSpPr/>
          <p:nvPr/>
        </p:nvSpPr>
        <p:spPr>
          <a:xfrm>
            <a:off x="4367631" y="420623"/>
            <a:ext cx="3456432" cy="6016752"/>
          </a:xfrm>
          <a:prstGeom prst="roundRect">
            <a:avLst>
              <a:gd name="adj" fmla="val 6000"/>
            </a:avLst>
          </a:prstGeom>
          <a:solidFill>
            <a:srgbClr val="0E08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episode video">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4449927" y="502919"/>
            <a:ext cx="3291840" cy="5852160"/>
          </a:xfrm>
          <a:prstGeom prst="rect">
            <a:avLst/>
          </a:prstGeom>
        </p:spPr>
      </p:pic>
      <p:sp>
        <p:nvSpPr>
          <p:cNvPr id="7" name="!!title"/>
          <p:cNvSpPr txBox="1"/>
          <p:nvPr/>
        </p:nvSpPr>
        <p:spPr>
          <a:xfrm>
            <a:off x="822960" y="2377440"/>
            <a:ext cx="3291840" cy="1828800"/>
          </a:xfrm>
          <a:prstGeom prst="rect">
            <a:avLst/>
          </a:prstGeom>
          <a:noFill/>
        </p:spPr>
        <p:txBody>
          <a:bodyPr wrap="square" lIns="45720" rIns="45720" tIns="27432" bIns="27432" anchor="t">
            <a:spAutoFit/>
          </a:bodyPr>
          <a:lstStyle/>
          <a:p>
            <a:pPr algn="l">
              <a:lnSpc>
                <a:spcPct val="110000"/>
              </a:lnSpc>
            </a:pPr>
            <a:r>
              <a:rPr sz="3600" b="0">
                <a:solidFill>
                  <a:srgbClr val="FBF7EE"/>
                </a:solidFill>
                <a:latin typeface="Arial Rounded MT Bold"/>
              </a:rPr>
              <a:t>Let’s watch</a:t>
            </a:r>
          </a:p>
          <a:p>
            <a:pPr algn="l">
              <a:lnSpc>
                <a:spcPct val="110000"/>
              </a:lnSpc>
            </a:pPr>
            <a:r>
              <a:rPr sz="2200" b="0">
                <a:solidFill>
                  <a:srgbClr val="FCC72C"/>
                </a:solidFill>
                <a:latin typeface="Avenir Next"/>
              </a:rPr>
              <a:t>3 minutes</a:t>
            </a:r>
          </a:p>
        </p:txBody>
      </p:sp>
      <p:sp>
        <p:nvSpPr>
          <p:cNvPr id="8" name="!!sub"/>
          <p:cNvSpPr txBox="1"/>
          <p:nvPr/>
        </p:nvSpPr>
        <p:spPr>
          <a:xfrm>
            <a:off x="8321040" y="2468880"/>
            <a:ext cx="3200400" cy="1828800"/>
          </a:xfrm>
          <a:prstGeom prst="rect">
            <a:avLst/>
          </a:prstGeom>
          <a:noFill/>
        </p:spPr>
        <p:txBody>
          <a:bodyPr wrap="square" lIns="45720" rIns="45720" tIns="27432" bIns="27432" anchor="t">
            <a:spAutoFit/>
          </a:bodyPr>
          <a:lstStyle/>
          <a:p>
            <a:pPr algn="l">
              <a:lnSpc>
                <a:spcPct val="110000"/>
              </a:lnSpc>
            </a:pPr>
            <a:r>
              <a:rPr sz="2000" b="0">
                <a:solidFill>
                  <a:srgbClr val="D9CCF5"/>
                </a:solidFill>
                <a:latin typeface="Avenir Next"/>
              </a:rPr>
              <a:t>Watch for the</a:t>
            </a:r>
          </a:p>
          <a:p>
            <a:pPr algn="l">
              <a:lnSpc>
                <a:spcPct val="110000"/>
              </a:lnSpc>
            </a:pPr>
            <a:r>
              <a:rPr sz="2000" b="0">
                <a:solidFill>
                  <a:srgbClr val="FF4F8B"/>
                </a:solidFill>
                <a:latin typeface="Arial Rounded MT Bold"/>
              </a:rPr>
              <a:t>3 pauses</a:t>
            </a:r>
          </a:p>
          <a:p>
            <a:pPr algn="l">
              <a:lnSpc>
                <a:spcPct val="110000"/>
              </a:lnSpc>
            </a:pPr>
            <a:r>
              <a:rPr sz="2000" b="0">
                <a:solidFill>
                  <a:srgbClr val="D9CCF5"/>
                </a:solidFill>
                <a:latin typeface="Avenir Next"/>
              </a:rPr>
              <a:t>where the child answers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600">
        <p159:morph option="byObject"/>
      </p:transition>
    </mc:Choice>
    <mc:Fallback>
      <p:transition spd="slow">
        <p:fade/>
      </p:transition>
    </mc:Fallback>
  </mc:AlternateContent>
  <p:timing>
    <p:tnLst>
      <p:par>
        <p:cTn id="1" dur="indefinite" restart="never" nodeType="tmRoot">
          <p:childTnLst>
            <p:video>
              <p:cMediaNode vol="80000">
                <p:cTn id="2" fill="hold" display="0">
                  <p:stCondLst>
                    <p:cond delay="indefinite"/>
                  </p:stCondLst>
                </p:cTn>
                <p:tgtEl>
                  <p:spTgt spid="6"/>
                </p:tgtEl>
              </p:cMediaNode>
            </p:video>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7EE"/>
        </a:solidFill>
        <a:effectLst/>
      </p:bgPr>
    </p:bg>
    <p:spTree>
      <p:nvGrpSpPr>
        <p:cNvPr id="1" name=""/>
        <p:cNvGrpSpPr/>
        <p:nvPr/>
      </p:nvGrpSpPr>
      <p:grpSpPr/>
      <p:pic>
        <p:nvPicPr>
          <p:cNvPr id="2" name="!!logo" descr="zungga-logo.png"/>
          <p:cNvPicPr>
            <a:picLocks noChangeAspect="1"/>
          </p:cNvPicPr>
          <p:nvPr/>
        </p:nvPicPr>
        <p:blipFill>
          <a:blip r:embed="rId2"/>
          <a:stretch>
            <a:fillRect/>
          </a:stretch>
        </p:blipFill>
        <p:spPr>
          <a:xfrm>
            <a:off x="10378440" y="329184"/>
            <a:ext cx="1325880" cy="1088086"/>
          </a:xfrm>
          <a:prstGeom prst="rect">
            <a:avLst/>
          </a:prstGeom>
        </p:spPr>
      </p:pic>
      <p:sp>
        <p:nvSpPr>
          <p:cNvPr id="3" name="!!eyebrow"/>
          <p:cNvSpPr txBox="1"/>
          <p:nvPr/>
        </p:nvSpPr>
        <p:spPr>
          <a:xfrm>
            <a:off x="804672" y="347472"/>
            <a:ext cx="8229600" cy="365760"/>
          </a:xfrm>
          <a:prstGeom prst="rect">
            <a:avLst/>
          </a:prstGeom>
          <a:noFill/>
        </p:spPr>
        <p:txBody>
          <a:bodyPr wrap="square" lIns="45720" rIns="45720" tIns="27432" bIns="27432" anchor="t">
            <a:spAutoFit/>
          </a:bodyPr>
          <a:lstStyle/>
          <a:p>
            <a:pPr algn="l">
              <a:lnSpc>
                <a:spcPct val="110000"/>
              </a:lnSpc>
            </a:pPr>
            <a:r>
              <a:rPr sz="1400" b="0">
                <a:solidFill>
                  <a:srgbClr val="7C3AED"/>
                </a:solidFill>
                <a:latin typeface="Arial Rounded MT Bold"/>
              </a:rPr>
              <a:t>EVERY CHILD CAN ANSWER</a:t>
            </a:r>
          </a:p>
        </p:txBody>
      </p:sp>
      <p:sp>
        <p:nvSpPr>
          <p:cNvPr id="4" name="!!title"/>
          <p:cNvSpPr txBox="1"/>
          <p:nvPr/>
        </p:nvSpPr>
        <p:spPr>
          <a:xfrm>
            <a:off x="777240" y="566928"/>
            <a:ext cx="9875520" cy="914400"/>
          </a:xfrm>
          <a:prstGeom prst="rect">
            <a:avLst/>
          </a:prstGeom>
          <a:noFill/>
        </p:spPr>
        <p:txBody>
          <a:bodyPr wrap="square" lIns="45720" rIns="45720" tIns="27432" bIns="27432" anchor="t">
            <a:spAutoFit/>
          </a:bodyPr>
          <a:lstStyle/>
          <a:p>
            <a:pPr algn="l">
              <a:lnSpc>
                <a:spcPct val="110000"/>
              </a:lnSpc>
            </a:pPr>
            <a:r>
              <a:rPr sz="4000" b="0">
                <a:solidFill>
                  <a:srgbClr val="2A1458"/>
                </a:solidFill>
                <a:latin typeface="Arial Rounded MT Bold"/>
              </a:rPr>
              <a:t>Three pauses, three kinds of thinking</a:t>
            </a:r>
          </a:p>
        </p:txBody>
      </p:sp>
      <p:sp>
        <p:nvSpPr>
          <p:cNvPr id="5" name="!!phone0_frame"/>
          <p:cNvSpPr/>
          <p:nvPr/>
        </p:nvSpPr>
        <p:spPr>
          <a:xfrm>
            <a:off x="786384" y="1517904"/>
            <a:ext cx="1856232" cy="3171952"/>
          </a:xfrm>
          <a:prstGeom prst="roundRect">
            <a:avLst>
              <a:gd name="adj" fmla="val 8000"/>
            </a:avLst>
          </a:prstGeom>
          <a:solidFill>
            <a:srgbClr val="1C1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hone0" descr="look.jpg"/>
          <p:cNvPicPr>
            <a:picLocks noChangeAspect="1"/>
          </p:cNvPicPr>
          <p:nvPr/>
        </p:nvPicPr>
        <p:blipFill>
          <a:blip r:embed="rId3"/>
          <a:stretch>
            <a:fillRect/>
          </a:stretch>
        </p:blipFill>
        <p:spPr>
          <a:xfrm>
            <a:off x="868680" y="1600200"/>
            <a:ext cx="1691640" cy="3007360"/>
          </a:xfrm>
          <a:prstGeom prst="rect">
            <a:avLst/>
          </a:prstGeom>
        </p:spPr>
      </p:pic>
      <p:sp>
        <p:nvSpPr>
          <p:cNvPr id="7" name="!!ph0"/>
          <p:cNvSpPr txBox="1"/>
          <p:nvPr/>
        </p:nvSpPr>
        <p:spPr>
          <a:xfrm>
            <a:off x="2743200" y="1920240"/>
            <a:ext cx="1783080" cy="548640"/>
          </a:xfrm>
          <a:prstGeom prst="rect">
            <a:avLst/>
          </a:prstGeom>
          <a:noFill/>
        </p:spPr>
        <p:txBody>
          <a:bodyPr wrap="square" lIns="45720" rIns="45720" tIns="27432" bIns="27432" anchor="t">
            <a:spAutoFit/>
          </a:bodyPr>
          <a:lstStyle/>
          <a:p>
            <a:pPr algn="l">
              <a:lnSpc>
                <a:spcPct val="110000"/>
              </a:lnSpc>
            </a:pPr>
            <a:r>
              <a:rPr sz="2200" b="0">
                <a:solidFill>
                  <a:srgbClr val="0E9F9A"/>
                </a:solidFill>
                <a:latin typeface="Arial Rounded MT Bold"/>
              </a:rPr>
              <a:t>👀 Look</a:t>
            </a:r>
          </a:p>
        </p:txBody>
      </p:sp>
      <p:sp>
        <p:nvSpPr>
          <p:cNvPr id="8" name="!!pb0"/>
          <p:cNvSpPr txBox="1"/>
          <p:nvPr/>
        </p:nvSpPr>
        <p:spPr>
          <a:xfrm>
            <a:off x="2743200" y="2468880"/>
            <a:ext cx="1783080" cy="2194560"/>
          </a:xfrm>
          <a:prstGeom prst="rect">
            <a:avLst/>
          </a:prstGeom>
          <a:noFill/>
        </p:spPr>
        <p:txBody>
          <a:bodyPr wrap="square" lIns="45720" rIns="45720" tIns="27432" bIns="27432" anchor="t">
            <a:spAutoFit/>
          </a:bodyPr>
          <a:lstStyle/>
          <a:p>
            <a:pPr algn="l">
              <a:lnSpc>
                <a:spcPct val="110000"/>
              </a:lnSpc>
            </a:pPr>
            <a:r>
              <a:rPr sz="1600" b="0">
                <a:solidFill>
                  <a:srgbClr val="4B4466"/>
                </a:solidFill>
                <a:latin typeface="Avenir Next"/>
              </a:rPr>
              <a:t>The answer is on screen — every child gets an easy first win.</a:t>
            </a:r>
          </a:p>
        </p:txBody>
      </p:sp>
      <p:sp>
        <p:nvSpPr>
          <p:cNvPr id="9" name="!!phoneA_frame"/>
          <p:cNvSpPr/>
          <p:nvPr/>
        </p:nvSpPr>
        <p:spPr>
          <a:xfrm>
            <a:off x="4581144" y="1517904"/>
            <a:ext cx="1856232" cy="3171952"/>
          </a:xfrm>
          <a:prstGeom prst="roundRect">
            <a:avLst>
              <a:gd name="adj" fmla="val 8000"/>
            </a:avLst>
          </a:prstGeom>
          <a:solidFill>
            <a:srgbClr val="1C1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honeA" descr="choose.jpg"/>
          <p:cNvPicPr>
            <a:picLocks noChangeAspect="1"/>
          </p:cNvPicPr>
          <p:nvPr/>
        </p:nvPicPr>
        <p:blipFill>
          <a:blip r:embed="rId4"/>
          <a:stretch>
            <a:fillRect/>
          </a:stretch>
        </p:blipFill>
        <p:spPr>
          <a:xfrm>
            <a:off x="4663440" y="1600200"/>
            <a:ext cx="1691640" cy="3007360"/>
          </a:xfrm>
          <a:prstGeom prst="rect">
            <a:avLst/>
          </a:prstGeom>
        </p:spPr>
      </p:pic>
      <p:sp>
        <p:nvSpPr>
          <p:cNvPr id="11" name="!!ph1"/>
          <p:cNvSpPr txBox="1"/>
          <p:nvPr/>
        </p:nvSpPr>
        <p:spPr>
          <a:xfrm>
            <a:off x="6537960" y="1920240"/>
            <a:ext cx="1783080" cy="548640"/>
          </a:xfrm>
          <a:prstGeom prst="rect">
            <a:avLst/>
          </a:prstGeom>
          <a:noFill/>
        </p:spPr>
        <p:txBody>
          <a:bodyPr wrap="square" lIns="45720" rIns="45720" tIns="27432" bIns="27432" anchor="t">
            <a:spAutoFit/>
          </a:bodyPr>
          <a:lstStyle/>
          <a:p>
            <a:pPr algn="l">
              <a:lnSpc>
                <a:spcPct val="110000"/>
              </a:lnSpc>
            </a:pPr>
            <a:r>
              <a:rPr sz="2200" b="0">
                <a:solidFill>
                  <a:srgbClr val="FF4F8B"/>
                </a:solidFill>
                <a:latin typeface="Arial Rounded MT Bold"/>
              </a:rPr>
              <a:t>✋ Choose</a:t>
            </a:r>
          </a:p>
        </p:txBody>
      </p:sp>
      <p:sp>
        <p:nvSpPr>
          <p:cNvPr id="12" name="!!pb1"/>
          <p:cNvSpPr txBox="1"/>
          <p:nvPr/>
        </p:nvSpPr>
        <p:spPr>
          <a:xfrm>
            <a:off x="6537960" y="2468880"/>
            <a:ext cx="1783080" cy="2194560"/>
          </a:xfrm>
          <a:prstGeom prst="rect">
            <a:avLst/>
          </a:prstGeom>
          <a:noFill/>
        </p:spPr>
        <p:txBody>
          <a:bodyPr wrap="square" lIns="45720" rIns="45720" tIns="27432" bIns="27432" anchor="t">
            <a:spAutoFit/>
          </a:bodyPr>
          <a:lstStyle/>
          <a:p>
            <a:pPr algn="l">
              <a:lnSpc>
                <a:spcPct val="110000"/>
              </a:lnSpc>
            </a:pPr>
            <a:r>
              <a:rPr sz="1600" b="0">
                <a:solidFill>
                  <a:srgbClr val="4B4466"/>
                </a:solidFill>
                <a:latin typeface="Avenir Next"/>
              </a:rPr>
              <a:t>Three picture cards; children show 1, 2 or 3 with their fingers.</a:t>
            </a:r>
          </a:p>
        </p:txBody>
      </p:sp>
      <p:sp>
        <p:nvSpPr>
          <p:cNvPr id="13" name="!!phone2_frame"/>
          <p:cNvSpPr/>
          <p:nvPr/>
        </p:nvSpPr>
        <p:spPr>
          <a:xfrm>
            <a:off x="8375904" y="1517904"/>
            <a:ext cx="1856232" cy="3171952"/>
          </a:xfrm>
          <a:prstGeom prst="roundRect">
            <a:avLst>
              <a:gd name="adj" fmla="val 8000"/>
            </a:avLst>
          </a:prstGeom>
          <a:solidFill>
            <a:srgbClr val="1C1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hone2" descr="count.jpg"/>
          <p:cNvPicPr>
            <a:picLocks noChangeAspect="1"/>
          </p:cNvPicPr>
          <p:nvPr/>
        </p:nvPicPr>
        <p:blipFill>
          <a:blip r:embed="rId5"/>
          <a:stretch>
            <a:fillRect/>
          </a:stretch>
        </p:blipFill>
        <p:spPr>
          <a:xfrm>
            <a:off x="8458200" y="1600200"/>
            <a:ext cx="1691640" cy="3007360"/>
          </a:xfrm>
          <a:prstGeom prst="rect">
            <a:avLst/>
          </a:prstGeom>
        </p:spPr>
      </p:pic>
      <p:sp>
        <p:nvSpPr>
          <p:cNvPr id="15" name="!!ph2"/>
          <p:cNvSpPr txBox="1"/>
          <p:nvPr/>
        </p:nvSpPr>
        <p:spPr>
          <a:xfrm>
            <a:off x="10332720" y="1920240"/>
            <a:ext cx="1783080" cy="548640"/>
          </a:xfrm>
          <a:prstGeom prst="rect">
            <a:avLst/>
          </a:prstGeom>
          <a:noFill/>
        </p:spPr>
        <p:txBody>
          <a:bodyPr wrap="square" lIns="45720" rIns="45720" tIns="27432" bIns="27432" anchor="t">
            <a:spAutoFit/>
          </a:bodyPr>
          <a:lstStyle/>
          <a:p>
            <a:pPr algn="l">
              <a:lnSpc>
                <a:spcPct val="110000"/>
              </a:lnSpc>
            </a:pPr>
            <a:r>
              <a:rPr sz="2200" b="0">
                <a:solidFill>
                  <a:srgbClr val="F08A00"/>
                </a:solidFill>
                <a:latin typeface="Arial Rounded MT Bold"/>
              </a:rPr>
              <a:t>🔢 Count</a:t>
            </a:r>
          </a:p>
        </p:txBody>
      </p:sp>
      <p:sp>
        <p:nvSpPr>
          <p:cNvPr id="16" name="!!pb2"/>
          <p:cNvSpPr txBox="1"/>
          <p:nvPr/>
        </p:nvSpPr>
        <p:spPr>
          <a:xfrm>
            <a:off x="10332720" y="2468880"/>
            <a:ext cx="1783080" cy="2194560"/>
          </a:xfrm>
          <a:prstGeom prst="rect">
            <a:avLst/>
          </a:prstGeom>
          <a:noFill/>
        </p:spPr>
        <p:txBody>
          <a:bodyPr wrap="square" lIns="45720" rIns="45720" tIns="27432" bIns="27432" anchor="t">
            <a:spAutoFit/>
          </a:bodyPr>
          <a:lstStyle/>
          <a:p>
            <a:pPr algn="l">
              <a:lnSpc>
                <a:spcPct val="110000"/>
              </a:lnSpc>
            </a:pPr>
            <a:r>
              <a:rPr sz="1600" b="0">
                <a:solidFill>
                  <a:srgbClr val="4B4466"/>
                </a:solidFill>
                <a:latin typeface="Avenir Next"/>
              </a:rPr>
              <a:t>Syllabus maths: count in tens, then add — out loud, together.</a:t>
            </a:r>
          </a:p>
        </p:txBody>
      </p:sp>
      <p:sp>
        <p:nvSpPr>
          <p:cNvPr id="17" name="footer"/>
          <p:cNvSpPr txBox="1"/>
          <p:nvPr/>
        </p:nvSpPr>
        <p:spPr>
          <a:xfrm>
            <a:off x="804672" y="6327648"/>
            <a:ext cx="7315200" cy="320040"/>
          </a:xfrm>
          <a:prstGeom prst="rect">
            <a:avLst/>
          </a:prstGeom>
          <a:noFill/>
        </p:spPr>
        <p:txBody>
          <a:bodyPr wrap="square" lIns="45720" rIns="45720" tIns="27432" bIns="27432" anchor="t">
            <a:spAutoFit/>
          </a:bodyPr>
          <a:lstStyle/>
          <a:p>
            <a:pPr algn="l">
              <a:lnSpc>
                <a:spcPct val="110000"/>
              </a:lnSpc>
            </a:pPr>
            <a:r>
              <a:rPr sz="1100" b="0">
                <a:solidFill>
                  <a:srgbClr val="8A82A3"/>
                </a:solidFill>
                <a:latin typeface="Avenir Next"/>
              </a:rPr>
              <a:t>Zungga · School pilot proposal   ·   11</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600">
        <p159:morph option="byObject"/>
      </p:transition>
    </mc:Choice>
    <mc:Fallback>
      <p:transition spd="slow">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2A1458"/>
        </a:solidFill>
        <a:effectLst/>
      </p:bgPr>
    </p:bg>
    <p:spTree>
      <p:nvGrpSpPr>
        <p:cNvPr id="1" name=""/>
        <p:cNvGrpSpPr/>
        <p:nvPr/>
      </p:nvGrpSpPr>
      <p:grpSpPr/>
      <p:sp>
        <p:nvSpPr>
          <p:cNvPr id="2" name="!!orbA"/>
          <p:cNvSpPr/>
          <p:nvPr/>
        </p:nvSpPr>
        <p:spPr>
          <a:xfrm>
            <a:off x="-1920240" y="5303520"/>
            <a:ext cx="2926080" cy="2926080"/>
          </a:xfrm>
          <a:prstGeom prst="ellipse">
            <a:avLst/>
          </a:prstGeom>
          <a:solidFill>
            <a:srgbClr val="FCC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rbB"/>
          <p:cNvSpPr/>
          <p:nvPr/>
        </p:nvSpPr>
        <p:spPr>
          <a:xfrm>
            <a:off x="10698480" y="4937760"/>
            <a:ext cx="2194560" cy="2194560"/>
          </a:xfrm>
          <a:prstGeom prst="ellipse">
            <a:avLst/>
          </a:prstGeom>
          <a:solidFill>
            <a:srgbClr val="FF4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rbC"/>
          <p:cNvSpPr/>
          <p:nvPr/>
        </p:nvSpPr>
        <p:spPr>
          <a:xfrm>
            <a:off x="7863840" y="18288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honeA_frame"/>
          <p:cNvSpPr/>
          <p:nvPr/>
        </p:nvSpPr>
        <p:spPr>
          <a:xfrm>
            <a:off x="8787384" y="603504"/>
            <a:ext cx="3044952" cy="5285231"/>
          </a:xfrm>
          <a:prstGeom prst="roundRect">
            <a:avLst>
              <a:gd name="adj" fmla="val 8000"/>
            </a:avLst>
          </a:prstGeom>
          <a:solidFill>
            <a:srgbClr val="1C1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honeA" descr="mission.jpg"/>
          <p:cNvPicPr>
            <a:picLocks noChangeAspect="1"/>
          </p:cNvPicPr>
          <p:nvPr/>
        </p:nvPicPr>
        <p:blipFill>
          <a:blip r:embed="rId2"/>
          <a:stretch>
            <a:fillRect/>
          </a:stretch>
        </p:blipFill>
        <p:spPr>
          <a:xfrm>
            <a:off x="8869680" y="685800"/>
            <a:ext cx="2880360" cy="5120640"/>
          </a:xfrm>
          <a:prstGeom prst="rect">
            <a:avLst/>
          </a:prstGeom>
        </p:spPr>
      </p:pic>
      <p:sp>
        <p:nvSpPr>
          <p:cNvPr id="7" name="!!eyebrow"/>
          <p:cNvSpPr txBox="1"/>
          <p:nvPr/>
        </p:nvSpPr>
        <p:spPr>
          <a:xfrm>
            <a:off x="804672" y="1143000"/>
            <a:ext cx="8229600" cy="365760"/>
          </a:xfrm>
          <a:prstGeom prst="rect">
            <a:avLst/>
          </a:prstGeom>
          <a:noFill/>
        </p:spPr>
        <p:txBody>
          <a:bodyPr wrap="square" lIns="45720" rIns="45720" tIns="27432" bIns="27432" anchor="t">
            <a:spAutoFit/>
          </a:bodyPr>
          <a:lstStyle/>
          <a:p>
            <a:pPr algn="l">
              <a:lnSpc>
                <a:spcPct val="110000"/>
              </a:lnSpc>
            </a:pPr>
            <a:r>
              <a:rPr sz="1400" b="0">
                <a:solidFill>
                  <a:srgbClr val="FCC72C"/>
                </a:solidFill>
                <a:latin typeface="Arial Rounded MT Bold"/>
              </a:rPr>
              <a:t>LEARNING THAT LEAVES THE SCREEN</a:t>
            </a:r>
          </a:p>
        </p:txBody>
      </p:sp>
      <p:sp>
        <p:nvSpPr>
          <p:cNvPr id="8" name="!!title"/>
          <p:cNvSpPr txBox="1"/>
          <p:nvPr/>
        </p:nvSpPr>
        <p:spPr>
          <a:xfrm>
            <a:off x="777240" y="1463040"/>
            <a:ext cx="7498079" cy="914400"/>
          </a:xfrm>
          <a:prstGeom prst="rect">
            <a:avLst/>
          </a:prstGeom>
          <a:noFill/>
        </p:spPr>
        <p:txBody>
          <a:bodyPr wrap="square" lIns="45720" rIns="45720" tIns="27432" bIns="27432" anchor="t">
            <a:spAutoFit/>
          </a:bodyPr>
          <a:lstStyle/>
          <a:p>
            <a:pPr algn="l">
              <a:lnSpc>
                <a:spcPct val="110000"/>
              </a:lnSpc>
            </a:pPr>
            <a:r>
              <a:rPr sz="3400" b="0">
                <a:solidFill>
                  <a:srgbClr val="FBF7EE"/>
                </a:solidFill>
                <a:latin typeface="Arial Rounded MT Bold"/>
              </a:rPr>
              <a:t>Every episode ends with a real-world mission</a:t>
            </a:r>
          </a:p>
        </p:txBody>
      </p:sp>
      <p:sp>
        <p:nvSpPr>
          <p:cNvPr id="9" name="!!card0"/>
          <p:cNvSpPr/>
          <p:nvPr/>
        </p:nvSpPr>
        <p:spPr>
          <a:xfrm>
            <a:off x="822960" y="2788920"/>
            <a:ext cx="7223760" cy="822960"/>
          </a:xfrm>
          <a:prstGeom prst="roundRect">
            <a:avLst>
              <a:gd name="adj" fmla="val 12000"/>
            </a:avLst>
          </a:prstGeom>
          <a:solidFill>
            <a:srgbClr val="3A217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l">
              <a:lnSpc>
                <a:spcPct val="110000"/>
              </a:lnSpc>
            </a:pPr>
            <a:r>
              <a:rPr sz="2400" b="0">
                <a:solidFill>
                  <a:srgbClr val="2A1458"/>
                </a:solidFill>
                <a:latin typeface="Avenir Next"/>
              </a:rPr>
              <a:t>🏃  </a:t>
            </a:r>
            <a:r>
              <a:rPr sz="2000" b="0">
                <a:solidFill>
                  <a:srgbClr val="FCC72C"/>
                </a:solidFill>
                <a:latin typeface="Arial Rounded MT Bold"/>
              </a:rPr>
              <a:t>Move:  </a:t>
            </a:r>
            <a:r>
              <a:rPr sz="1800" b="0">
                <a:solidFill>
                  <a:srgbClr val="FBF7EE"/>
                </a:solidFill>
                <a:latin typeface="Avenir Next"/>
              </a:rPr>
              <a:t>10 lemon-squeeze jumps</a:t>
            </a:r>
          </a:p>
        </p:txBody>
      </p:sp>
      <p:sp>
        <p:nvSpPr>
          <p:cNvPr id="10" name="!!card1"/>
          <p:cNvSpPr/>
          <p:nvPr/>
        </p:nvSpPr>
        <p:spPr>
          <a:xfrm>
            <a:off x="822960" y="3749039"/>
            <a:ext cx="7223760" cy="822960"/>
          </a:xfrm>
          <a:prstGeom prst="roundRect">
            <a:avLst>
              <a:gd name="adj" fmla="val 12000"/>
            </a:avLst>
          </a:prstGeom>
          <a:solidFill>
            <a:srgbClr val="3A217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l">
              <a:lnSpc>
                <a:spcPct val="110000"/>
              </a:lnSpc>
            </a:pPr>
            <a:r>
              <a:rPr sz="2400" b="0">
                <a:solidFill>
                  <a:srgbClr val="2A1458"/>
                </a:solidFill>
                <a:latin typeface="Avenir Next"/>
              </a:rPr>
              <a:t>👨‍👩‍👧  </a:t>
            </a:r>
            <a:r>
              <a:rPr sz="2000" b="0">
                <a:solidFill>
                  <a:srgbClr val="FCC72C"/>
                </a:solidFill>
                <a:latin typeface="Arial Rounded MT Bold"/>
              </a:rPr>
              <a:t>Family:  </a:t>
            </a:r>
            <a:r>
              <a:rPr sz="1800" b="0">
                <a:solidFill>
                  <a:srgbClr val="FBF7EE"/>
                </a:solidFill>
                <a:latin typeface="Avenir Next"/>
              </a:rPr>
              <a:t>Help a grown-up put the shopping away and find 3 price tags</a:t>
            </a:r>
          </a:p>
        </p:txBody>
      </p:sp>
      <p:sp>
        <p:nvSpPr>
          <p:cNvPr id="11" name="!!card2"/>
          <p:cNvSpPr/>
          <p:nvPr/>
        </p:nvSpPr>
        <p:spPr>
          <a:xfrm>
            <a:off x="822960" y="4709160"/>
            <a:ext cx="7223760" cy="822960"/>
          </a:xfrm>
          <a:prstGeom prst="roundRect">
            <a:avLst>
              <a:gd name="adj" fmla="val 12000"/>
            </a:avLst>
          </a:prstGeom>
          <a:solidFill>
            <a:srgbClr val="3A217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27432" bIns="27432" wrap="square"/>
          <a:lstStyle/>
          <a:p>
            <a:pPr algn="l">
              <a:lnSpc>
                <a:spcPct val="110000"/>
              </a:lnSpc>
            </a:pPr>
            <a:r>
              <a:rPr sz="2400" b="0">
                <a:solidFill>
                  <a:srgbClr val="2A1458"/>
                </a:solidFill>
                <a:latin typeface="Avenir Next"/>
              </a:rPr>
              <a:t>🎨  </a:t>
            </a:r>
            <a:r>
              <a:rPr sz="2000" b="0">
                <a:solidFill>
                  <a:srgbClr val="FCC72C"/>
                </a:solidFill>
                <a:latin typeface="Arial Rounded MT Bold"/>
              </a:rPr>
              <a:t>Create:  </a:t>
            </a:r>
            <a:r>
              <a:rPr sz="1800" b="0">
                <a:solidFill>
                  <a:srgbClr val="FBF7EE"/>
                </a:solidFill>
                <a:latin typeface="Avenir Next"/>
              </a:rPr>
              <a:t>Draw your own shop sign with a price</a:t>
            </a:r>
          </a:p>
        </p:txBody>
      </p:sp>
      <p:sp>
        <p:nvSpPr>
          <p:cNvPr id="12" name="!!sub"/>
          <p:cNvSpPr txBox="1"/>
          <p:nvPr/>
        </p:nvSpPr>
        <p:spPr>
          <a:xfrm>
            <a:off x="841248" y="5715000"/>
            <a:ext cx="7498079" cy="457200"/>
          </a:xfrm>
          <a:prstGeom prst="rect">
            <a:avLst/>
          </a:prstGeom>
          <a:noFill/>
        </p:spPr>
        <p:txBody>
          <a:bodyPr wrap="square" lIns="45720" rIns="45720" tIns="27432" bIns="27432" anchor="t">
            <a:spAutoFit/>
          </a:bodyPr>
          <a:lstStyle/>
          <a:p>
            <a:pPr algn="l">
              <a:lnSpc>
                <a:spcPct val="110000"/>
              </a:lnSpc>
            </a:pPr>
            <a:r>
              <a:rPr sz="1700" b="0">
                <a:solidFill>
                  <a:srgbClr val="D9CCF5"/>
                </a:solidFill>
                <a:latin typeface="Avenir Next"/>
              </a:rPr>
              <a:t>Always a choice of three, at the same effort — no child is left out.</a:t>
            </a:r>
          </a:p>
        </p:txBody>
      </p:sp>
      <p:sp>
        <p:nvSpPr>
          <p:cNvPr id="13" name="footer"/>
          <p:cNvSpPr txBox="1"/>
          <p:nvPr/>
        </p:nvSpPr>
        <p:spPr>
          <a:xfrm>
            <a:off x="804672" y="6327648"/>
            <a:ext cx="7315200" cy="320040"/>
          </a:xfrm>
          <a:prstGeom prst="rect">
            <a:avLst/>
          </a:prstGeom>
          <a:noFill/>
        </p:spPr>
        <p:txBody>
          <a:bodyPr wrap="square" lIns="45720" rIns="45720" tIns="27432" bIns="27432" anchor="t">
            <a:spAutoFit/>
          </a:bodyPr>
          <a:lstStyle/>
          <a:p>
            <a:pPr algn="l">
              <a:lnSpc>
                <a:spcPct val="110000"/>
              </a:lnSpc>
            </a:pPr>
            <a:r>
              <a:rPr sz="1100" b="0">
                <a:solidFill>
                  <a:srgbClr val="D9CCF5"/>
                </a:solidFill>
                <a:latin typeface="Avenir Next"/>
              </a:rPr>
              <a:t>Zungga · School pilot proposal   ·   12</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600">
        <p159:morph option="byObject"/>
      </p:transition>
    </mc:Choice>
    <mc:Fallback>
      <p:transition spd="slow">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BF7EE"/>
        </a:solidFill>
        <a:effectLst/>
      </p:bgPr>
    </p:bg>
    <p:spTree>
      <p:nvGrpSpPr>
        <p:cNvPr id="1" name=""/>
        <p:cNvGrpSpPr/>
        <p:nvPr/>
      </p:nvGrpSpPr>
      <p:grpSpPr/>
      <p:sp>
        <p:nvSpPr>
          <p:cNvPr id="2" name="!!orbA"/>
          <p:cNvSpPr/>
          <p:nvPr/>
        </p:nvSpPr>
        <p:spPr>
          <a:xfrm>
            <a:off x="10058400" y="4480560"/>
            <a:ext cx="2743200" cy="2743200"/>
          </a:xfrm>
          <a:prstGeom prst="ellipse">
            <a:avLst/>
          </a:prstGeom>
          <a:solidFill>
            <a:srgbClr val="FCC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rbB"/>
          <p:cNvSpPr/>
          <p:nvPr/>
        </p:nvSpPr>
        <p:spPr>
          <a:xfrm>
            <a:off x="11521440" y="365760"/>
            <a:ext cx="822960" cy="822960"/>
          </a:xfrm>
          <a:prstGeom prst="ellipse">
            <a:avLst/>
          </a:prstGeom>
          <a:solidFill>
            <a:srgbClr val="FF4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rbC"/>
          <p:cNvSpPr/>
          <p:nvPr/>
        </p:nvSpPr>
        <p:spPr>
          <a:xfrm>
            <a:off x="-548640" y="5577840"/>
            <a:ext cx="1280160" cy="12801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logo" descr="zungga-logo.png"/>
          <p:cNvPicPr>
            <a:picLocks noChangeAspect="1"/>
          </p:cNvPicPr>
          <p:nvPr/>
        </p:nvPicPr>
        <p:blipFill>
          <a:blip r:embed="rId2"/>
          <a:stretch>
            <a:fillRect/>
          </a:stretch>
        </p:blipFill>
        <p:spPr>
          <a:xfrm>
            <a:off x="10378440" y="329184"/>
            <a:ext cx="1325880" cy="1088086"/>
          </a:xfrm>
          <a:prstGeom prst="rect">
            <a:avLst/>
          </a:prstGeom>
        </p:spPr>
      </p:pic>
      <p:sp>
        <p:nvSpPr>
          <p:cNvPr id="6" name="!!eyebrow"/>
          <p:cNvSpPr txBox="1"/>
          <p:nvPr/>
        </p:nvSpPr>
        <p:spPr>
          <a:xfrm>
            <a:off x="804672" y="347472"/>
            <a:ext cx="8229600" cy="365760"/>
          </a:xfrm>
          <a:prstGeom prst="rect">
            <a:avLst/>
          </a:prstGeom>
          <a:noFill/>
        </p:spPr>
        <p:txBody>
          <a:bodyPr wrap="square" lIns="45720" rIns="45720" tIns="27432" bIns="27432" anchor="t">
            <a:spAutoFit/>
          </a:bodyPr>
          <a:lstStyle/>
          <a:p>
            <a:pPr algn="l">
              <a:lnSpc>
                <a:spcPct val="110000"/>
              </a:lnSpc>
            </a:pPr>
            <a:r>
              <a:rPr sz="1400" b="0">
                <a:solidFill>
                  <a:srgbClr val="7C3AED"/>
                </a:solidFill>
                <a:latin typeface="Arial Rounded MT Bold"/>
              </a:rPr>
              <a:t>PARENTS STAY IN CONTROL</a:t>
            </a:r>
          </a:p>
        </p:txBody>
      </p:sp>
      <p:sp>
        <p:nvSpPr>
          <p:cNvPr id="7" name="!!title"/>
          <p:cNvSpPr txBox="1"/>
          <p:nvPr/>
        </p:nvSpPr>
        <p:spPr>
          <a:xfrm>
            <a:off x="777240" y="566928"/>
            <a:ext cx="9875520" cy="914400"/>
          </a:xfrm>
          <a:prstGeom prst="rect">
            <a:avLst/>
          </a:prstGeom>
          <a:noFill/>
        </p:spPr>
        <p:txBody>
          <a:bodyPr wrap="square" lIns="45720" rIns="45720" tIns="27432" bIns="27432" anchor="t">
            <a:spAutoFit/>
          </a:bodyPr>
          <a:lstStyle/>
          <a:p>
            <a:pPr algn="l">
              <a:lnSpc>
                <a:spcPct val="110000"/>
              </a:lnSpc>
            </a:pPr>
            <a:r>
              <a:rPr sz="4000" b="0">
                <a:solidFill>
                  <a:srgbClr val="2A1458"/>
                </a:solidFill>
                <a:latin typeface="Arial Rounded MT Bold"/>
              </a:rPr>
              <a:t>Safe for children, by design</a:t>
            </a:r>
          </a:p>
        </p:txBody>
      </p:sp>
      <p:sp>
        <p:nvSpPr>
          <p:cNvPr id="8" name="!!card0"/>
          <p:cNvSpPr/>
          <p:nvPr/>
        </p:nvSpPr>
        <p:spPr>
          <a:xfrm>
            <a:off x="777240" y="2057400"/>
            <a:ext cx="3429000" cy="1645920"/>
          </a:xfrm>
          <a:prstGeom prst="roundRect">
            <a:avLst>
              <a:gd name="adj" fmla="val 12000"/>
            </a:avLst>
          </a:prstGeom>
          <a:solidFill>
            <a:srgbClr val="FFFDF8"/>
          </a:solidFill>
          <a:ln>
            <a:noFill/>
          </a:ln>
          <a:effectLst/>
        </p:spPr>
        <p:style>
          <a:lnRef idx="1">
            <a:schemeClr val="accent1"/>
          </a:lnRef>
          <a:fillRef idx="3">
            <a:schemeClr val="accent1"/>
          </a:fillRef>
          <a:effectRef idx="2">
            <a:schemeClr val="accent1"/>
          </a:effectRef>
          <a:fontRef idx="minor">
            <a:schemeClr val="lt1"/>
          </a:fontRef>
        </p:style>
        <p:txBody>
          <a:bodyPr rtlCol="0" anchor="t" lIns="45720" rIns="45720" tIns="27432" bIns="27432" wrap="square"/>
          <a:lstStyle/>
          <a:p>
            <a:pPr algn="l">
              <a:lnSpc>
                <a:spcPct val="110000"/>
              </a:lnSpc>
            </a:pPr>
            <a:r>
              <a:rPr sz="2400" b="0">
                <a:solidFill>
                  <a:srgbClr val="2A1458"/>
                </a:solidFill>
                <a:latin typeface="Avenir Next"/>
              </a:rPr>
              <a:t>🚫  </a:t>
            </a:r>
            <a:r>
              <a:rPr sz="2100" b="0">
                <a:solidFill>
                  <a:srgbClr val="2A1458"/>
                </a:solidFill>
                <a:latin typeface="Arial Rounded MT Bold"/>
              </a:rPr>
              <a:t>No tracking</a:t>
            </a:r>
          </a:p>
          <a:p>
            <a:pPr algn="l">
              <a:lnSpc>
                <a:spcPct val="110000"/>
              </a:lnSpc>
            </a:pPr>
            <a:r>
              <a:rPr sz="1600" b="0">
                <a:solidFill>
                  <a:srgbClr val="4B4466"/>
                </a:solidFill>
                <a:latin typeface="Avenir Next"/>
              </a:rPr>
              <a:t>No monitoring, no location, no behaviour profiling.</a:t>
            </a:r>
          </a:p>
        </p:txBody>
      </p:sp>
      <p:sp>
        <p:nvSpPr>
          <p:cNvPr id="9" name="!!card1"/>
          <p:cNvSpPr/>
          <p:nvPr/>
        </p:nvSpPr>
        <p:spPr>
          <a:xfrm>
            <a:off x="4389120" y="2057400"/>
            <a:ext cx="3429000" cy="1645920"/>
          </a:xfrm>
          <a:prstGeom prst="roundRect">
            <a:avLst>
              <a:gd name="adj" fmla="val 12000"/>
            </a:avLst>
          </a:prstGeom>
          <a:solidFill>
            <a:srgbClr val="FFFDF8"/>
          </a:solidFill>
          <a:ln>
            <a:noFill/>
          </a:ln>
          <a:effectLst/>
        </p:spPr>
        <p:style>
          <a:lnRef idx="1">
            <a:schemeClr val="accent1"/>
          </a:lnRef>
          <a:fillRef idx="3">
            <a:schemeClr val="accent1"/>
          </a:fillRef>
          <a:effectRef idx="2">
            <a:schemeClr val="accent1"/>
          </a:effectRef>
          <a:fontRef idx="minor">
            <a:schemeClr val="lt1"/>
          </a:fontRef>
        </p:style>
        <p:txBody>
          <a:bodyPr rtlCol="0" anchor="t" lIns="45720" rIns="45720" tIns="27432" bIns="27432" wrap="square"/>
          <a:lstStyle/>
          <a:p>
            <a:pPr algn="l">
              <a:lnSpc>
                <a:spcPct val="110000"/>
              </a:lnSpc>
            </a:pPr>
            <a:r>
              <a:rPr sz="2400" b="0">
                <a:solidFill>
                  <a:srgbClr val="2A1458"/>
                </a:solidFill>
                <a:latin typeface="Avenir Next"/>
              </a:rPr>
              <a:t>🔐  </a:t>
            </a:r>
            <a:r>
              <a:rPr sz="2100" b="0">
                <a:solidFill>
                  <a:srgbClr val="2A1458"/>
                </a:solidFill>
                <a:latin typeface="Arial Rounded MT Bold"/>
              </a:rPr>
              <a:t>Parent login + PIN</a:t>
            </a:r>
          </a:p>
          <a:p>
            <a:pPr algn="l">
              <a:lnSpc>
                <a:spcPct val="110000"/>
              </a:lnSpc>
            </a:pPr>
            <a:r>
              <a:rPr sz="1600" b="0">
                <a:solidFill>
                  <a:srgbClr val="4B4466"/>
                </a:solidFill>
                <a:latin typeface="Avenir Next"/>
              </a:rPr>
              <a:t>Every approval needs the parent’s own PIN.</a:t>
            </a:r>
          </a:p>
        </p:txBody>
      </p:sp>
      <p:sp>
        <p:nvSpPr>
          <p:cNvPr id="10" name="!!card2"/>
          <p:cNvSpPr/>
          <p:nvPr/>
        </p:nvSpPr>
        <p:spPr>
          <a:xfrm>
            <a:off x="8001000" y="2057400"/>
            <a:ext cx="3429000" cy="1645920"/>
          </a:xfrm>
          <a:prstGeom prst="roundRect">
            <a:avLst>
              <a:gd name="adj" fmla="val 12000"/>
            </a:avLst>
          </a:prstGeom>
          <a:solidFill>
            <a:srgbClr val="FFFDF8"/>
          </a:solidFill>
          <a:ln>
            <a:noFill/>
          </a:ln>
          <a:effectLst/>
        </p:spPr>
        <p:style>
          <a:lnRef idx="1">
            <a:schemeClr val="accent1"/>
          </a:lnRef>
          <a:fillRef idx="3">
            <a:schemeClr val="accent1"/>
          </a:fillRef>
          <a:effectRef idx="2">
            <a:schemeClr val="accent1"/>
          </a:effectRef>
          <a:fontRef idx="minor">
            <a:schemeClr val="lt1"/>
          </a:fontRef>
        </p:style>
        <p:txBody>
          <a:bodyPr rtlCol="0" anchor="t" lIns="45720" rIns="45720" tIns="27432" bIns="27432" wrap="square"/>
          <a:lstStyle/>
          <a:p>
            <a:pPr algn="l">
              <a:lnSpc>
                <a:spcPct val="110000"/>
              </a:lnSpc>
            </a:pPr>
            <a:r>
              <a:rPr sz="2400" b="0">
                <a:solidFill>
                  <a:srgbClr val="2A1458"/>
                </a:solidFill>
                <a:latin typeface="Avenir Next"/>
              </a:rPr>
              <a:t>📵  </a:t>
            </a:r>
            <a:r>
              <a:rPr sz="2100" b="0">
                <a:solidFill>
                  <a:srgbClr val="2A1458"/>
                </a:solidFill>
                <a:latin typeface="Arial Rounded MT Bold"/>
              </a:rPr>
              <a:t>No ads, ever</a:t>
            </a:r>
          </a:p>
          <a:p>
            <a:pPr algn="l">
              <a:lnSpc>
                <a:spcPct val="110000"/>
              </a:lnSpc>
            </a:pPr>
            <a:r>
              <a:rPr sz="1600" b="0">
                <a:solidFill>
                  <a:srgbClr val="4B4466"/>
                </a:solidFill>
                <a:latin typeface="Avenir Next"/>
              </a:rPr>
              <a:t>Nothing is sold to children inside the app.</a:t>
            </a:r>
          </a:p>
        </p:txBody>
      </p:sp>
      <p:sp>
        <p:nvSpPr>
          <p:cNvPr id="11" name="!!card3"/>
          <p:cNvSpPr/>
          <p:nvPr/>
        </p:nvSpPr>
        <p:spPr>
          <a:xfrm>
            <a:off x="777240" y="3931920"/>
            <a:ext cx="3429000" cy="1645920"/>
          </a:xfrm>
          <a:prstGeom prst="roundRect">
            <a:avLst>
              <a:gd name="adj" fmla="val 12000"/>
            </a:avLst>
          </a:prstGeom>
          <a:solidFill>
            <a:srgbClr val="FFFDF8"/>
          </a:solidFill>
          <a:ln>
            <a:noFill/>
          </a:ln>
          <a:effectLst/>
        </p:spPr>
        <p:style>
          <a:lnRef idx="1">
            <a:schemeClr val="accent1"/>
          </a:lnRef>
          <a:fillRef idx="3">
            <a:schemeClr val="accent1"/>
          </a:fillRef>
          <a:effectRef idx="2">
            <a:schemeClr val="accent1"/>
          </a:effectRef>
          <a:fontRef idx="minor">
            <a:schemeClr val="lt1"/>
          </a:fontRef>
        </p:style>
        <p:txBody>
          <a:bodyPr rtlCol="0" anchor="t" lIns="45720" rIns="45720" tIns="27432" bIns="27432" wrap="square"/>
          <a:lstStyle/>
          <a:p>
            <a:pPr algn="l">
              <a:lnSpc>
                <a:spcPct val="110000"/>
              </a:lnSpc>
            </a:pPr>
            <a:r>
              <a:rPr sz="2400" b="0">
                <a:solidFill>
                  <a:srgbClr val="2A1458"/>
                </a:solidFill>
                <a:latin typeface="Avenir Next"/>
              </a:rPr>
              <a:t>🪪  </a:t>
            </a:r>
            <a:r>
              <a:rPr sz="2100" b="0">
                <a:solidFill>
                  <a:srgbClr val="2A1458"/>
                </a:solidFill>
                <a:latin typeface="Arial Rounded MT Bold"/>
              </a:rPr>
              <a:t>Minimal data</a:t>
            </a:r>
          </a:p>
          <a:p>
            <a:pPr algn="l">
              <a:lnSpc>
                <a:spcPct val="110000"/>
              </a:lnSpc>
            </a:pPr>
            <a:r>
              <a:rPr sz="1600" b="0">
                <a:solidFill>
                  <a:srgbClr val="4B4466"/>
                </a:solidFill>
                <a:latin typeface="Avenir Next"/>
              </a:rPr>
              <a:t>No child email needed; only name and progress.</a:t>
            </a:r>
          </a:p>
        </p:txBody>
      </p:sp>
      <p:sp>
        <p:nvSpPr>
          <p:cNvPr id="12" name="!!card4"/>
          <p:cNvSpPr/>
          <p:nvPr/>
        </p:nvSpPr>
        <p:spPr>
          <a:xfrm>
            <a:off x="4389120" y="3931920"/>
            <a:ext cx="3429000" cy="1645920"/>
          </a:xfrm>
          <a:prstGeom prst="roundRect">
            <a:avLst>
              <a:gd name="adj" fmla="val 12000"/>
            </a:avLst>
          </a:prstGeom>
          <a:solidFill>
            <a:srgbClr val="FFFDF8"/>
          </a:solidFill>
          <a:ln>
            <a:noFill/>
          </a:ln>
          <a:effectLst/>
        </p:spPr>
        <p:style>
          <a:lnRef idx="1">
            <a:schemeClr val="accent1"/>
          </a:lnRef>
          <a:fillRef idx="3">
            <a:schemeClr val="accent1"/>
          </a:fillRef>
          <a:effectRef idx="2">
            <a:schemeClr val="accent1"/>
          </a:effectRef>
          <a:fontRef idx="minor">
            <a:schemeClr val="lt1"/>
          </a:fontRef>
        </p:style>
        <p:txBody>
          <a:bodyPr rtlCol="0" anchor="t" lIns="45720" rIns="45720" tIns="27432" bIns="27432" wrap="square"/>
          <a:lstStyle/>
          <a:p>
            <a:pPr algn="l">
              <a:lnSpc>
                <a:spcPct val="110000"/>
              </a:lnSpc>
            </a:pPr>
            <a:r>
              <a:rPr sz="2400" b="0">
                <a:solidFill>
                  <a:srgbClr val="2A1458"/>
                </a:solidFill>
                <a:latin typeface="Avenir Next"/>
              </a:rPr>
              <a:t>💬  </a:t>
            </a:r>
            <a:r>
              <a:rPr sz="2100" b="0">
                <a:solidFill>
                  <a:srgbClr val="2A1458"/>
                </a:solidFill>
                <a:latin typeface="Arial Rounded MT Bold"/>
              </a:rPr>
              <a:t>Kind feedback</a:t>
            </a:r>
          </a:p>
          <a:p>
            <a:pPr algn="l">
              <a:lnSpc>
                <a:spcPct val="110000"/>
              </a:lnSpc>
            </a:pPr>
            <a:r>
              <a:rPr sz="1600" b="0">
                <a:solidFill>
                  <a:srgbClr val="4B4466"/>
                </a:solidFill>
                <a:latin typeface="Avenir Next"/>
              </a:rPr>
              <a:t>Every answer is welcomed; praise comes first.</a:t>
            </a:r>
          </a:p>
        </p:txBody>
      </p:sp>
      <p:sp>
        <p:nvSpPr>
          <p:cNvPr id="13" name="!!card5"/>
          <p:cNvSpPr/>
          <p:nvPr/>
        </p:nvSpPr>
        <p:spPr>
          <a:xfrm>
            <a:off x="8001000" y="3931920"/>
            <a:ext cx="3429000" cy="1645920"/>
          </a:xfrm>
          <a:prstGeom prst="roundRect">
            <a:avLst>
              <a:gd name="adj" fmla="val 12000"/>
            </a:avLst>
          </a:prstGeom>
          <a:solidFill>
            <a:srgbClr val="FFFDF8"/>
          </a:solidFill>
          <a:ln>
            <a:noFill/>
          </a:ln>
          <a:effectLst/>
        </p:spPr>
        <p:style>
          <a:lnRef idx="1">
            <a:schemeClr val="accent1"/>
          </a:lnRef>
          <a:fillRef idx="3">
            <a:schemeClr val="accent1"/>
          </a:fillRef>
          <a:effectRef idx="2">
            <a:schemeClr val="accent1"/>
          </a:effectRef>
          <a:fontRef idx="minor">
            <a:schemeClr val="lt1"/>
          </a:fontRef>
        </p:style>
        <p:txBody>
          <a:bodyPr rtlCol="0" anchor="t" lIns="45720" rIns="45720" tIns="27432" bIns="27432" wrap="square"/>
          <a:lstStyle/>
          <a:p>
            <a:pPr algn="l">
              <a:lnSpc>
                <a:spcPct val="110000"/>
              </a:lnSpc>
            </a:pPr>
            <a:r>
              <a:rPr sz="2400" b="0">
                <a:solidFill>
                  <a:srgbClr val="2A1458"/>
                </a:solidFill>
                <a:latin typeface="Avenir Next"/>
              </a:rPr>
              <a:t>🇮🇳  </a:t>
            </a:r>
            <a:r>
              <a:rPr sz="2100" b="0">
                <a:solidFill>
                  <a:srgbClr val="2A1458"/>
                </a:solidFill>
                <a:latin typeface="Arial Rounded MT Bold"/>
              </a:rPr>
              <a:t>Made for India</a:t>
            </a:r>
          </a:p>
          <a:p>
            <a:pPr algn="l">
              <a:lnSpc>
                <a:spcPct val="110000"/>
              </a:lnSpc>
            </a:pPr>
            <a:r>
              <a:rPr sz="1600" b="0">
                <a:solidFill>
                  <a:srgbClr val="4B4466"/>
                </a:solidFill>
                <a:latin typeface="Avenir Next"/>
              </a:rPr>
              <a:t>Designed around India’s child-data rules (DPDP Act).</a:t>
            </a:r>
          </a:p>
        </p:txBody>
      </p:sp>
      <p:sp>
        <p:nvSpPr>
          <p:cNvPr id="14" name="footer"/>
          <p:cNvSpPr txBox="1"/>
          <p:nvPr/>
        </p:nvSpPr>
        <p:spPr>
          <a:xfrm>
            <a:off x="804672" y="6327648"/>
            <a:ext cx="7315200" cy="320040"/>
          </a:xfrm>
          <a:prstGeom prst="rect">
            <a:avLst/>
          </a:prstGeom>
          <a:noFill/>
        </p:spPr>
        <p:txBody>
          <a:bodyPr wrap="square" lIns="45720" rIns="45720" tIns="27432" bIns="27432" anchor="t">
            <a:spAutoFit/>
          </a:bodyPr>
          <a:lstStyle/>
          <a:p>
            <a:pPr algn="l">
              <a:lnSpc>
                <a:spcPct val="110000"/>
              </a:lnSpc>
            </a:pPr>
            <a:r>
              <a:rPr sz="1100" b="0">
                <a:solidFill>
                  <a:srgbClr val="8A82A3"/>
                </a:solidFill>
                <a:latin typeface="Avenir Next"/>
              </a:rPr>
              <a:t>Zungga · School pilot proposal   ·   13</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600">
        <p159:morph option="byObject"/>
      </p:transition>
    </mc:Choice>
    <mc:Fallback>
      <p:transition spd="slow">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BF7EE"/>
        </a:solidFill>
        <a:effectLst/>
      </p:bgPr>
    </p:bg>
    <p:spTree>
      <p:nvGrpSpPr>
        <p:cNvPr id="1" name=""/>
        <p:cNvGrpSpPr/>
        <p:nvPr/>
      </p:nvGrpSpPr>
      <p:grpSpPr/>
      <p:sp>
        <p:nvSpPr>
          <p:cNvPr id="2" name="!!orbA"/>
          <p:cNvSpPr/>
          <p:nvPr/>
        </p:nvSpPr>
        <p:spPr>
          <a:xfrm>
            <a:off x="8778240" y="822960"/>
            <a:ext cx="4206240" cy="4206240"/>
          </a:xfrm>
          <a:prstGeom prst="ellipse">
            <a:avLst/>
          </a:prstGeom>
          <a:solidFill>
            <a:srgbClr val="FCC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rbB"/>
          <p:cNvSpPr/>
          <p:nvPr/>
        </p:nvSpPr>
        <p:spPr>
          <a:xfrm>
            <a:off x="11338560" y="5394960"/>
            <a:ext cx="1005840" cy="1005840"/>
          </a:xfrm>
          <a:prstGeom prst="ellipse">
            <a:avLst/>
          </a:prstGeom>
          <a:solidFill>
            <a:srgbClr val="FF4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rbC"/>
          <p:cNvSpPr/>
          <p:nvPr/>
        </p:nvSpPr>
        <p:spPr>
          <a:xfrm>
            <a:off x="8138160" y="512064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honeA_frame"/>
          <p:cNvSpPr/>
          <p:nvPr/>
        </p:nvSpPr>
        <p:spPr>
          <a:xfrm>
            <a:off x="9381744" y="1014983"/>
            <a:ext cx="2176272" cy="3740912"/>
          </a:xfrm>
          <a:prstGeom prst="roundRect">
            <a:avLst>
              <a:gd name="adj" fmla="val 8000"/>
            </a:avLst>
          </a:prstGeom>
          <a:solidFill>
            <a:srgbClr val="1C1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honeA" descr="sum.jpg"/>
          <p:cNvPicPr>
            <a:picLocks noChangeAspect="1"/>
          </p:cNvPicPr>
          <p:nvPr/>
        </p:nvPicPr>
        <p:blipFill>
          <a:blip r:embed="rId2"/>
          <a:stretch>
            <a:fillRect/>
          </a:stretch>
        </p:blipFill>
        <p:spPr>
          <a:xfrm>
            <a:off x="9464040" y="1097280"/>
            <a:ext cx="2011680" cy="3576320"/>
          </a:xfrm>
          <a:prstGeom prst="rect">
            <a:avLst/>
          </a:prstGeom>
        </p:spPr>
      </p:pic>
      <p:sp>
        <p:nvSpPr>
          <p:cNvPr id="7" name="!!eyebrow"/>
          <p:cNvSpPr txBox="1"/>
          <p:nvPr/>
        </p:nvSpPr>
        <p:spPr>
          <a:xfrm>
            <a:off x="804672" y="1051560"/>
            <a:ext cx="8229600" cy="365760"/>
          </a:xfrm>
          <a:prstGeom prst="rect">
            <a:avLst/>
          </a:prstGeom>
          <a:noFill/>
        </p:spPr>
        <p:txBody>
          <a:bodyPr wrap="square" lIns="45720" rIns="45720" tIns="27432" bIns="27432" anchor="t">
            <a:spAutoFit/>
          </a:bodyPr>
          <a:lstStyle/>
          <a:p>
            <a:pPr algn="l">
              <a:lnSpc>
                <a:spcPct val="110000"/>
              </a:lnSpc>
            </a:pPr>
            <a:r>
              <a:rPr sz="1400" b="0">
                <a:solidFill>
                  <a:srgbClr val="7C3AED"/>
                </a:solidFill>
                <a:latin typeface="Arial Rounded MT Bold"/>
              </a:rPr>
              <a:t>FITS YOUR CLASSROOM</a:t>
            </a:r>
          </a:p>
        </p:txBody>
      </p:sp>
      <p:sp>
        <p:nvSpPr>
          <p:cNvPr id="8" name="!!title"/>
          <p:cNvSpPr txBox="1"/>
          <p:nvPr/>
        </p:nvSpPr>
        <p:spPr>
          <a:xfrm>
            <a:off x="777240" y="1371600"/>
            <a:ext cx="7680960" cy="914400"/>
          </a:xfrm>
          <a:prstGeom prst="rect">
            <a:avLst/>
          </a:prstGeom>
          <a:noFill/>
        </p:spPr>
        <p:txBody>
          <a:bodyPr wrap="square" lIns="45720" rIns="45720" tIns="27432" bIns="27432" anchor="t">
            <a:spAutoFit/>
          </a:bodyPr>
          <a:lstStyle/>
          <a:p>
            <a:pPr algn="l">
              <a:lnSpc>
                <a:spcPct val="110000"/>
              </a:lnSpc>
            </a:pPr>
            <a:r>
              <a:rPr sz="3400" b="0">
                <a:solidFill>
                  <a:srgbClr val="2A1458"/>
                </a:solidFill>
                <a:latin typeface="Arial Rounded MT Bold"/>
              </a:rPr>
              <a:t>Built around your syllabus and your teachers</a:t>
            </a:r>
          </a:p>
        </p:txBody>
      </p:sp>
      <p:sp>
        <p:nvSpPr>
          <p:cNvPr id="9" name="!!pt0"/>
          <p:cNvSpPr txBox="1"/>
          <p:nvPr/>
        </p:nvSpPr>
        <p:spPr>
          <a:xfrm>
            <a:off x="822960" y="2788920"/>
            <a:ext cx="7680960" cy="822960"/>
          </a:xfrm>
          <a:prstGeom prst="rect">
            <a:avLst/>
          </a:prstGeom>
          <a:noFill/>
        </p:spPr>
        <p:txBody>
          <a:bodyPr wrap="square" lIns="45720" rIns="45720" tIns="27432" bIns="27432" anchor="t">
            <a:spAutoFit/>
          </a:bodyPr>
          <a:lstStyle/>
          <a:p>
            <a:pPr algn="l">
              <a:lnSpc>
                <a:spcPct val="110000"/>
              </a:lnSpc>
            </a:pPr>
            <a:r>
              <a:rPr sz="2200" b="0">
                <a:solidFill>
                  <a:srgbClr val="2A1458"/>
                </a:solidFill>
                <a:latin typeface="Avenir Next"/>
              </a:rPr>
              <a:t>📘  </a:t>
            </a:r>
            <a:r>
              <a:rPr sz="2100" b="0">
                <a:solidFill>
                  <a:srgbClr val="2A1458"/>
                </a:solidFill>
                <a:latin typeface="Arial Rounded MT Bold"/>
              </a:rPr>
              <a:t>Syllabus-linked</a:t>
            </a:r>
          </a:p>
          <a:p>
            <a:pPr algn="l">
              <a:lnSpc>
                <a:spcPct val="110000"/>
              </a:lnSpc>
            </a:pPr>
            <a:r>
              <a:rPr sz="1600" b="0">
                <a:solidFill>
                  <a:srgbClr val="4B4466"/>
                </a:solidFill>
                <a:latin typeface="Avenir Next"/>
              </a:rPr>
              <a:t>Class 3–5, Tamil Nadu &amp; Karnataka state boards, in English</a:t>
            </a:r>
          </a:p>
        </p:txBody>
      </p:sp>
      <p:sp>
        <p:nvSpPr>
          <p:cNvPr id="10" name="!!pt1"/>
          <p:cNvSpPr txBox="1"/>
          <p:nvPr/>
        </p:nvSpPr>
        <p:spPr>
          <a:xfrm>
            <a:off x="822960" y="3630168"/>
            <a:ext cx="7680960" cy="822960"/>
          </a:xfrm>
          <a:prstGeom prst="rect">
            <a:avLst/>
          </a:prstGeom>
          <a:noFill/>
        </p:spPr>
        <p:txBody>
          <a:bodyPr wrap="square" lIns="45720" rIns="45720" tIns="27432" bIns="27432" anchor="t">
            <a:spAutoFit/>
          </a:bodyPr>
          <a:lstStyle/>
          <a:p>
            <a:pPr algn="l">
              <a:lnSpc>
                <a:spcPct val="110000"/>
              </a:lnSpc>
            </a:pPr>
            <a:r>
              <a:rPr sz="2200" b="0">
                <a:solidFill>
                  <a:srgbClr val="2A1458"/>
                </a:solidFill>
                <a:latin typeface="Avenir Next"/>
              </a:rPr>
              <a:t>🧑‍🏫  </a:t>
            </a:r>
            <a:r>
              <a:rPr sz="2100" b="0">
                <a:solidFill>
                  <a:srgbClr val="2A1458"/>
                </a:solidFill>
                <a:latin typeface="Arial Rounded MT Bold"/>
              </a:rPr>
              <a:t>Classroom mode</a:t>
            </a:r>
          </a:p>
          <a:p>
            <a:pPr algn="l">
              <a:lnSpc>
                <a:spcPct val="110000"/>
              </a:lnSpc>
            </a:pPr>
            <a:r>
              <a:rPr sz="1600" b="0">
                <a:solidFill>
                  <a:srgbClr val="4B4466"/>
                </a:solidFill>
                <a:latin typeface="Avenir Next"/>
              </a:rPr>
              <a:t>Teacher plays an episode; the whole class answers the pauses together</a:t>
            </a:r>
          </a:p>
        </p:txBody>
      </p:sp>
      <p:sp>
        <p:nvSpPr>
          <p:cNvPr id="11" name="!!pt2"/>
          <p:cNvSpPr txBox="1"/>
          <p:nvPr/>
        </p:nvSpPr>
        <p:spPr>
          <a:xfrm>
            <a:off x="822960" y="4471416"/>
            <a:ext cx="7680960" cy="822960"/>
          </a:xfrm>
          <a:prstGeom prst="rect">
            <a:avLst/>
          </a:prstGeom>
          <a:noFill/>
        </p:spPr>
        <p:txBody>
          <a:bodyPr wrap="square" lIns="45720" rIns="45720" tIns="27432" bIns="27432" anchor="t">
            <a:spAutoFit/>
          </a:bodyPr>
          <a:lstStyle/>
          <a:p>
            <a:pPr algn="l">
              <a:lnSpc>
                <a:spcPct val="110000"/>
              </a:lnSpc>
            </a:pPr>
            <a:r>
              <a:rPr sz="2200" b="0">
                <a:solidFill>
                  <a:srgbClr val="2A1458"/>
                </a:solidFill>
                <a:latin typeface="Avenir Next"/>
              </a:rPr>
              <a:t>🏡  </a:t>
            </a:r>
            <a:r>
              <a:rPr sz="2100" b="0">
                <a:solidFill>
                  <a:srgbClr val="2A1458"/>
                </a:solidFill>
                <a:latin typeface="Arial Rounded MT Bold"/>
              </a:rPr>
              <a:t>Home connection</a:t>
            </a:r>
          </a:p>
          <a:p>
            <a:pPr algn="l">
              <a:lnSpc>
                <a:spcPct val="110000"/>
              </a:lnSpc>
            </a:pPr>
            <a:r>
              <a:rPr sz="1600" b="0">
                <a:solidFill>
                  <a:srgbClr val="4B4466"/>
                </a:solidFill>
                <a:latin typeface="Avenir Next"/>
              </a:rPr>
              <a:t>Missions bring parents into learning, without extra homework load</a:t>
            </a:r>
          </a:p>
        </p:txBody>
      </p:sp>
      <p:sp>
        <p:nvSpPr>
          <p:cNvPr id="12" name="!!pt3"/>
          <p:cNvSpPr txBox="1"/>
          <p:nvPr/>
        </p:nvSpPr>
        <p:spPr>
          <a:xfrm>
            <a:off x="822960" y="5312664"/>
            <a:ext cx="7680960" cy="822960"/>
          </a:xfrm>
          <a:prstGeom prst="rect">
            <a:avLst/>
          </a:prstGeom>
          <a:noFill/>
        </p:spPr>
        <p:txBody>
          <a:bodyPr wrap="square" lIns="45720" rIns="45720" tIns="27432" bIns="27432" anchor="t">
            <a:spAutoFit/>
          </a:bodyPr>
          <a:lstStyle/>
          <a:p>
            <a:pPr algn="l">
              <a:lnSpc>
                <a:spcPct val="110000"/>
              </a:lnSpc>
            </a:pPr>
            <a:r>
              <a:rPr sz="2200" b="0">
                <a:solidFill>
                  <a:srgbClr val="2A1458"/>
                </a:solidFill>
                <a:latin typeface="Avenir Next"/>
              </a:rPr>
              <a:t>🎯  </a:t>
            </a:r>
            <a:r>
              <a:rPr sz="2100" b="0">
                <a:solidFill>
                  <a:srgbClr val="2A1458"/>
                </a:solidFill>
                <a:latin typeface="Arial Rounded MT Bold"/>
              </a:rPr>
              <a:t>Experiential learning</a:t>
            </a:r>
          </a:p>
          <a:p>
            <a:pPr algn="l">
              <a:lnSpc>
                <a:spcPct val="110000"/>
              </a:lnSpc>
            </a:pPr>
            <a:r>
              <a:rPr sz="1600" b="0">
                <a:solidFill>
                  <a:srgbClr val="4B4466"/>
                </a:solidFill>
                <a:latin typeface="Avenir Next"/>
              </a:rPr>
              <a:t>Thinking, problem-solving and doing — as NEP 2020 encourages</a:t>
            </a:r>
          </a:p>
        </p:txBody>
      </p:sp>
      <p:sp>
        <p:nvSpPr>
          <p:cNvPr id="13" name="footer"/>
          <p:cNvSpPr txBox="1"/>
          <p:nvPr/>
        </p:nvSpPr>
        <p:spPr>
          <a:xfrm>
            <a:off x="804672" y="6327648"/>
            <a:ext cx="7315200" cy="320040"/>
          </a:xfrm>
          <a:prstGeom prst="rect">
            <a:avLst/>
          </a:prstGeom>
          <a:noFill/>
        </p:spPr>
        <p:txBody>
          <a:bodyPr wrap="square" lIns="45720" rIns="45720" tIns="27432" bIns="27432" anchor="t">
            <a:spAutoFit/>
          </a:bodyPr>
          <a:lstStyle/>
          <a:p>
            <a:pPr algn="l">
              <a:lnSpc>
                <a:spcPct val="110000"/>
              </a:lnSpc>
            </a:pPr>
            <a:r>
              <a:rPr sz="1100" b="0">
                <a:solidFill>
                  <a:srgbClr val="8A82A3"/>
                </a:solidFill>
                <a:latin typeface="Avenir Next"/>
              </a:rPr>
              <a:t>Zungga · School pilot proposal   ·   14</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600">
        <p159:morph option="byObject"/>
      </p:transition>
    </mc:Choice>
    <mc:Fallback>
      <p:transition spd="slow">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2A1458"/>
        </a:solidFill>
        <a:effectLst/>
      </p:bgPr>
    </p:bg>
    <p:spTree>
      <p:nvGrpSpPr>
        <p:cNvPr id="1" name=""/>
        <p:cNvGrpSpPr/>
        <p:nvPr/>
      </p:nvGrpSpPr>
      <p:grpSpPr/>
      <p:sp>
        <p:nvSpPr>
          <p:cNvPr id="2" name="!!orbA"/>
          <p:cNvSpPr/>
          <p:nvPr/>
        </p:nvSpPr>
        <p:spPr>
          <a:xfrm>
            <a:off x="9875520" y="-1463040"/>
            <a:ext cx="4023360" cy="4023360"/>
          </a:xfrm>
          <a:prstGeom prst="ellipse">
            <a:avLst/>
          </a:prstGeom>
          <a:solidFill>
            <a:srgbClr val="FCC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rbB"/>
          <p:cNvSpPr/>
          <p:nvPr/>
        </p:nvSpPr>
        <p:spPr>
          <a:xfrm>
            <a:off x="-822960" y="5212080"/>
            <a:ext cx="2011680" cy="2011680"/>
          </a:xfrm>
          <a:prstGeom prst="ellipse">
            <a:avLst/>
          </a:prstGeom>
          <a:solidFill>
            <a:srgbClr val="FF4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rbC"/>
          <p:cNvSpPr/>
          <p:nvPr/>
        </p:nvSpPr>
        <p:spPr>
          <a:xfrm>
            <a:off x="11247120" y="5760720"/>
            <a:ext cx="822960" cy="8229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eyebrow"/>
          <p:cNvSpPr txBox="1"/>
          <p:nvPr/>
        </p:nvSpPr>
        <p:spPr>
          <a:xfrm>
            <a:off x="804672" y="1051560"/>
            <a:ext cx="8229600" cy="365760"/>
          </a:xfrm>
          <a:prstGeom prst="rect">
            <a:avLst/>
          </a:prstGeom>
          <a:noFill/>
        </p:spPr>
        <p:txBody>
          <a:bodyPr wrap="square" lIns="45720" rIns="45720" tIns="27432" bIns="27432" anchor="t">
            <a:spAutoFit/>
          </a:bodyPr>
          <a:lstStyle/>
          <a:p>
            <a:pPr algn="l">
              <a:lnSpc>
                <a:spcPct val="110000"/>
              </a:lnSpc>
            </a:pPr>
            <a:r>
              <a:rPr sz="1400" b="0">
                <a:solidFill>
                  <a:srgbClr val="FCC72C"/>
                </a:solidFill>
                <a:latin typeface="Arial Rounded MT Bold"/>
              </a:rPr>
              <a:t>OUR PROPOSAL</a:t>
            </a:r>
          </a:p>
        </p:txBody>
      </p:sp>
      <p:sp>
        <p:nvSpPr>
          <p:cNvPr id="6" name="!!title"/>
          <p:cNvSpPr txBox="1"/>
          <p:nvPr/>
        </p:nvSpPr>
        <p:spPr>
          <a:xfrm>
            <a:off x="777240" y="1371600"/>
            <a:ext cx="9875520" cy="914400"/>
          </a:xfrm>
          <a:prstGeom prst="rect">
            <a:avLst/>
          </a:prstGeom>
          <a:noFill/>
        </p:spPr>
        <p:txBody>
          <a:bodyPr wrap="square" lIns="45720" rIns="45720" tIns="27432" bIns="27432" anchor="t">
            <a:spAutoFit/>
          </a:bodyPr>
          <a:lstStyle/>
          <a:p>
            <a:pPr algn="l">
              <a:lnSpc>
                <a:spcPct val="110000"/>
              </a:lnSpc>
            </a:pPr>
            <a:r>
              <a:rPr sz="4000" b="0">
                <a:solidFill>
                  <a:srgbClr val="FBF7EE"/>
                </a:solidFill>
                <a:latin typeface="Arial Rounded MT Bold"/>
              </a:rPr>
              <a:t>A small, simple 4-week pilot</a:t>
            </a:r>
          </a:p>
        </p:txBody>
      </p:sp>
      <p:sp>
        <p:nvSpPr>
          <p:cNvPr id="7" name="!!card0"/>
          <p:cNvSpPr/>
          <p:nvPr/>
        </p:nvSpPr>
        <p:spPr>
          <a:xfrm>
            <a:off x="822960" y="2514600"/>
            <a:ext cx="2606040" cy="2834640"/>
          </a:xfrm>
          <a:prstGeom prst="roundRect">
            <a:avLst>
              <a:gd name="adj" fmla="val 12000"/>
            </a:avLst>
          </a:prstGeom>
          <a:solidFill>
            <a:srgbClr val="3A2170"/>
          </a:solidFill>
          <a:ln>
            <a:noFill/>
          </a:ln>
          <a:effectLst/>
        </p:spPr>
        <p:style>
          <a:lnRef idx="1">
            <a:schemeClr val="accent1"/>
          </a:lnRef>
          <a:fillRef idx="3">
            <a:schemeClr val="accent1"/>
          </a:fillRef>
          <a:effectRef idx="2">
            <a:schemeClr val="accent1"/>
          </a:effectRef>
          <a:fontRef idx="minor">
            <a:schemeClr val="lt1"/>
          </a:fontRef>
        </p:style>
        <p:txBody>
          <a:bodyPr rtlCol="0" anchor="t" lIns="45720" rIns="45720" tIns="27432" bIns="27432" wrap="square"/>
          <a:lstStyle/>
          <a:p>
            <a:pPr algn="l">
              <a:lnSpc>
                <a:spcPct val="110000"/>
              </a:lnSpc>
            </a:pPr>
            <a:r>
              <a:rPr sz="5400" b="0">
                <a:solidFill>
                  <a:srgbClr val="FCC72C"/>
                </a:solidFill>
                <a:latin typeface="Arial Rounded MT Bold"/>
              </a:rPr>
              <a:t>1</a:t>
            </a:r>
          </a:p>
          <a:p>
            <a:pPr algn="l">
              <a:lnSpc>
                <a:spcPct val="110000"/>
              </a:lnSpc>
            </a:pPr>
            <a:r>
              <a:rPr sz="2000" b="0">
                <a:solidFill>
                  <a:srgbClr val="FBF7EE"/>
                </a:solidFill>
                <a:latin typeface="Arial Rounded MT Bold"/>
              </a:rPr>
              <a:t>class group</a:t>
            </a:r>
          </a:p>
          <a:p>
            <a:pPr algn="l">
              <a:lnSpc>
                <a:spcPct val="110000"/>
              </a:lnSpc>
            </a:pPr>
            <a:r>
              <a:rPr sz="1500" b="0">
                <a:solidFill>
                  <a:srgbClr val="D9CCF5"/>
                </a:solidFill>
                <a:latin typeface="Avenir Next"/>
              </a:rPr>
              <a:t>Class 3, 4 or 5 — your choice of sections</a:t>
            </a:r>
          </a:p>
        </p:txBody>
      </p:sp>
      <p:sp>
        <p:nvSpPr>
          <p:cNvPr id="8" name="!!card1"/>
          <p:cNvSpPr/>
          <p:nvPr/>
        </p:nvSpPr>
        <p:spPr>
          <a:xfrm>
            <a:off x="3611879" y="2514600"/>
            <a:ext cx="2606040" cy="2834640"/>
          </a:xfrm>
          <a:prstGeom prst="roundRect">
            <a:avLst>
              <a:gd name="adj" fmla="val 12000"/>
            </a:avLst>
          </a:prstGeom>
          <a:solidFill>
            <a:srgbClr val="3A2170"/>
          </a:solidFill>
          <a:ln>
            <a:noFill/>
          </a:ln>
          <a:effectLst/>
        </p:spPr>
        <p:style>
          <a:lnRef idx="1">
            <a:schemeClr val="accent1"/>
          </a:lnRef>
          <a:fillRef idx="3">
            <a:schemeClr val="accent1"/>
          </a:fillRef>
          <a:effectRef idx="2">
            <a:schemeClr val="accent1"/>
          </a:effectRef>
          <a:fontRef idx="minor">
            <a:schemeClr val="lt1"/>
          </a:fontRef>
        </p:style>
        <p:txBody>
          <a:bodyPr rtlCol="0" anchor="t" lIns="45720" rIns="45720" tIns="27432" bIns="27432" wrap="square"/>
          <a:lstStyle/>
          <a:p>
            <a:pPr algn="l">
              <a:lnSpc>
                <a:spcPct val="110000"/>
              </a:lnSpc>
            </a:pPr>
            <a:r>
              <a:rPr sz="5400" b="0">
                <a:solidFill>
                  <a:srgbClr val="FCC72C"/>
                </a:solidFill>
                <a:latin typeface="Arial Rounded MT Bold"/>
              </a:rPr>
              <a:t>4</a:t>
            </a:r>
          </a:p>
          <a:p>
            <a:pPr algn="l">
              <a:lnSpc>
                <a:spcPct val="110000"/>
              </a:lnSpc>
            </a:pPr>
            <a:r>
              <a:rPr sz="2000" b="0">
                <a:solidFill>
                  <a:srgbClr val="FBF7EE"/>
                </a:solidFill>
                <a:latin typeface="Arial Rounded MT Bold"/>
              </a:rPr>
              <a:t>weeks</a:t>
            </a:r>
          </a:p>
          <a:p>
            <a:pPr algn="l">
              <a:lnSpc>
                <a:spcPct val="110000"/>
              </a:lnSpc>
            </a:pPr>
            <a:r>
              <a:rPr sz="1500" b="0">
                <a:solidFill>
                  <a:srgbClr val="D9CCF5"/>
                </a:solidFill>
                <a:latin typeface="Avenir Next"/>
              </a:rPr>
              <a:t>Two short sessions a week</a:t>
            </a:r>
          </a:p>
        </p:txBody>
      </p:sp>
      <p:sp>
        <p:nvSpPr>
          <p:cNvPr id="9" name="!!card2"/>
          <p:cNvSpPr/>
          <p:nvPr/>
        </p:nvSpPr>
        <p:spPr>
          <a:xfrm>
            <a:off x="6400800" y="2514600"/>
            <a:ext cx="2606040" cy="2834640"/>
          </a:xfrm>
          <a:prstGeom prst="roundRect">
            <a:avLst>
              <a:gd name="adj" fmla="val 12000"/>
            </a:avLst>
          </a:prstGeom>
          <a:solidFill>
            <a:srgbClr val="3A2170"/>
          </a:solidFill>
          <a:ln>
            <a:noFill/>
          </a:ln>
          <a:effectLst/>
        </p:spPr>
        <p:style>
          <a:lnRef idx="1">
            <a:schemeClr val="accent1"/>
          </a:lnRef>
          <a:fillRef idx="3">
            <a:schemeClr val="accent1"/>
          </a:fillRef>
          <a:effectRef idx="2">
            <a:schemeClr val="accent1"/>
          </a:effectRef>
          <a:fontRef idx="minor">
            <a:schemeClr val="lt1"/>
          </a:fontRef>
        </p:style>
        <p:txBody>
          <a:bodyPr rtlCol="0" anchor="t" lIns="45720" rIns="45720" tIns="27432" bIns="27432" wrap="square"/>
          <a:lstStyle/>
          <a:p>
            <a:pPr algn="l">
              <a:lnSpc>
                <a:spcPct val="110000"/>
              </a:lnSpc>
            </a:pPr>
            <a:r>
              <a:rPr sz="5400" b="0">
                <a:solidFill>
                  <a:srgbClr val="FCC72C"/>
                </a:solidFill>
                <a:latin typeface="Arial Rounded MT Bold"/>
              </a:rPr>
              <a:t>6–8</a:t>
            </a:r>
          </a:p>
          <a:p>
            <a:pPr algn="l">
              <a:lnSpc>
                <a:spcPct val="110000"/>
              </a:lnSpc>
            </a:pPr>
            <a:r>
              <a:rPr sz="2000" b="0">
                <a:solidFill>
                  <a:srgbClr val="FBF7EE"/>
                </a:solidFill>
                <a:latin typeface="Arial Rounded MT Bold"/>
              </a:rPr>
              <a:t>episodes</a:t>
            </a:r>
          </a:p>
          <a:p>
            <a:pPr algn="l">
              <a:lnSpc>
                <a:spcPct val="110000"/>
              </a:lnSpc>
            </a:pPr>
            <a:r>
              <a:rPr sz="1500" b="0">
                <a:solidFill>
                  <a:srgbClr val="D9CCF5"/>
                </a:solidFill>
                <a:latin typeface="Avenir Next"/>
              </a:rPr>
              <a:t>Maths &amp; money first, science next</a:t>
            </a:r>
          </a:p>
        </p:txBody>
      </p:sp>
      <p:sp>
        <p:nvSpPr>
          <p:cNvPr id="10" name="!!card3"/>
          <p:cNvSpPr/>
          <p:nvPr/>
        </p:nvSpPr>
        <p:spPr>
          <a:xfrm>
            <a:off x="9189719" y="2514600"/>
            <a:ext cx="2606040" cy="2834640"/>
          </a:xfrm>
          <a:prstGeom prst="roundRect">
            <a:avLst>
              <a:gd name="adj" fmla="val 12000"/>
            </a:avLst>
          </a:prstGeom>
          <a:solidFill>
            <a:srgbClr val="3A2170"/>
          </a:solidFill>
          <a:ln>
            <a:noFill/>
          </a:ln>
          <a:effectLst/>
        </p:spPr>
        <p:style>
          <a:lnRef idx="1">
            <a:schemeClr val="accent1"/>
          </a:lnRef>
          <a:fillRef idx="3">
            <a:schemeClr val="accent1"/>
          </a:fillRef>
          <a:effectRef idx="2">
            <a:schemeClr val="accent1"/>
          </a:effectRef>
          <a:fontRef idx="minor">
            <a:schemeClr val="lt1"/>
          </a:fontRef>
        </p:style>
        <p:txBody>
          <a:bodyPr rtlCol="0" anchor="t" lIns="45720" rIns="45720" tIns="27432" bIns="27432" wrap="square"/>
          <a:lstStyle/>
          <a:p>
            <a:pPr algn="l">
              <a:lnSpc>
                <a:spcPct val="110000"/>
              </a:lnSpc>
            </a:pPr>
            <a:r>
              <a:rPr sz="5400" b="0">
                <a:solidFill>
                  <a:srgbClr val="FCC72C"/>
                </a:solidFill>
                <a:latin typeface="Arial Rounded MT Bold"/>
              </a:rPr>
              <a:t>[₹__]</a:t>
            </a:r>
          </a:p>
          <a:p>
            <a:pPr algn="l">
              <a:lnSpc>
                <a:spcPct val="110000"/>
              </a:lnSpc>
            </a:pPr>
            <a:r>
              <a:rPr sz="2000" b="0">
                <a:solidFill>
                  <a:srgbClr val="FBF7EE"/>
                </a:solidFill>
                <a:latin typeface="Arial Rounded MT Bold"/>
              </a:rPr>
              <a:t>cost to school</a:t>
            </a:r>
          </a:p>
          <a:p>
            <a:pPr algn="l">
              <a:lnSpc>
                <a:spcPct val="110000"/>
              </a:lnSpc>
            </a:pPr>
            <a:r>
              <a:rPr sz="1500" b="0">
                <a:solidFill>
                  <a:srgbClr val="D9CCF5"/>
                </a:solidFill>
                <a:latin typeface="Avenir Next"/>
              </a:rPr>
              <a:t>[Free pilot / to be agreed]</a:t>
            </a:r>
          </a:p>
        </p:txBody>
      </p:sp>
      <p:sp>
        <p:nvSpPr>
          <p:cNvPr id="11" name="!!sub"/>
          <p:cNvSpPr txBox="1"/>
          <p:nvPr/>
        </p:nvSpPr>
        <p:spPr>
          <a:xfrm>
            <a:off x="841248" y="5577840"/>
            <a:ext cx="10058400" cy="457200"/>
          </a:xfrm>
          <a:prstGeom prst="rect">
            <a:avLst/>
          </a:prstGeom>
          <a:noFill/>
        </p:spPr>
        <p:txBody>
          <a:bodyPr wrap="square" lIns="45720" rIns="45720" tIns="27432" bIns="27432" anchor="t">
            <a:spAutoFit/>
          </a:bodyPr>
          <a:lstStyle/>
          <a:p>
            <a:pPr algn="l">
              <a:lnSpc>
                <a:spcPct val="110000"/>
              </a:lnSpc>
            </a:pPr>
            <a:r>
              <a:rPr sz="1500" b="0">
                <a:solidFill>
                  <a:srgbClr val="D9CCF5"/>
                </a:solidFill>
                <a:latin typeface="Avenir Next"/>
              </a:rPr>
              <a:t>Episode 1 is ready today; the remaining episodes are in production for the pilot dates.</a:t>
            </a:r>
          </a:p>
        </p:txBody>
      </p:sp>
      <p:sp>
        <p:nvSpPr>
          <p:cNvPr id="12" name="footer"/>
          <p:cNvSpPr txBox="1"/>
          <p:nvPr/>
        </p:nvSpPr>
        <p:spPr>
          <a:xfrm>
            <a:off x="804672" y="6327648"/>
            <a:ext cx="7315200" cy="320040"/>
          </a:xfrm>
          <a:prstGeom prst="rect">
            <a:avLst/>
          </a:prstGeom>
          <a:noFill/>
        </p:spPr>
        <p:txBody>
          <a:bodyPr wrap="square" lIns="45720" rIns="45720" tIns="27432" bIns="27432" anchor="t">
            <a:spAutoFit/>
          </a:bodyPr>
          <a:lstStyle/>
          <a:p>
            <a:pPr algn="l">
              <a:lnSpc>
                <a:spcPct val="110000"/>
              </a:lnSpc>
            </a:pPr>
            <a:r>
              <a:rPr sz="1100" b="0">
                <a:solidFill>
                  <a:srgbClr val="D9CCF5"/>
                </a:solidFill>
                <a:latin typeface="Avenir Next"/>
              </a:rPr>
              <a:t>Zungga · School pilot proposal   ·   15</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600">
        <p159:morph option="byObject"/>
      </p:transition>
    </mc:Choice>
    <mc:Fallback>
      <p:transition spd="slow">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BF7EE"/>
        </a:solidFill>
        <a:effectLst/>
      </p:bgPr>
    </p:bg>
    <p:spTree>
      <p:nvGrpSpPr>
        <p:cNvPr id="1" name=""/>
        <p:cNvGrpSpPr/>
        <p:nvPr/>
      </p:nvGrpSpPr>
      <p:grpSpPr/>
      <p:sp>
        <p:nvSpPr>
          <p:cNvPr id="2" name="!!orbA"/>
          <p:cNvSpPr/>
          <p:nvPr/>
        </p:nvSpPr>
        <p:spPr>
          <a:xfrm>
            <a:off x="-1737360" y="5394960"/>
            <a:ext cx="2743200" cy="2743200"/>
          </a:xfrm>
          <a:prstGeom prst="ellipse">
            <a:avLst/>
          </a:prstGeom>
          <a:solidFill>
            <a:srgbClr val="FCC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rbB"/>
          <p:cNvSpPr/>
          <p:nvPr/>
        </p:nvSpPr>
        <p:spPr>
          <a:xfrm>
            <a:off x="11155680" y="3931920"/>
            <a:ext cx="1463040" cy="1463040"/>
          </a:xfrm>
          <a:prstGeom prst="ellipse">
            <a:avLst/>
          </a:prstGeom>
          <a:solidFill>
            <a:srgbClr val="FF4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rbC"/>
          <p:cNvSpPr/>
          <p:nvPr/>
        </p:nvSpPr>
        <p:spPr>
          <a:xfrm>
            <a:off x="10241280" y="5852160"/>
            <a:ext cx="640080" cy="64008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logo" descr="zungga-logo.png"/>
          <p:cNvPicPr>
            <a:picLocks noChangeAspect="1"/>
          </p:cNvPicPr>
          <p:nvPr/>
        </p:nvPicPr>
        <p:blipFill>
          <a:blip r:embed="rId2"/>
          <a:stretch>
            <a:fillRect/>
          </a:stretch>
        </p:blipFill>
        <p:spPr>
          <a:xfrm>
            <a:off x="10378440" y="329184"/>
            <a:ext cx="1325880" cy="1088086"/>
          </a:xfrm>
          <a:prstGeom prst="rect">
            <a:avLst/>
          </a:prstGeom>
        </p:spPr>
      </p:pic>
      <p:sp>
        <p:nvSpPr>
          <p:cNvPr id="6" name="!!eyebrow"/>
          <p:cNvSpPr txBox="1"/>
          <p:nvPr/>
        </p:nvSpPr>
        <p:spPr>
          <a:xfrm>
            <a:off x="804672" y="347472"/>
            <a:ext cx="8229600" cy="365760"/>
          </a:xfrm>
          <a:prstGeom prst="rect">
            <a:avLst/>
          </a:prstGeom>
          <a:noFill/>
        </p:spPr>
        <p:txBody>
          <a:bodyPr wrap="square" lIns="45720" rIns="45720" tIns="27432" bIns="27432" anchor="t">
            <a:spAutoFit/>
          </a:bodyPr>
          <a:lstStyle/>
          <a:p>
            <a:pPr algn="l">
              <a:lnSpc>
                <a:spcPct val="110000"/>
              </a:lnSpc>
            </a:pPr>
            <a:r>
              <a:rPr sz="1400" b="0">
                <a:solidFill>
                  <a:srgbClr val="7C3AED"/>
                </a:solidFill>
                <a:latin typeface="Arial Rounded MT Bold"/>
              </a:rPr>
              <a:t>WITHOUT TRACKING ANY CHILD</a:t>
            </a:r>
          </a:p>
        </p:txBody>
      </p:sp>
      <p:sp>
        <p:nvSpPr>
          <p:cNvPr id="7" name="!!title"/>
          <p:cNvSpPr txBox="1"/>
          <p:nvPr/>
        </p:nvSpPr>
        <p:spPr>
          <a:xfrm>
            <a:off x="777240" y="566928"/>
            <a:ext cx="9875520" cy="914400"/>
          </a:xfrm>
          <a:prstGeom prst="rect">
            <a:avLst/>
          </a:prstGeom>
          <a:noFill/>
        </p:spPr>
        <p:txBody>
          <a:bodyPr wrap="square" lIns="45720" rIns="45720" tIns="27432" bIns="27432" anchor="t">
            <a:spAutoFit/>
          </a:bodyPr>
          <a:lstStyle/>
          <a:p>
            <a:pPr algn="l">
              <a:lnSpc>
                <a:spcPct val="110000"/>
              </a:lnSpc>
            </a:pPr>
            <a:r>
              <a:rPr sz="4000" b="0">
                <a:solidFill>
                  <a:srgbClr val="2A1458"/>
                </a:solidFill>
                <a:latin typeface="Arial Rounded MT Bold"/>
              </a:rPr>
              <a:t>How we will know it worked</a:t>
            </a:r>
          </a:p>
        </p:txBody>
      </p:sp>
      <p:sp>
        <p:nvSpPr>
          <p:cNvPr id="8" name="!!card0"/>
          <p:cNvSpPr/>
          <p:nvPr/>
        </p:nvSpPr>
        <p:spPr>
          <a:xfrm>
            <a:off x="777240" y="2011680"/>
            <a:ext cx="3429000" cy="1600200"/>
          </a:xfrm>
          <a:prstGeom prst="roundRect">
            <a:avLst>
              <a:gd name="adj" fmla="val 12000"/>
            </a:avLst>
          </a:prstGeom>
          <a:solidFill>
            <a:srgbClr val="FFFDF8"/>
          </a:solidFill>
          <a:ln>
            <a:noFill/>
          </a:ln>
          <a:effectLst/>
        </p:spPr>
        <p:style>
          <a:lnRef idx="1">
            <a:schemeClr val="accent1"/>
          </a:lnRef>
          <a:fillRef idx="3">
            <a:schemeClr val="accent1"/>
          </a:fillRef>
          <a:effectRef idx="2">
            <a:schemeClr val="accent1"/>
          </a:effectRef>
          <a:fontRef idx="minor">
            <a:schemeClr val="lt1"/>
          </a:fontRef>
        </p:style>
        <p:txBody>
          <a:bodyPr rtlCol="0" anchor="t" lIns="45720" rIns="45720" tIns="27432" bIns="27432" wrap="square"/>
          <a:lstStyle/>
          <a:p>
            <a:pPr algn="l">
              <a:lnSpc>
                <a:spcPct val="110000"/>
              </a:lnSpc>
            </a:pPr>
            <a:r>
              <a:rPr sz="2400" b="0">
                <a:solidFill>
                  <a:srgbClr val="2A1458"/>
                </a:solidFill>
                <a:latin typeface="Avenir Next"/>
              </a:rPr>
              <a:t>🧑‍🏫  </a:t>
            </a:r>
            <a:r>
              <a:rPr sz="2100" b="0">
                <a:solidFill>
                  <a:srgbClr val="2A1458"/>
                </a:solidFill>
                <a:latin typeface="Arial Rounded MT Bold"/>
              </a:rPr>
              <a:t>Teacher feedback</a:t>
            </a:r>
          </a:p>
          <a:p>
            <a:pPr algn="l">
              <a:lnSpc>
                <a:spcPct val="110000"/>
              </a:lnSpc>
            </a:pPr>
            <a:r>
              <a:rPr sz="1600" b="0">
                <a:solidFill>
                  <a:srgbClr val="4B4466"/>
                </a:solidFill>
                <a:latin typeface="Avenir Next"/>
              </a:rPr>
              <a:t>A 2-minute form after each session</a:t>
            </a:r>
          </a:p>
        </p:txBody>
      </p:sp>
      <p:sp>
        <p:nvSpPr>
          <p:cNvPr id="9" name="!!card1"/>
          <p:cNvSpPr/>
          <p:nvPr/>
        </p:nvSpPr>
        <p:spPr>
          <a:xfrm>
            <a:off x="4389120" y="2011680"/>
            <a:ext cx="3429000" cy="1600200"/>
          </a:xfrm>
          <a:prstGeom prst="roundRect">
            <a:avLst>
              <a:gd name="adj" fmla="val 12000"/>
            </a:avLst>
          </a:prstGeom>
          <a:solidFill>
            <a:srgbClr val="FFFDF8"/>
          </a:solidFill>
          <a:ln>
            <a:noFill/>
          </a:ln>
          <a:effectLst/>
        </p:spPr>
        <p:style>
          <a:lnRef idx="1">
            <a:schemeClr val="accent1"/>
          </a:lnRef>
          <a:fillRef idx="3">
            <a:schemeClr val="accent1"/>
          </a:fillRef>
          <a:effectRef idx="2">
            <a:schemeClr val="accent1"/>
          </a:effectRef>
          <a:fontRef idx="minor">
            <a:schemeClr val="lt1"/>
          </a:fontRef>
        </p:style>
        <p:txBody>
          <a:bodyPr rtlCol="0" anchor="t" lIns="45720" rIns="45720" tIns="27432" bIns="27432" wrap="square"/>
          <a:lstStyle/>
          <a:p>
            <a:pPr algn="l">
              <a:lnSpc>
                <a:spcPct val="110000"/>
              </a:lnSpc>
            </a:pPr>
            <a:r>
              <a:rPr sz="2400" b="0">
                <a:solidFill>
                  <a:srgbClr val="2A1458"/>
                </a:solidFill>
                <a:latin typeface="Avenir Next"/>
              </a:rPr>
              <a:t>🙌  </a:t>
            </a:r>
            <a:r>
              <a:rPr sz="2100" b="0">
                <a:solidFill>
                  <a:srgbClr val="2A1458"/>
                </a:solidFill>
                <a:latin typeface="Arial Rounded MT Bold"/>
              </a:rPr>
              <a:t>Class participation</a:t>
            </a:r>
          </a:p>
          <a:p>
            <a:pPr algn="l">
              <a:lnSpc>
                <a:spcPct val="110000"/>
              </a:lnSpc>
            </a:pPr>
            <a:r>
              <a:rPr sz="1600" b="0">
                <a:solidFill>
                  <a:srgbClr val="4B4466"/>
                </a:solidFill>
                <a:latin typeface="Avenir Next"/>
              </a:rPr>
              <a:t>How many hands and answers at each pause</a:t>
            </a:r>
          </a:p>
        </p:txBody>
      </p:sp>
      <p:sp>
        <p:nvSpPr>
          <p:cNvPr id="10" name="!!card2"/>
          <p:cNvSpPr/>
          <p:nvPr/>
        </p:nvSpPr>
        <p:spPr>
          <a:xfrm>
            <a:off x="8001000" y="2011680"/>
            <a:ext cx="3429000" cy="1600200"/>
          </a:xfrm>
          <a:prstGeom prst="roundRect">
            <a:avLst>
              <a:gd name="adj" fmla="val 12000"/>
            </a:avLst>
          </a:prstGeom>
          <a:solidFill>
            <a:srgbClr val="FFFDF8"/>
          </a:solidFill>
          <a:ln>
            <a:noFill/>
          </a:ln>
          <a:effectLst/>
        </p:spPr>
        <p:style>
          <a:lnRef idx="1">
            <a:schemeClr val="accent1"/>
          </a:lnRef>
          <a:fillRef idx="3">
            <a:schemeClr val="accent1"/>
          </a:fillRef>
          <a:effectRef idx="2">
            <a:schemeClr val="accent1"/>
          </a:effectRef>
          <a:fontRef idx="minor">
            <a:schemeClr val="lt1"/>
          </a:fontRef>
        </p:style>
        <p:txBody>
          <a:bodyPr rtlCol="0" anchor="t" lIns="45720" rIns="45720" tIns="27432" bIns="27432" wrap="square"/>
          <a:lstStyle/>
          <a:p>
            <a:pPr algn="l">
              <a:lnSpc>
                <a:spcPct val="110000"/>
              </a:lnSpc>
            </a:pPr>
            <a:r>
              <a:rPr sz="2400" b="0">
                <a:solidFill>
                  <a:srgbClr val="2A1458"/>
                </a:solidFill>
                <a:latin typeface="Avenir Next"/>
              </a:rPr>
              <a:t>✅  </a:t>
            </a:r>
            <a:r>
              <a:rPr sz="2100" b="0">
                <a:solidFill>
                  <a:srgbClr val="2A1458"/>
                </a:solidFill>
                <a:latin typeface="Arial Rounded MT Bold"/>
              </a:rPr>
              <a:t>Missions approved</a:t>
            </a:r>
          </a:p>
          <a:p>
            <a:pPr algn="l">
              <a:lnSpc>
                <a:spcPct val="110000"/>
              </a:lnSpc>
            </a:pPr>
            <a:r>
              <a:rPr sz="1600" b="0">
                <a:solidFill>
                  <a:srgbClr val="4B4466"/>
                </a:solidFill>
                <a:latin typeface="Avenir Next"/>
              </a:rPr>
              <a:t>A simple count from parents — nothing more</a:t>
            </a:r>
          </a:p>
        </p:txBody>
      </p:sp>
      <p:sp>
        <p:nvSpPr>
          <p:cNvPr id="11" name="!!card3"/>
          <p:cNvSpPr/>
          <p:nvPr/>
        </p:nvSpPr>
        <p:spPr>
          <a:xfrm>
            <a:off x="777240" y="3840480"/>
            <a:ext cx="3429000" cy="1600200"/>
          </a:xfrm>
          <a:prstGeom prst="roundRect">
            <a:avLst>
              <a:gd name="adj" fmla="val 12000"/>
            </a:avLst>
          </a:prstGeom>
          <a:solidFill>
            <a:srgbClr val="FFFDF8"/>
          </a:solidFill>
          <a:ln>
            <a:noFill/>
          </a:ln>
          <a:effectLst/>
        </p:spPr>
        <p:style>
          <a:lnRef idx="1">
            <a:schemeClr val="accent1"/>
          </a:lnRef>
          <a:fillRef idx="3">
            <a:schemeClr val="accent1"/>
          </a:fillRef>
          <a:effectRef idx="2">
            <a:schemeClr val="accent1"/>
          </a:effectRef>
          <a:fontRef idx="minor">
            <a:schemeClr val="lt1"/>
          </a:fontRef>
        </p:style>
        <p:txBody>
          <a:bodyPr rtlCol="0" anchor="t" lIns="45720" rIns="45720" tIns="27432" bIns="27432" wrap="square"/>
          <a:lstStyle/>
          <a:p>
            <a:pPr algn="l">
              <a:lnSpc>
                <a:spcPct val="110000"/>
              </a:lnSpc>
            </a:pPr>
            <a:r>
              <a:rPr sz="2400" b="0">
                <a:solidFill>
                  <a:srgbClr val="2A1458"/>
                </a:solidFill>
                <a:latin typeface="Avenir Next"/>
              </a:rPr>
              <a:t>🖍️  </a:t>
            </a:r>
            <a:r>
              <a:rPr sz="2100" b="0">
                <a:solidFill>
                  <a:srgbClr val="2A1458"/>
                </a:solidFill>
                <a:latin typeface="Arial Rounded MT Bold"/>
              </a:rPr>
              <a:t>Children’s voice</a:t>
            </a:r>
          </a:p>
          <a:p>
            <a:pPr algn="l">
              <a:lnSpc>
                <a:spcPct val="110000"/>
              </a:lnSpc>
            </a:pPr>
            <a:r>
              <a:rPr sz="1600" b="0">
                <a:solidFill>
                  <a:srgbClr val="4B4466"/>
                </a:solidFill>
                <a:latin typeface="Avenir Next"/>
              </a:rPr>
              <a:t>“What I learned” drawing or sentence at the end</a:t>
            </a:r>
          </a:p>
        </p:txBody>
      </p:sp>
      <p:sp>
        <p:nvSpPr>
          <p:cNvPr id="12" name="!!card4"/>
          <p:cNvSpPr/>
          <p:nvPr/>
        </p:nvSpPr>
        <p:spPr>
          <a:xfrm>
            <a:off x="4389120" y="3840480"/>
            <a:ext cx="3429000" cy="1600200"/>
          </a:xfrm>
          <a:prstGeom prst="roundRect">
            <a:avLst>
              <a:gd name="adj" fmla="val 12000"/>
            </a:avLst>
          </a:prstGeom>
          <a:solidFill>
            <a:srgbClr val="FFFDF8"/>
          </a:solidFill>
          <a:ln>
            <a:noFill/>
          </a:ln>
          <a:effectLst/>
        </p:spPr>
        <p:style>
          <a:lnRef idx="1">
            <a:schemeClr val="accent1"/>
          </a:lnRef>
          <a:fillRef idx="3">
            <a:schemeClr val="accent1"/>
          </a:fillRef>
          <a:effectRef idx="2">
            <a:schemeClr val="accent1"/>
          </a:effectRef>
          <a:fontRef idx="minor">
            <a:schemeClr val="lt1"/>
          </a:fontRef>
        </p:style>
        <p:txBody>
          <a:bodyPr rtlCol="0" anchor="t" lIns="45720" rIns="45720" tIns="27432" bIns="27432" wrap="square"/>
          <a:lstStyle/>
          <a:p>
            <a:pPr algn="l">
              <a:lnSpc>
                <a:spcPct val="110000"/>
              </a:lnSpc>
            </a:pPr>
            <a:r>
              <a:rPr sz="2400" b="0">
                <a:solidFill>
                  <a:srgbClr val="2A1458"/>
                </a:solidFill>
                <a:latin typeface="Avenir Next"/>
              </a:rPr>
              <a:t>👪  </a:t>
            </a:r>
            <a:r>
              <a:rPr sz="2100" b="0">
                <a:solidFill>
                  <a:srgbClr val="2A1458"/>
                </a:solidFill>
                <a:latin typeface="Arial Rounded MT Bold"/>
              </a:rPr>
              <a:t>Parent check-in</a:t>
            </a:r>
          </a:p>
          <a:p>
            <a:pPr algn="l">
              <a:lnSpc>
                <a:spcPct val="110000"/>
              </a:lnSpc>
            </a:pPr>
            <a:r>
              <a:rPr sz="1600" b="0">
                <a:solidFill>
                  <a:srgbClr val="4B4466"/>
                </a:solidFill>
                <a:latin typeface="Avenir Next"/>
              </a:rPr>
              <a:t>A short survey in week 4</a:t>
            </a:r>
          </a:p>
        </p:txBody>
      </p:sp>
      <p:sp>
        <p:nvSpPr>
          <p:cNvPr id="13" name="!!card5"/>
          <p:cNvSpPr/>
          <p:nvPr/>
        </p:nvSpPr>
        <p:spPr>
          <a:xfrm>
            <a:off x="8001000" y="3840480"/>
            <a:ext cx="3429000" cy="1600200"/>
          </a:xfrm>
          <a:prstGeom prst="roundRect">
            <a:avLst>
              <a:gd name="adj" fmla="val 12000"/>
            </a:avLst>
          </a:prstGeom>
          <a:solidFill>
            <a:srgbClr val="FCC72C"/>
          </a:solidFill>
          <a:ln>
            <a:noFill/>
          </a:ln>
          <a:effectLst/>
        </p:spPr>
        <p:style>
          <a:lnRef idx="1">
            <a:schemeClr val="accent1"/>
          </a:lnRef>
          <a:fillRef idx="3">
            <a:schemeClr val="accent1"/>
          </a:fillRef>
          <a:effectRef idx="2">
            <a:schemeClr val="accent1"/>
          </a:effectRef>
          <a:fontRef idx="minor">
            <a:schemeClr val="lt1"/>
          </a:fontRef>
        </p:style>
        <p:txBody>
          <a:bodyPr rtlCol="0" anchor="t" lIns="45720" rIns="45720" tIns="27432" bIns="27432" wrap="square"/>
          <a:lstStyle/>
          <a:p>
            <a:pPr algn="l">
              <a:lnSpc>
                <a:spcPct val="110000"/>
              </a:lnSpc>
            </a:pPr>
            <a:r>
              <a:rPr sz="2400" b="0">
                <a:solidFill>
                  <a:srgbClr val="2A1458"/>
                </a:solidFill>
                <a:latin typeface="Avenir Next"/>
              </a:rPr>
              <a:t>📋 </a:t>
            </a:r>
            <a:r>
              <a:rPr sz="2100" b="0">
                <a:solidFill>
                  <a:srgbClr val="2A1458"/>
                </a:solidFill>
                <a:latin typeface="Arial Rounded MT Bold"/>
              </a:rPr>
              <a:t>Week-4 review</a:t>
            </a:r>
          </a:p>
          <a:p>
            <a:pPr algn="l">
              <a:lnSpc>
                <a:spcPct val="110000"/>
              </a:lnSpc>
            </a:pPr>
            <a:r>
              <a:rPr sz="1600" b="0">
                <a:solidFill>
                  <a:srgbClr val="4B4466"/>
                </a:solidFill>
                <a:latin typeface="Avenir Next"/>
              </a:rPr>
              <a:t>We share every finding with you</a:t>
            </a:r>
          </a:p>
        </p:txBody>
      </p:sp>
      <p:sp>
        <p:nvSpPr>
          <p:cNvPr id="14" name="footer"/>
          <p:cNvSpPr txBox="1"/>
          <p:nvPr/>
        </p:nvSpPr>
        <p:spPr>
          <a:xfrm>
            <a:off x="804672" y="6327648"/>
            <a:ext cx="7315200" cy="320040"/>
          </a:xfrm>
          <a:prstGeom prst="rect">
            <a:avLst/>
          </a:prstGeom>
          <a:noFill/>
        </p:spPr>
        <p:txBody>
          <a:bodyPr wrap="square" lIns="45720" rIns="45720" tIns="27432" bIns="27432" anchor="t">
            <a:spAutoFit/>
          </a:bodyPr>
          <a:lstStyle/>
          <a:p>
            <a:pPr algn="l">
              <a:lnSpc>
                <a:spcPct val="110000"/>
              </a:lnSpc>
            </a:pPr>
            <a:r>
              <a:rPr sz="1100" b="0">
                <a:solidFill>
                  <a:srgbClr val="8A82A3"/>
                </a:solidFill>
                <a:latin typeface="Avenir Next"/>
              </a:rPr>
              <a:t>Zungga · School pilot proposal   ·   16</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600">
        <p159:morph option="byObject"/>
      </p:transition>
    </mc:Choice>
    <mc:Fallback>
      <p:transition spd="slow">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BF7EE"/>
        </a:solidFill>
        <a:effectLst/>
      </p:bgPr>
    </p:bg>
    <p:spTree>
      <p:nvGrpSpPr>
        <p:cNvPr id="1" name=""/>
        <p:cNvGrpSpPr/>
        <p:nvPr/>
      </p:nvGrpSpPr>
      <p:grpSpPr/>
      <p:sp>
        <p:nvSpPr>
          <p:cNvPr id="2" name="!!orbA"/>
          <p:cNvSpPr/>
          <p:nvPr/>
        </p:nvSpPr>
        <p:spPr>
          <a:xfrm>
            <a:off x="10424160" y="-914400"/>
            <a:ext cx="2377440" cy="2377440"/>
          </a:xfrm>
          <a:prstGeom prst="ellipse">
            <a:avLst/>
          </a:prstGeom>
          <a:solidFill>
            <a:srgbClr val="FCC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rbB"/>
          <p:cNvSpPr/>
          <p:nvPr/>
        </p:nvSpPr>
        <p:spPr>
          <a:xfrm>
            <a:off x="-548640" y="5669280"/>
            <a:ext cx="1188720" cy="1188720"/>
          </a:xfrm>
          <a:prstGeom prst="ellipse">
            <a:avLst/>
          </a:prstGeom>
          <a:solidFill>
            <a:srgbClr val="FF4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rbC"/>
          <p:cNvSpPr/>
          <p:nvPr/>
        </p:nvSpPr>
        <p:spPr>
          <a:xfrm>
            <a:off x="11338560" y="5852160"/>
            <a:ext cx="640080" cy="64008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logo" descr="zungga-logo.png"/>
          <p:cNvPicPr>
            <a:picLocks noChangeAspect="1"/>
          </p:cNvPicPr>
          <p:nvPr/>
        </p:nvPicPr>
        <p:blipFill>
          <a:blip r:embed="rId2"/>
          <a:stretch>
            <a:fillRect/>
          </a:stretch>
        </p:blipFill>
        <p:spPr>
          <a:xfrm>
            <a:off x="10378440" y="329184"/>
            <a:ext cx="1325880" cy="1088086"/>
          </a:xfrm>
          <a:prstGeom prst="rect">
            <a:avLst/>
          </a:prstGeom>
        </p:spPr>
      </p:pic>
      <p:sp>
        <p:nvSpPr>
          <p:cNvPr id="6" name="!!eyebrow"/>
          <p:cNvSpPr txBox="1"/>
          <p:nvPr/>
        </p:nvSpPr>
        <p:spPr>
          <a:xfrm>
            <a:off x="804672" y="347472"/>
            <a:ext cx="8229600" cy="365760"/>
          </a:xfrm>
          <a:prstGeom prst="rect">
            <a:avLst/>
          </a:prstGeom>
          <a:noFill/>
        </p:spPr>
        <p:txBody>
          <a:bodyPr wrap="square" lIns="45720" rIns="45720" tIns="27432" bIns="27432" anchor="t">
            <a:spAutoFit/>
          </a:bodyPr>
          <a:lstStyle/>
          <a:p>
            <a:pPr algn="l">
              <a:lnSpc>
                <a:spcPct val="110000"/>
              </a:lnSpc>
            </a:pPr>
            <a:r>
              <a:rPr sz="1400" b="0">
                <a:solidFill>
                  <a:srgbClr val="7C3AED"/>
                </a:solidFill>
                <a:latin typeface="Arial Rounded MT Bold"/>
              </a:rPr>
              <a:t>THE PLAN</a:t>
            </a:r>
          </a:p>
        </p:txBody>
      </p:sp>
      <p:sp>
        <p:nvSpPr>
          <p:cNvPr id="7" name="!!title"/>
          <p:cNvSpPr txBox="1"/>
          <p:nvPr/>
        </p:nvSpPr>
        <p:spPr>
          <a:xfrm>
            <a:off x="777240" y="566928"/>
            <a:ext cx="9875520" cy="914400"/>
          </a:xfrm>
          <a:prstGeom prst="rect">
            <a:avLst/>
          </a:prstGeom>
          <a:noFill/>
        </p:spPr>
        <p:txBody>
          <a:bodyPr wrap="square" lIns="45720" rIns="45720" tIns="27432" bIns="27432" anchor="t">
            <a:spAutoFit/>
          </a:bodyPr>
          <a:lstStyle/>
          <a:p>
            <a:pPr algn="l">
              <a:lnSpc>
                <a:spcPct val="110000"/>
              </a:lnSpc>
            </a:pPr>
            <a:r>
              <a:rPr sz="4000" b="0">
                <a:solidFill>
                  <a:srgbClr val="2A1458"/>
                </a:solidFill>
                <a:latin typeface="Arial Rounded MT Bold"/>
              </a:rPr>
              <a:t>Four weeks, step by step</a:t>
            </a:r>
          </a:p>
        </p:txBody>
      </p:sp>
      <p:sp>
        <p:nvSpPr>
          <p:cNvPr id="8" name="!!track"/>
          <p:cNvSpPr/>
          <p:nvPr/>
        </p:nvSpPr>
        <p:spPr>
          <a:xfrm>
            <a:off x="822960" y="2880360"/>
            <a:ext cx="10515600" cy="128016"/>
          </a:xfrm>
          <a:prstGeom prst="roundRect">
            <a:avLst>
              <a:gd name="adj" fmla="val 50000"/>
            </a:avLst>
          </a:prstGeom>
          <a:solidFill>
            <a:srgbClr val="E3D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t0"/>
          <p:cNvSpPr/>
          <p:nvPr/>
        </p:nvSpPr>
        <p:spPr>
          <a:xfrm>
            <a:off x="868680" y="2715768"/>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wk0"/>
          <p:cNvSpPr txBox="1"/>
          <p:nvPr/>
        </p:nvSpPr>
        <p:spPr>
          <a:xfrm>
            <a:off x="822960" y="2011680"/>
            <a:ext cx="2560320" cy="457200"/>
          </a:xfrm>
          <a:prstGeom prst="rect">
            <a:avLst/>
          </a:prstGeom>
          <a:noFill/>
        </p:spPr>
        <p:txBody>
          <a:bodyPr wrap="square" lIns="45720" rIns="45720" tIns="27432" bIns="27432" anchor="t">
            <a:spAutoFit/>
          </a:bodyPr>
          <a:lstStyle/>
          <a:p>
            <a:pPr algn="l">
              <a:lnSpc>
                <a:spcPct val="110000"/>
              </a:lnSpc>
            </a:pPr>
            <a:r>
              <a:rPr sz="1400" b="0">
                <a:solidFill>
                  <a:srgbClr val="7C3AED"/>
                </a:solidFill>
                <a:latin typeface="Arial Rounded MT Bold"/>
              </a:rPr>
              <a:t>WEEK 0</a:t>
            </a:r>
          </a:p>
        </p:txBody>
      </p:sp>
      <p:sp>
        <p:nvSpPr>
          <p:cNvPr id="11" name="!!wh0"/>
          <p:cNvSpPr txBox="1"/>
          <p:nvPr/>
        </p:nvSpPr>
        <p:spPr>
          <a:xfrm>
            <a:off x="822960" y="3383280"/>
            <a:ext cx="2514600" cy="457200"/>
          </a:xfrm>
          <a:prstGeom prst="rect">
            <a:avLst/>
          </a:prstGeom>
          <a:noFill/>
        </p:spPr>
        <p:txBody>
          <a:bodyPr wrap="square" lIns="45720" rIns="45720" tIns="27432" bIns="27432" anchor="t">
            <a:spAutoFit/>
          </a:bodyPr>
          <a:lstStyle/>
          <a:p>
            <a:pPr algn="l">
              <a:lnSpc>
                <a:spcPct val="110000"/>
              </a:lnSpc>
            </a:pPr>
            <a:r>
              <a:rPr sz="2200" b="0">
                <a:solidFill>
                  <a:srgbClr val="2A1458"/>
                </a:solidFill>
                <a:latin typeface="Arial Rounded MT Bold"/>
              </a:rPr>
              <a:t>Set-up</a:t>
            </a:r>
          </a:p>
        </p:txBody>
      </p:sp>
      <p:sp>
        <p:nvSpPr>
          <p:cNvPr id="12" name="!!wb0"/>
          <p:cNvSpPr txBox="1"/>
          <p:nvPr/>
        </p:nvSpPr>
        <p:spPr>
          <a:xfrm>
            <a:off x="822960" y="3886200"/>
            <a:ext cx="2514600" cy="1371600"/>
          </a:xfrm>
          <a:prstGeom prst="rect">
            <a:avLst/>
          </a:prstGeom>
          <a:noFill/>
        </p:spPr>
        <p:txBody>
          <a:bodyPr wrap="square" lIns="45720" rIns="45720" tIns="27432" bIns="27432" anchor="t">
            <a:spAutoFit/>
          </a:bodyPr>
          <a:lstStyle/>
          <a:p>
            <a:pPr algn="l">
              <a:lnSpc>
                <a:spcPct val="110000"/>
              </a:lnSpc>
            </a:pPr>
            <a:r>
              <a:rPr sz="1600" b="0">
                <a:solidFill>
                  <a:srgbClr val="4B4466"/>
                </a:solidFill>
                <a:latin typeface="Avenir Next"/>
              </a:rPr>
              <a:t>Choose sections · parent consent note · teacher walkthrough</a:t>
            </a:r>
          </a:p>
        </p:txBody>
      </p:sp>
      <p:sp>
        <p:nvSpPr>
          <p:cNvPr id="13" name="!!dot1"/>
          <p:cNvSpPr/>
          <p:nvPr/>
        </p:nvSpPr>
        <p:spPr>
          <a:xfrm>
            <a:off x="3566160" y="2715768"/>
            <a:ext cx="457200" cy="457200"/>
          </a:xfrm>
          <a:prstGeom prst="ellipse">
            <a:avLst/>
          </a:prstGeom>
          <a:solidFill>
            <a:srgbClr val="FF4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k1"/>
          <p:cNvSpPr txBox="1"/>
          <p:nvPr/>
        </p:nvSpPr>
        <p:spPr>
          <a:xfrm>
            <a:off x="3520440" y="2011680"/>
            <a:ext cx="2560320" cy="457200"/>
          </a:xfrm>
          <a:prstGeom prst="rect">
            <a:avLst/>
          </a:prstGeom>
          <a:noFill/>
        </p:spPr>
        <p:txBody>
          <a:bodyPr wrap="square" lIns="45720" rIns="45720" tIns="27432" bIns="27432" anchor="t">
            <a:spAutoFit/>
          </a:bodyPr>
          <a:lstStyle/>
          <a:p>
            <a:pPr algn="l">
              <a:lnSpc>
                <a:spcPct val="110000"/>
              </a:lnSpc>
            </a:pPr>
            <a:r>
              <a:rPr sz="1400" b="0">
                <a:solidFill>
                  <a:srgbClr val="FF4F8B"/>
                </a:solidFill>
                <a:latin typeface="Arial Rounded MT Bold"/>
              </a:rPr>
              <a:t>WEEK 1–2</a:t>
            </a:r>
          </a:p>
        </p:txBody>
      </p:sp>
      <p:sp>
        <p:nvSpPr>
          <p:cNvPr id="15" name="!!wh1"/>
          <p:cNvSpPr txBox="1"/>
          <p:nvPr/>
        </p:nvSpPr>
        <p:spPr>
          <a:xfrm>
            <a:off x="3520440" y="3383280"/>
            <a:ext cx="2514600" cy="457200"/>
          </a:xfrm>
          <a:prstGeom prst="rect">
            <a:avLst/>
          </a:prstGeom>
          <a:noFill/>
        </p:spPr>
        <p:txBody>
          <a:bodyPr wrap="square" lIns="45720" rIns="45720" tIns="27432" bIns="27432" anchor="t">
            <a:spAutoFit/>
          </a:bodyPr>
          <a:lstStyle/>
          <a:p>
            <a:pPr algn="l">
              <a:lnSpc>
                <a:spcPct val="110000"/>
              </a:lnSpc>
            </a:pPr>
            <a:r>
              <a:rPr sz="2200" b="0">
                <a:solidFill>
                  <a:srgbClr val="2A1458"/>
                </a:solidFill>
                <a:latin typeface="Arial Rounded MT Bold"/>
              </a:rPr>
              <a:t>Episodes 1–4</a:t>
            </a:r>
          </a:p>
        </p:txBody>
      </p:sp>
      <p:sp>
        <p:nvSpPr>
          <p:cNvPr id="16" name="!!wb1"/>
          <p:cNvSpPr txBox="1"/>
          <p:nvPr/>
        </p:nvSpPr>
        <p:spPr>
          <a:xfrm>
            <a:off x="3520440" y="3886200"/>
            <a:ext cx="2514600" cy="1371600"/>
          </a:xfrm>
          <a:prstGeom prst="rect">
            <a:avLst/>
          </a:prstGeom>
          <a:noFill/>
        </p:spPr>
        <p:txBody>
          <a:bodyPr wrap="square" lIns="45720" rIns="45720" tIns="27432" bIns="27432" anchor="t">
            <a:spAutoFit/>
          </a:bodyPr>
          <a:lstStyle/>
          <a:p>
            <a:pPr algn="l">
              <a:lnSpc>
                <a:spcPct val="110000"/>
              </a:lnSpc>
            </a:pPr>
            <a:r>
              <a:rPr sz="1600" b="0">
                <a:solidFill>
                  <a:srgbClr val="4B4466"/>
                </a:solidFill>
                <a:latin typeface="Avenir Next"/>
              </a:rPr>
              <a:t>In class, twice a week · first home missions</a:t>
            </a:r>
          </a:p>
        </p:txBody>
      </p:sp>
      <p:sp>
        <p:nvSpPr>
          <p:cNvPr id="17" name="!!dot2"/>
          <p:cNvSpPr/>
          <p:nvPr/>
        </p:nvSpPr>
        <p:spPr>
          <a:xfrm>
            <a:off x="6263640" y="2715768"/>
            <a:ext cx="457200" cy="457200"/>
          </a:xfrm>
          <a:prstGeom prst="ellipse">
            <a:avLst/>
          </a:prstGeom>
          <a:solidFill>
            <a:srgbClr val="0E9F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wk2"/>
          <p:cNvSpPr txBox="1"/>
          <p:nvPr/>
        </p:nvSpPr>
        <p:spPr>
          <a:xfrm>
            <a:off x="6217920" y="2011680"/>
            <a:ext cx="2560320" cy="457200"/>
          </a:xfrm>
          <a:prstGeom prst="rect">
            <a:avLst/>
          </a:prstGeom>
          <a:noFill/>
        </p:spPr>
        <p:txBody>
          <a:bodyPr wrap="square" lIns="45720" rIns="45720" tIns="27432" bIns="27432" anchor="t">
            <a:spAutoFit/>
          </a:bodyPr>
          <a:lstStyle/>
          <a:p>
            <a:pPr algn="l">
              <a:lnSpc>
                <a:spcPct val="110000"/>
              </a:lnSpc>
            </a:pPr>
            <a:r>
              <a:rPr sz="1400" b="0">
                <a:solidFill>
                  <a:srgbClr val="0E9F9A"/>
                </a:solidFill>
                <a:latin typeface="Arial Rounded MT Bold"/>
              </a:rPr>
              <a:t>WEEK 3</a:t>
            </a:r>
          </a:p>
        </p:txBody>
      </p:sp>
      <p:sp>
        <p:nvSpPr>
          <p:cNvPr id="19" name="!!wh2"/>
          <p:cNvSpPr txBox="1"/>
          <p:nvPr/>
        </p:nvSpPr>
        <p:spPr>
          <a:xfrm>
            <a:off x="6217920" y="3383280"/>
            <a:ext cx="2514600" cy="457200"/>
          </a:xfrm>
          <a:prstGeom prst="rect">
            <a:avLst/>
          </a:prstGeom>
          <a:noFill/>
        </p:spPr>
        <p:txBody>
          <a:bodyPr wrap="square" lIns="45720" rIns="45720" tIns="27432" bIns="27432" anchor="t">
            <a:spAutoFit/>
          </a:bodyPr>
          <a:lstStyle/>
          <a:p>
            <a:pPr algn="l">
              <a:lnSpc>
                <a:spcPct val="110000"/>
              </a:lnSpc>
            </a:pPr>
            <a:r>
              <a:rPr sz="2200" b="0">
                <a:solidFill>
                  <a:srgbClr val="2A1458"/>
                </a:solidFill>
                <a:latin typeface="Arial Rounded MT Bold"/>
              </a:rPr>
              <a:t>Episodes 5–8</a:t>
            </a:r>
          </a:p>
        </p:txBody>
      </p:sp>
      <p:sp>
        <p:nvSpPr>
          <p:cNvPr id="20" name="!!wb2"/>
          <p:cNvSpPr txBox="1"/>
          <p:nvPr/>
        </p:nvSpPr>
        <p:spPr>
          <a:xfrm>
            <a:off x="6217920" y="3886200"/>
            <a:ext cx="2514600" cy="1371600"/>
          </a:xfrm>
          <a:prstGeom prst="rect">
            <a:avLst/>
          </a:prstGeom>
          <a:noFill/>
        </p:spPr>
        <p:txBody>
          <a:bodyPr wrap="square" lIns="45720" rIns="45720" tIns="27432" bIns="27432" anchor="t">
            <a:spAutoFit/>
          </a:bodyPr>
          <a:lstStyle/>
          <a:p>
            <a:pPr algn="l">
              <a:lnSpc>
                <a:spcPct val="110000"/>
              </a:lnSpc>
            </a:pPr>
            <a:r>
              <a:rPr sz="1600" b="0">
                <a:solidFill>
                  <a:srgbClr val="4B4466"/>
                </a:solidFill>
                <a:latin typeface="Avenir Next"/>
              </a:rPr>
              <a:t>Children lead the answers · more missions</a:t>
            </a:r>
          </a:p>
        </p:txBody>
      </p:sp>
      <p:sp>
        <p:nvSpPr>
          <p:cNvPr id="21" name="!!dot3"/>
          <p:cNvSpPr/>
          <p:nvPr/>
        </p:nvSpPr>
        <p:spPr>
          <a:xfrm>
            <a:off x="8961120" y="2715768"/>
            <a:ext cx="457200" cy="457200"/>
          </a:xfrm>
          <a:prstGeom prst="ellipse">
            <a:avLst/>
          </a:prstGeom>
          <a:solidFill>
            <a:srgbClr val="F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wk3"/>
          <p:cNvSpPr txBox="1"/>
          <p:nvPr/>
        </p:nvSpPr>
        <p:spPr>
          <a:xfrm>
            <a:off x="8915400" y="2011680"/>
            <a:ext cx="2560320" cy="457200"/>
          </a:xfrm>
          <a:prstGeom prst="rect">
            <a:avLst/>
          </a:prstGeom>
          <a:noFill/>
        </p:spPr>
        <p:txBody>
          <a:bodyPr wrap="square" lIns="45720" rIns="45720" tIns="27432" bIns="27432" anchor="t">
            <a:spAutoFit/>
          </a:bodyPr>
          <a:lstStyle/>
          <a:p>
            <a:pPr algn="l">
              <a:lnSpc>
                <a:spcPct val="110000"/>
              </a:lnSpc>
            </a:pPr>
            <a:r>
              <a:rPr sz="1400" b="0">
                <a:solidFill>
                  <a:srgbClr val="F08A00"/>
                </a:solidFill>
                <a:latin typeface="Arial Rounded MT Bold"/>
              </a:rPr>
              <a:t>WEEK 4</a:t>
            </a:r>
          </a:p>
        </p:txBody>
      </p:sp>
      <p:sp>
        <p:nvSpPr>
          <p:cNvPr id="23" name="!!wh3"/>
          <p:cNvSpPr txBox="1"/>
          <p:nvPr/>
        </p:nvSpPr>
        <p:spPr>
          <a:xfrm>
            <a:off x="8915400" y="3383280"/>
            <a:ext cx="2514600" cy="457200"/>
          </a:xfrm>
          <a:prstGeom prst="rect">
            <a:avLst/>
          </a:prstGeom>
          <a:noFill/>
        </p:spPr>
        <p:txBody>
          <a:bodyPr wrap="square" lIns="45720" rIns="45720" tIns="27432" bIns="27432" anchor="t">
            <a:spAutoFit/>
          </a:bodyPr>
          <a:lstStyle/>
          <a:p>
            <a:pPr algn="l">
              <a:lnSpc>
                <a:spcPct val="110000"/>
              </a:lnSpc>
            </a:pPr>
            <a:r>
              <a:rPr sz="2200" b="0">
                <a:solidFill>
                  <a:srgbClr val="2A1458"/>
                </a:solidFill>
                <a:latin typeface="Arial Rounded MT Bold"/>
              </a:rPr>
              <a:t>Review</a:t>
            </a:r>
          </a:p>
        </p:txBody>
      </p:sp>
      <p:sp>
        <p:nvSpPr>
          <p:cNvPr id="24" name="!!wb3"/>
          <p:cNvSpPr txBox="1"/>
          <p:nvPr/>
        </p:nvSpPr>
        <p:spPr>
          <a:xfrm>
            <a:off x="8915400" y="3886200"/>
            <a:ext cx="2514600" cy="1371600"/>
          </a:xfrm>
          <a:prstGeom prst="rect">
            <a:avLst/>
          </a:prstGeom>
          <a:noFill/>
        </p:spPr>
        <p:txBody>
          <a:bodyPr wrap="square" lIns="45720" rIns="45720" tIns="27432" bIns="27432" anchor="t">
            <a:spAutoFit/>
          </a:bodyPr>
          <a:lstStyle/>
          <a:p>
            <a:pPr algn="l">
              <a:lnSpc>
                <a:spcPct val="110000"/>
              </a:lnSpc>
            </a:pPr>
            <a:r>
              <a:rPr sz="1600" b="0">
                <a:solidFill>
                  <a:srgbClr val="4B4466"/>
                </a:solidFill>
                <a:latin typeface="Avenir Next"/>
              </a:rPr>
              <a:t>Findings meeting with you · decide next steps</a:t>
            </a:r>
          </a:p>
        </p:txBody>
      </p:sp>
      <p:sp>
        <p:nvSpPr>
          <p:cNvPr id="25" name="footer"/>
          <p:cNvSpPr txBox="1"/>
          <p:nvPr/>
        </p:nvSpPr>
        <p:spPr>
          <a:xfrm>
            <a:off x="804672" y="6327648"/>
            <a:ext cx="7315200" cy="320040"/>
          </a:xfrm>
          <a:prstGeom prst="rect">
            <a:avLst/>
          </a:prstGeom>
          <a:noFill/>
        </p:spPr>
        <p:txBody>
          <a:bodyPr wrap="square" lIns="45720" rIns="45720" tIns="27432" bIns="27432" anchor="t">
            <a:spAutoFit/>
          </a:bodyPr>
          <a:lstStyle/>
          <a:p>
            <a:pPr algn="l">
              <a:lnSpc>
                <a:spcPct val="110000"/>
              </a:lnSpc>
            </a:pPr>
            <a:r>
              <a:rPr sz="1100" b="0">
                <a:solidFill>
                  <a:srgbClr val="8A82A3"/>
                </a:solidFill>
                <a:latin typeface="Avenir Next"/>
              </a:rPr>
              <a:t>Zungga · School pilot proposal   ·   17</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600">
        <p159:morph option="byObject"/>
      </p:transition>
    </mc:Choice>
    <mc:Fallback>
      <p:transition spd="slow">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2A1458"/>
        </a:solidFill>
        <a:effectLst/>
      </p:bgPr>
    </p:bg>
    <p:spTree>
      <p:nvGrpSpPr>
        <p:cNvPr id="1" name=""/>
        <p:cNvGrpSpPr/>
        <p:nvPr/>
      </p:nvGrpSpPr>
      <p:grpSpPr/>
      <p:sp>
        <p:nvSpPr>
          <p:cNvPr id="2" name="!!orbA"/>
          <p:cNvSpPr/>
          <p:nvPr/>
        </p:nvSpPr>
        <p:spPr>
          <a:xfrm>
            <a:off x="7680960" y="914400"/>
            <a:ext cx="4937760" cy="4937760"/>
          </a:xfrm>
          <a:prstGeom prst="ellipse">
            <a:avLst/>
          </a:prstGeom>
          <a:solidFill>
            <a:srgbClr val="FCC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rbB"/>
          <p:cNvSpPr/>
          <p:nvPr/>
        </p:nvSpPr>
        <p:spPr>
          <a:xfrm>
            <a:off x="10881360" y="5212080"/>
            <a:ext cx="1188720" cy="1188720"/>
          </a:xfrm>
          <a:prstGeom prst="ellipse">
            <a:avLst/>
          </a:prstGeom>
          <a:solidFill>
            <a:srgbClr val="FF4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rbC"/>
          <p:cNvSpPr/>
          <p:nvPr/>
        </p:nvSpPr>
        <p:spPr>
          <a:xfrm>
            <a:off x="365760" y="57607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honeA_frame"/>
          <p:cNvSpPr/>
          <p:nvPr/>
        </p:nvSpPr>
        <p:spPr>
          <a:xfrm>
            <a:off x="9015984" y="832104"/>
            <a:ext cx="2679192" cy="4634992"/>
          </a:xfrm>
          <a:prstGeom prst="roundRect">
            <a:avLst>
              <a:gd name="adj" fmla="val 8000"/>
            </a:avLst>
          </a:prstGeom>
          <a:solidFill>
            <a:srgbClr val="1C1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honeA" descr="badges.jpg"/>
          <p:cNvPicPr>
            <a:picLocks noChangeAspect="1"/>
          </p:cNvPicPr>
          <p:nvPr/>
        </p:nvPicPr>
        <p:blipFill>
          <a:blip r:embed="rId2"/>
          <a:stretch>
            <a:fillRect/>
          </a:stretch>
        </p:blipFill>
        <p:spPr>
          <a:xfrm>
            <a:off x="9098280" y="914400"/>
            <a:ext cx="2514600" cy="4470400"/>
          </a:xfrm>
          <a:prstGeom prst="rect">
            <a:avLst/>
          </a:prstGeom>
        </p:spPr>
      </p:pic>
      <p:sp>
        <p:nvSpPr>
          <p:cNvPr id="7" name="!!eyebrow"/>
          <p:cNvSpPr txBox="1"/>
          <p:nvPr/>
        </p:nvSpPr>
        <p:spPr>
          <a:xfrm>
            <a:off x="804672" y="1051560"/>
            <a:ext cx="8229600" cy="365760"/>
          </a:xfrm>
          <a:prstGeom prst="rect">
            <a:avLst/>
          </a:prstGeom>
          <a:noFill/>
        </p:spPr>
        <p:txBody>
          <a:bodyPr wrap="square" lIns="45720" rIns="45720" tIns="27432" bIns="27432" anchor="t">
            <a:spAutoFit/>
          </a:bodyPr>
          <a:lstStyle/>
          <a:p>
            <a:pPr algn="l">
              <a:lnSpc>
                <a:spcPct val="110000"/>
              </a:lnSpc>
            </a:pPr>
            <a:r>
              <a:rPr sz="1400" b="0">
                <a:solidFill>
                  <a:srgbClr val="FCC72C"/>
                </a:solidFill>
                <a:latin typeface="Arial Rounded MT Bold"/>
              </a:rPr>
              <a:t>TO BEGIN</a:t>
            </a:r>
          </a:p>
        </p:txBody>
      </p:sp>
      <p:sp>
        <p:nvSpPr>
          <p:cNvPr id="8" name="!!title"/>
          <p:cNvSpPr txBox="1"/>
          <p:nvPr/>
        </p:nvSpPr>
        <p:spPr>
          <a:xfrm>
            <a:off x="777240" y="1371600"/>
            <a:ext cx="9875520" cy="914400"/>
          </a:xfrm>
          <a:prstGeom prst="rect">
            <a:avLst/>
          </a:prstGeom>
          <a:noFill/>
        </p:spPr>
        <p:txBody>
          <a:bodyPr wrap="square" lIns="45720" rIns="45720" tIns="27432" bIns="27432" anchor="t">
            <a:spAutoFit/>
          </a:bodyPr>
          <a:lstStyle/>
          <a:p>
            <a:pPr algn="l">
              <a:lnSpc>
                <a:spcPct val="110000"/>
              </a:lnSpc>
            </a:pPr>
            <a:r>
              <a:rPr sz="4000" b="0">
                <a:solidFill>
                  <a:srgbClr val="FBF7EE"/>
                </a:solidFill>
                <a:latin typeface="Arial Rounded MT Bold"/>
              </a:rPr>
              <a:t>What we need from you</a:t>
            </a:r>
          </a:p>
        </p:txBody>
      </p:sp>
      <p:sp>
        <p:nvSpPr>
          <p:cNvPr id="9" name="!!pt0"/>
          <p:cNvSpPr txBox="1"/>
          <p:nvPr/>
        </p:nvSpPr>
        <p:spPr>
          <a:xfrm>
            <a:off x="822960" y="2514600"/>
            <a:ext cx="6766560" cy="640080"/>
          </a:xfrm>
          <a:prstGeom prst="rect">
            <a:avLst/>
          </a:prstGeom>
          <a:noFill/>
        </p:spPr>
        <p:txBody>
          <a:bodyPr wrap="square" lIns="45720" rIns="45720" tIns="27432" bIns="27432" anchor="t">
            <a:spAutoFit/>
          </a:bodyPr>
          <a:lstStyle/>
          <a:p>
            <a:pPr algn="l">
              <a:lnSpc>
                <a:spcPct val="110000"/>
              </a:lnSpc>
            </a:pPr>
            <a:r>
              <a:rPr sz="2400" b="0">
                <a:solidFill>
                  <a:srgbClr val="FCC72C"/>
                </a:solidFill>
                <a:latin typeface="Arial Rounded MT Bold"/>
              </a:rPr>
              <a:t>1  </a:t>
            </a:r>
            <a:r>
              <a:rPr sz="2200" b="0">
                <a:solidFill>
                  <a:srgbClr val="FBF7EE"/>
                </a:solidFill>
                <a:latin typeface="Avenir Next"/>
              </a:rPr>
              <a:t>A class group for the pilot (Class 3, 4 or 5)</a:t>
            </a:r>
          </a:p>
        </p:txBody>
      </p:sp>
      <p:sp>
        <p:nvSpPr>
          <p:cNvPr id="10" name="!!pt1"/>
          <p:cNvSpPr txBox="1"/>
          <p:nvPr/>
        </p:nvSpPr>
        <p:spPr>
          <a:xfrm>
            <a:off x="822960" y="3246120"/>
            <a:ext cx="6766560" cy="640080"/>
          </a:xfrm>
          <a:prstGeom prst="rect">
            <a:avLst/>
          </a:prstGeom>
          <a:noFill/>
        </p:spPr>
        <p:txBody>
          <a:bodyPr wrap="square" lIns="45720" rIns="45720" tIns="27432" bIns="27432" anchor="t">
            <a:spAutoFit/>
          </a:bodyPr>
          <a:lstStyle/>
          <a:p>
            <a:pPr algn="l">
              <a:lnSpc>
                <a:spcPct val="110000"/>
              </a:lnSpc>
            </a:pPr>
            <a:r>
              <a:rPr sz="2400" b="0">
                <a:solidFill>
                  <a:srgbClr val="FCC72C"/>
                </a:solidFill>
                <a:latin typeface="Arial Rounded MT Bold"/>
              </a:rPr>
              <a:t>2  </a:t>
            </a:r>
            <a:r>
              <a:rPr sz="2200" b="0">
                <a:solidFill>
                  <a:srgbClr val="FBF7EE"/>
                </a:solidFill>
                <a:latin typeface="Avenir Next"/>
              </a:rPr>
              <a:t>One teacher champion</a:t>
            </a:r>
          </a:p>
        </p:txBody>
      </p:sp>
      <p:sp>
        <p:nvSpPr>
          <p:cNvPr id="11" name="!!pt2"/>
          <p:cNvSpPr txBox="1"/>
          <p:nvPr/>
        </p:nvSpPr>
        <p:spPr>
          <a:xfrm>
            <a:off x="822960" y="3977639"/>
            <a:ext cx="6766560" cy="640080"/>
          </a:xfrm>
          <a:prstGeom prst="rect">
            <a:avLst/>
          </a:prstGeom>
          <a:noFill/>
        </p:spPr>
        <p:txBody>
          <a:bodyPr wrap="square" lIns="45720" rIns="45720" tIns="27432" bIns="27432" anchor="t">
            <a:spAutoFit/>
          </a:bodyPr>
          <a:lstStyle/>
          <a:p>
            <a:pPr algn="l">
              <a:lnSpc>
                <a:spcPct val="110000"/>
              </a:lnSpc>
            </a:pPr>
            <a:r>
              <a:rPr sz="2400" b="0">
                <a:solidFill>
                  <a:srgbClr val="FCC72C"/>
                </a:solidFill>
                <a:latin typeface="Arial Rounded MT Bold"/>
              </a:rPr>
              <a:t>3  </a:t>
            </a:r>
            <a:r>
              <a:rPr sz="2200" b="0">
                <a:solidFill>
                  <a:srgbClr val="FBF7EE"/>
                </a:solidFill>
                <a:latin typeface="Avenir Next"/>
              </a:rPr>
              <a:t>Two 15-minute slots a week</a:t>
            </a:r>
          </a:p>
        </p:txBody>
      </p:sp>
      <p:sp>
        <p:nvSpPr>
          <p:cNvPr id="12" name="!!pt3"/>
          <p:cNvSpPr txBox="1"/>
          <p:nvPr/>
        </p:nvSpPr>
        <p:spPr>
          <a:xfrm>
            <a:off x="822960" y="4709160"/>
            <a:ext cx="6766560" cy="640080"/>
          </a:xfrm>
          <a:prstGeom prst="rect">
            <a:avLst/>
          </a:prstGeom>
          <a:noFill/>
        </p:spPr>
        <p:txBody>
          <a:bodyPr wrap="square" lIns="45720" rIns="45720" tIns="27432" bIns="27432" anchor="t">
            <a:spAutoFit/>
          </a:bodyPr>
          <a:lstStyle/>
          <a:p>
            <a:pPr algn="l">
              <a:lnSpc>
                <a:spcPct val="110000"/>
              </a:lnSpc>
            </a:pPr>
            <a:r>
              <a:rPr sz="2400" b="0">
                <a:solidFill>
                  <a:srgbClr val="FCC72C"/>
                </a:solidFill>
                <a:latin typeface="Arial Rounded MT Bold"/>
              </a:rPr>
              <a:t>4  </a:t>
            </a:r>
            <a:r>
              <a:rPr sz="2200" b="0">
                <a:solidFill>
                  <a:srgbClr val="FBF7EE"/>
                </a:solidFill>
                <a:latin typeface="Avenir Next"/>
              </a:rPr>
              <a:t>Permission to send a parent consent note</a:t>
            </a:r>
          </a:p>
        </p:txBody>
      </p:sp>
      <p:sp>
        <p:nvSpPr>
          <p:cNvPr id="13" name="footer"/>
          <p:cNvSpPr txBox="1"/>
          <p:nvPr/>
        </p:nvSpPr>
        <p:spPr>
          <a:xfrm>
            <a:off x="804672" y="6327648"/>
            <a:ext cx="7315200" cy="320040"/>
          </a:xfrm>
          <a:prstGeom prst="rect">
            <a:avLst/>
          </a:prstGeom>
          <a:noFill/>
        </p:spPr>
        <p:txBody>
          <a:bodyPr wrap="square" lIns="45720" rIns="45720" tIns="27432" bIns="27432" anchor="t">
            <a:spAutoFit/>
          </a:bodyPr>
          <a:lstStyle/>
          <a:p>
            <a:pPr algn="l">
              <a:lnSpc>
                <a:spcPct val="110000"/>
              </a:lnSpc>
            </a:pPr>
            <a:r>
              <a:rPr sz="1100" b="0">
                <a:solidFill>
                  <a:srgbClr val="D9CCF5"/>
                </a:solidFill>
                <a:latin typeface="Avenir Next"/>
              </a:rPr>
              <a:t>Zungga · School pilot proposal   ·   18</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600">
        <p159:morph option="byObject"/>
      </p:transition>
    </mc:Choice>
    <mc:Fallback>
      <p:transition spd="slow">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2A1458"/>
        </a:solidFill>
        <a:effectLst/>
      </p:bgPr>
    </p:bg>
    <p:spTree>
      <p:nvGrpSpPr>
        <p:cNvPr id="1" name=""/>
        <p:cNvGrpSpPr/>
        <p:nvPr/>
      </p:nvGrpSpPr>
      <p:grpSpPr/>
      <p:sp>
        <p:nvSpPr>
          <p:cNvPr id="2" name="!!orbA"/>
          <p:cNvSpPr/>
          <p:nvPr/>
        </p:nvSpPr>
        <p:spPr>
          <a:xfrm>
            <a:off x="6720840" y="-1005840"/>
            <a:ext cx="6949440" cy="6949440"/>
          </a:xfrm>
          <a:prstGeom prst="ellipse">
            <a:avLst/>
          </a:prstGeom>
          <a:solidFill>
            <a:srgbClr val="FCC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rbB"/>
          <p:cNvSpPr/>
          <p:nvPr/>
        </p:nvSpPr>
        <p:spPr>
          <a:xfrm>
            <a:off x="10607040" y="4754880"/>
            <a:ext cx="2377440" cy="2377440"/>
          </a:xfrm>
          <a:prstGeom prst="ellipse">
            <a:avLst/>
          </a:prstGeom>
          <a:solidFill>
            <a:srgbClr val="FF4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rbC"/>
          <p:cNvSpPr/>
          <p:nvPr/>
        </p:nvSpPr>
        <p:spPr>
          <a:xfrm>
            <a:off x="-1097280" y="5120640"/>
            <a:ext cx="2194560" cy="21945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honeA_frame"/>
          <p:cNvSpPr/>
          <p:nvPr/>
        </p:nvSpPr>
        <p:spPr>
          <a:xfrm>
            <a:off x="8467344" y="786384"/>
            <a:ext cx="2953512" cy="5122671"/>
          </a:xfrm>
          <a:prstGeom prst="roundRect">
            <a:avLst>
              <a:gd name="adj" fmla="val 8000"/>
            </a:avLst>
          </a:prstGeom>
          <a:solidFill>
            <a:srgbClr val="1C1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honeA" descr="profit.jpg"/>
          <p:cNvPicPr>
            <a:picLocks noChangeAspect="1"/>
          </p:cNvPicPr>
          <p:nvPr/>
        </p:nvPicPr>
        <p:blipFill>
          <a:blip r:embed="rId2"/>
          <a:stretch>
            <a:fillRect/>
          </a:stretch>
        </p:blipFill>
        <p:spPr>
          <a:xfrm>
            <a:off x="8549640" y="868680"/>
            <a:ext cx="2788920" cy="4958079"/>
          </a:xfrm>
          <a:prstGeom prst="rect">
            <a:avLst/>
          </a:prstGeom>
        </p:spPr>
      </p:pic>
      <p:pic>
        <p:nvPicPr>
          <p:cNvPr id="7" name="!!logo" descr="zungga-logo.png"/>
          <p:cNvPicPr>
            <a:picLocks noChangeAspect="1"/>
          </p:cNvPicPr>
          <p:nvPr/>
        </p:nvPicPr>
        <p:blipFill>
          <a:blip r:embed="rId3"/>
          <a:stretch>
            <a:fillRect/>
          </a:stretch>
        </p:blipFill>
        <p:spPr>
          <a:xfrm>
            <a:off x="822960" y="640080"/>
            <a:ext cx="1828800" cy="1500809"/>
          </a:xfrm>
          <a:prstGeom prst="rect">
            <a:avLst/>
          </a:prstGeom>
        </p:spPr>
      </p:pic>
      <p:sp>
        <p:nvSpPr>
          <p:cNvPr id="8" name="!!title"/>
          <p:cNvSpPr txBox="1"/>
          <p:nvPr/>
        </p:nvSpPr>
        <p:spPr>
          <a:xfrm>
            <a:off x="822960" y="2514600"/>
            <a:ext cx="6766560" cy="1828800"/>
          </a:xfrm>
          <a:prstGeom prst="rect">
            <a:avLst/>
          </a:prstGeom>
          <a:noFill/>
        </p:spPr>
        <p:txBody>
          <a:bodyPr wrap="square" lIns="45720" rIns="45720" tIns="27432" bIns="27432" anchor="t">
            <a:spAutoFit/>
          </a:bodyPr>
          <a:lstStyle/>
          <a:p>
            <a:pPr algn="l">
              <a:lnSpc>
                <a:spcPct val="100000"/>
              </a:lnSpc>
            </a:pPr>
            <a:r>
              <a:rPr sz="3800" b="0">
                <a:solidFill>
                  <a:srgbClr val="FBF7EE"/>
                </a:solidFill>
                <a:latin typeface="Arial Rounded MT Bold"/>
              </a:rPr>
              <a:t>Let’s turn screen time</a:t>
            </a:r>
          </a:p>
          <a:p>
            <a:pPr algn="l">
              <a:lnSpc>
                <a:spcPct val="100000"/>
              </a:lnSpc>
            </a:pPr>
            <a:r>
              <a:rPr sz="3800" b="0">
                <a:solidFill>
                  <a:srgbClr val="FBF7EE"/>
                </a:solidFill>
                <a:latin typeface="Arial Rounded MT Bold"/>
              </a:rPr>
              <a:t>into </a:t>
            </a:r>
            <a:r>
              <a:rPr sz="3800" b="0">
                <a:solidFill>
                  <a:srgbClr val="FCC72C"/>
                </a:solidFill>
                <a:latin typeface="Arial Rounded MT Bold"/>
              </a:rPr>
              <a:t>skill time — together.</a:t>
            </a:r>
          </a:p>
        </p:txBody>
      </p:sp>
      <p:sp>
        <p:nvSpPr>
          <p:cNvPr id="9" name="!!sub"/>
          <p:cNvSpPr txBox="1"/>
          <p:nvPr/>
        </p:nvSpPr>
        <p:spPr>
          <a:xfrm>
            <a:off x="841248" y="4526280"/>
            <a:ext cx="6400800" cy="1280160"/>
          </a:xfrm>
          <a:prstGeom prst="rect">
            <a:avLst/>
          </a:prstGeom>
          <a:noFill/>
        </p:spPr>
        <p:txBody>
          <a:bodyPr wrap="square" lIns="45720" rIns="45720" tIns="27432" bIns="27432" anchor="t">
            <a:spAutoFit/>
          </a:bodyPr>
          <a:lstStyle/>
          <a:p>
            <a:pPr algn="l">
              <a:lnSpc>
                <a:spcPct val="110000"/>
              </a:lnSpc>
            </a:pPr>
            <a:r>
              <a:rPr sz="2600" b="0">
                <a:solidFill>
                  <a:srgbClr val="FBF7EE"/>
                </a:solidFill>
                <a:latin typeface="Avenir Next"/>
              </a:rPr>
              <a:t>Thank you.</a:t>
            </a:r>
          </a:p>
          <a:p>
            <a:pPr algn="l">
              <a:lnSpc>
                <a:spcPct val="110000"/>
              </a:lnSpc>
            </a:pPr>
            <a:r>
              <a:rPr sz="1800" b="0">
                <a:solidFill>
                  <a:srgbClr val="D9CCF5"/>
                </a:solidFill>
                <a:latin typeface="Avenir Next"/>
              </a:rPr>
              <a:t>[Your name]  ·  [Phone]  ·  [Email]</a:t>
            </a:r>
          </a:p>
          <a:p>
            <a:pPr algn="l">
              <a:lnSpc>
                <a:spcPct val="110000"/>
              </a:lnSpc>
            </a:pPr>
            <a:r>
              <a:rPr sz="1800" b="0">
                <a:solidFill>
                  <a:srgbClr val="FCC72C"/>
                </a:solidFill>
                <a:latin typeface="Arial Rounded MT Bold"/>
              </a:rPr>
              <a:t>zungga.com</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spd="slow">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BF7EE"/>
        </a:solidFill>
        <a:effectLst/>
      </p:bgPr>
    </p:bg>
    <p:spTree>
      <p:nvGrpSpPr>
        <p:cNvPr id="1" name=""/>
        <p:cNvGrpSpPr/>
        <p:nvPr/>
      </p:nvGrpSpPr>
      <p:grpSpPr/>
      <p:sp>
        <p:nvSpPr>
          <p:cNvPr id="2" name="!!orbA"/>
          <p:cNvSpPr/>
          <p:nvPr/>
        </p:nvSpPr>
        <p:spPr>
          <a:xfrm>
            <a:off x="9966960" y="4206240"/>
            <a:ext cx="3108960" cy="3108960"/>
          </a:xfrm>
          <a:prstGeom prst="ellipse">
            <a:avLst/>
          </a:prstGeom>
          <a:solidFill>
            <a:srgbClr val="FCC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rbB"/>
          <p:cNvSpPr/>
          <p:nvPr/>
        </p:nvSpPr>
        <p:spPr>
          <a:xfrm>
            <a:off x="11247120" y="457200"/>
            <a:ext cx="914400" cy="914400"/>
          </a:xfrm>
          <a:prstGeom prst="ellipse">
            <a:avLst/>
          </a:prstGeom>
          <a:solidFill>
            <a:srgbClr val="FF4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rbC"/>
          <p:cNvSpPr/>
          <p:nvPr/>
        </p:nvSpPr>
        <p:spPr>
          <a:xfrm>
            <a:off x="-640080" y="-548640"/>
            <a:ext cx="1463040" cy="14630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eyebrow"/>
          <p:cNvSpPr txBox="1"/>
          <p:nvPr/>
        </p:nvSpPr>
        <p:spPr>
          <a:xfrm>
            <a:off x="804672" y="347472"/>
            <a:ext cx="8229600" cy="365760"/>
          </a:xfrm>
          <a:prstGeom prst="rect">
            <a:avLst/>
          </a:prstGeom>
          <a:noFill/>
        </p:spPr>
        <p:txBody>
          <a:bodyPr wrap="square" lIns="45720" rIns="45720" tIns="27432" bIns="27432" anchor="t">
            <a:spAutoFit/>
          </a:bodyPr>
          <a:lstStyle/>
          <a:p>
            <a:pPr algn="l">
              <a:lnSpc>
                <a:spcPct val="110000"/>
              </a:lnSpc>
            </a:pPr>
            <a:r>
              <a:rPr sz="1400" b="0">
                <a:solidFill>
                  <a:srgbClr val="7C3AED"/>
                </a:solidFill>
                <a:latin typeface="Arial Rounded MT Bold"/>
              </a:rPr>
              <a:t>YOUR VIEW</a:t>
            </a:r>
          </a:p>
        </p:txBody>
      </p:sp>
      <p:sp>
        <p:nvSpPr>
          <p:cNvPr id="6" name="!!title"/>
          <p:cNvSpPr txBox="1"/>
          <p:nvPr/>
        </p:nvSpPr>
        <p:spPr>
          <a:xfrm>
            <a:off x="777240" y="566928"/>
            <a:ext cx="9875520" cy="914400"/>
          </a:xfrm>
          <a:prstGeom prst="rect">
            <a:avLst/>
          </a:prstGeom>
          <a:noFill/>
        </p:spPr>
        <p:txBody>
          <a:bodyPr wrap="square" lIns="45720" rIns="45720" tIns="27432" bIns="27432" anchor="t">
            <a:spAutoFit/>
          </a:bodyPr>
          <a:lstStyle/>
          <a:p>
            <a:pPr algn="l">
              <a:lnSpc>
                <a:spcPct val="110000"/>
              </a:lnSpc>
            </a:pPr>
            <a:r>
              <a:rPr sz="4000" b="0">
                <a:solidFill>
                  <a:srgbClr val="2A1458"/>
                </a:solidFill>
                <a:latin typeface="Arial Rounded MT Bold"/>
              </a:rPr>
              <a:t>How would you solve this?</a:t>
            </a:r>
          </a:p>
        </p:txBody>
      </p:sp>
      <p:sp>
        <p:nvSpPr>
          <p:cNvPr id="7" name="!!card0"/>
          <p:cNvSpPr/>
          <p:nvPr/>
        </p:nvSpPr>
        <p:spPr>
          <a:xfrm>
            <a:off x="777240" y="1965960"/>
            <a:ext cx="2560320" cy="2926080"/>
          </a:xfrm>
          <a:prstGeom prst="roundRect">
            <a:avLst>
              <a:gd name="adj" fmla="val 12000"/>
            </a:avLst>
          </a:prstGeom>
          <a:solidFill>
            <a:srgbClr val="FFFDF8"/>
          </a:solidFill>
          <a:ln>
            <a:noFill/>
          </a:ln>
          <a:effectLst/>
        </p:spPr>
        <p:style>
          <a:lnRef idx="1">
            <a:schemeClr val="accent1"/>
          </a:lnRef>
          <a:fillRef idx="3">
            <a:schemeClr val="accent1"/>
          </a:fillRef>
          <a:effectRef idx="2">
            <a:schemeClr val="accent1"/>
          </a:effectRef>
          <a:fontRef idx="minor">
            <a:schemeClr val="lt1"/>
          </a:fontRef>
        </p:style>
        <p:txBody>
          <a:bodyPr rtlCol="0" anchor="t" lIns="45720" rIns="45720" tIns="27432" bIns="27432" wrap="square"/>
          <a:lstStyle/>
          <a:p>
            <a:pPr algn="l">
              <a:lnSpc>
                <a:spcPct val="110000"/>
              </a:lnSpc>
            </a:pPr>
            <a:r>
              <a:rPr sz="4000" b="0">
                <a:solidFill>
                  <a:srgbClr val="2A1458"/>
                </a:solidFill>
                <a:latin typeface="Avenir Next"/>
              </a:rPr>
              <a:t>⏱️</a:t>
            </a:r>
          </a:p>
          <a:p>
            <a:pPr algn="l">
              <a:lnSpc>
                <a:spcPct val="110000"/>
              </a:lnSpc>
            </a:pPr>
            <a:r>
              <a:rPr sz="2200" b="0">
                <a:solidFill>
                  <a:srgbClr val="2A1458"/>
                </a:solidFill>
                <a:latin typeface="Arial Rounded MT Bold"/>
              </a:rPr>
              <a:t>Less screen time?</a:t>
            </a:r>
          </a:p>
          <a:p>
            <a:pPr algn="l">
              <a:lnSpc>
                <a:spcPct val="110000"/>
              </a:lnSpc>
            </a:pPr>
            <a:r>
              <a:rPr sz="1600" b="0">
                <a:solidFill>
                  <a:srgbClr val="4B4466"/>
                </a:solidFill>
                <a:latin typeface="Avenir Next"/>
              </a:rPr>
              <a:t>Hard to enforce at home</a:t>
            </a:r>
          </a:p>
        </p:txBody>
      </p:sp>
      <p:sp>
        <p:nvSpPr>
          <p:cNvPr id="8" name="!!card1"/>
          <p:cNvSpPr/>
          <p:nvPr/>
        </p:nvSpPr>
        <p:spPr>
          <a:xfrm>
            <a:off x="3520440" y="1965960"/>
            <a:ext cx="2560320" cy="2926080"/>
          </a:xfrm>
          <a:prstGeom prst="roundRect">
            <a:avLst>
              <a:gd name="adj" fmla="val 12000"/>
            </a:avLst>
          </a:prstGeom>
          <a:solidFill>
            <a:srgbClr val="FFFDF8"/>
          </a:solidFill>
          <a:ln>
            <a:noFill/>
          </a:ln>
          <a:effectLst/>
        </p:spPr>
        <p:style>
          <a:lnRef idx="1">
            <a:schemeClr val="accent1"/>
          </a:lnRef>
          <a:fillRef idx="3">
            <a:schemeClr val="accent1"/>
          </a:fillRef>
          <a:effectRef idx="2">
            <a:schemeClr val="accent1"/>
          </a:effectRef>
          <a:fontRef idx="minor">
            <a:schemeClr val="lt1"/>
          </a:fontRef>
        </p:style>
        <p:txBody>
          <a:bodyPr rtlCol="0" anchor="t" lIns="45720" rIns="45720" tIns="27432" bIns="27432" wrap="square"/>
          <a:lstStyle/>
          <a:p>
            <a:pPr algn="l">
              <a:lnSpc>
                <a:spcPct val="110000"/>
              </a:lnSpc>
            </a:pPr>
            <a:r>
              <a:rPr sz="4000" b="0">
                <a:solidFill>
                  <a:srgbClr val="2A1458"/>
                </a:solidFill>
                <a:latin typeface="Avenir Next"/>
              </a:rPr>
              <a:t>📝</a:t>
            </a:r>
          </a:p>
          <a:p>
            <a:pPr algn="l">
              <a:lnSpc>
                <a:spcPct val="110000"/>
              </a:lnSpc>
            </a:pPr>
            <a:r>
              <a:rPr sz="2200" b="0">
                <a:solidFill>
                  <a:srgbClr val="2A1458"/>
                </a:solidFill>
                <a:latin typeface="Arial Rounded MT Bold"/>
              </a:rPr>
              <a:t>More homework?</a:t>
            </a:r>
          </a:p>
          <a:p>
            <a:pPr algn="l">
              <a:lnSpc>
                <a:spcPct val="110000"/>
              </a:lnSpc>
            </a:pPr>
            <a:r>
              <a:rPr sz="1600" b="0">
                <a:solidFill>
                  <a:srgbClr val="4B4466"/>
                </a:solidFill>
                <a:latin typeface="Avenir Next"/>
              </a:rPr>
              <a:t>More pressure, same interest</a:t>
            </a:r>
          </a:p>
        </p:txBody>
      </p:sp>
      <p:sp>
        <p:nvSpPr>
          <p:cNvPr id="9" name="!!card2"/>
          <p:cNvSpPr/>
          <p:nvPr/>
        </p:nvSpPr>
        <p:spPr>
          <a:xfrm>
            <a:off x="6263640" y="1965960"/>
            <a:ext cx="2560320" cy="2926080"/>
          </a:xfrm>
          <a:prstGeom prst="roundRect">
            <a:avLst>
              <a:gd name="adj" fmla="val 12000"/>
            </a:avLst>
          </a:prstGeom>
          <a:solidFill>
            <a:srgbClr val="FFFDF8"/>
          </a:solidFill>
          <a:ln>
            <a:noFill/>
          </a:ln>
          <a:effectLst/>
        </p:spPr>
        <p:style>
          <a:lnRef idx="1">
            <a:schemeClr val="accent1"/>
          </a:lnRef>
          <a:fillRef idx="3">
            <a:schemeClr val="accent1"/>
          </a:fillRef>
          <a:effectRef idx="2">
            <a:schemeClr val="accent1"/>
          </a:effectRef>
          <a:fontRef idx="minor">
            <a:schemeClr val="lt1"/>
          </a:fontRef>
        </p:style>
        <p:txBody>
          <a:bodyPr rtlCol="0" anchor="t" lIns="45720" rIns="45720" tIns="27432" bIns="27432" wrap="square"/>
          <a:lstStyle/>
          <a:p>
            <a:pPr algn="l">
              <a:lnSpc>
                <a:spcPct val="110000"/>
              </a:lnSpc>
            </a:pPr>
            <a:r>
              <a:rPr sz="4000" b="0">
                <a:solidFill>
                  <a:srgbClr val="2A1458"/>
                </a:solidFill>
                <a:latin typeface="Avenir Next"/>
              </a:rPr>
              <a:t>🔁</a:t>
            </a:r>
          </a:p>
          <a:p>
            <a:pPr algn="l">
              <a:lnSpc>
                <a:spcPct val="110000"/>
              </a:lnSpc>
            </a:pPr>
            <a:r>
              <a:rPr sz="2200" b="0">
                <a:solidFill>
                  <a:srgbClr val="2A1458"/>
                </a:solidFill>
                <a:latin typeface="Arial Rounded MT Bold"/>
              </a:rPr>
              <a:t>More drills in class?</a:t>
            </a:r>
          </a:p>
          <a:p>
            <a:pPr algn="l">
              <a:lnSpc>
                <a:spcPct val="110000"/>
              </a:lnSpc>
            </a:pPr>
            <a:r>
              <a:rPr sz="1600" b="0">
                <a:solidFill>
                  <a:srgbClr val="4B4466"/>
                </a:solidFill>
                <a:latin typeface="Avenir Next"/>
              </a:rPr>
              <a:t>Class time is already full</a:t>
            </a:r>
          </a:p>
        </p:txBody>
      </p:sp>
      <p:sp>
        <p:nvSpPr>
          <p:cNvPr id="10" name="!!card3"/>
          <p:cNvSpPr/>
          <p:nvPr/>
        </p:nvSpPr>
        <p:spPr>
          <a:xfrm>
            <a:off x="9006840" y="1965960"/>
            <a:ext cx="2560320" cy="2926080"/>
          </a:xfrm>
          <a:prstGeom prst="roundRect">
            <a:avLst>
              <a:gd name="adj" fmla="val 12000"/>
            </a:avLst>
          </a:prstGeom>
          <a:solidFill>
            <a:srgbClr val="FCC72C"/>
          </a:solidFill>
          <a:ln>
            <a:noFill/>
          </a:ln>
          <a:effectLst/>
        </p:spPr>
        <p:style>
          <a:lnRef idx="1">
            <a:schemeClr val="accent1"/>
          </a:lnRef>
          <a:fillRef idx="3">
            <a:schemeClr val="accent1"/>
          </a:fillRef>
          <a:effectRef idx="2">
            <a:schemeClr val="accent1"/>
          </a:effectRef>
          <a:fontRef idx="minor">
            <a:schemeClr val="lt1"/>
          </a:fontRef>
        </p:style>
        <p:txBody>
          <a:bodyPr rtlCol="0" anchor="t" lIns="45720" rIns="45720" tIns="27432" bIns="27432" wrap="square"/>
          <a:lstStyle/>
          <a:p>
            <a:pPr algn="l">
              <a:lnSpc>
                <a:spcPct val="110000"/>
              </a:lnSpc>
            </a:pPr>
            <a:r>
              <a:rPr sz="4000" b="0">
                <a:solidFill>
                  <a:srgbClr val="2A1458"/>
                </a:solidFill>
                <a:latin typeface="Avenir Next"/>
              </a:rPr>
              <a:t>💡</a:t>
            </a:r>
          </a:p>
          <a:p>
            <a:pPr algn="l">
              <a:lnSpc>
                <a:spcPct val="110000"/>
              </a:lnSpc>
            </a:pPr>
            <a:r>
              <a:rPr sz="2200" b="0">
                <a:solidFill>
                  <a:srgbClr val="2A1458"/>
                </a:solidFill>
                <a:latin typeface="Arial Rounded MT Bold"/>
              </a:rPr>
              <a:t>Or make screen time make them think?</a:t>
            </a:r>
          </a:p>
          <a:p>
            <a:pPr algn="l">
              <a:lnSpc>
                <a:spcPct val="110000"/>
              </a:lnSpc>
            </a:pPr>
            <a:r>
              <a:rPr sz="1600" b="0">
                <a:solidFill>
                  <a:srgbClr val="4B4466"/>
                </a:solidFill>
                <a:latin typeface="Avenir Next"/>
              </a:rPr>
              <a:t>Turn the screen into a reason to learn</a:t>
            </a:r>
          </a:p>
        </p:txBody>
      </p:sp>
      <p:sp>
        <p:nvSpPr>
          <p:cNvPr id="11" name="footer"/>
          <p:cNvSpPr txBox="1"/>
          <p:nvPr/>
        </p:nvSpPr>
        <p:spPr>
          <a:xfrm>
            <a:off x="804672" y="6327648"/>
            <a:ext cx="7315200" cy="320040"/>
          </a:xfrm>
          <a:prstGeom prst="rect">
            <a:avLst/>
          </a:prstGeom>
          <a:noFill/>
        </p:spPr>
        <p:txBody>
          <a:bodyPr wrap="square" lIns="45720" rIns="45720" tIns="27432" bIns="27432" anchor="t">
            <a:spAutoFit/>
          </a:bodyPr>
          <a:lstStyle/>
          <a:p>
            <a:pPr algn="l">
              <a:lnSpc>
                <a:spcPct val="110000"/>
              </a:lnSpc>
            </a:pPr>
            <a:r>
              <a:rPr sz="1100" b="0">
                <a:solidFill>
                  <a:srgbClr val="8A82A3"/>
                </a:solidFill>
                <a:latin typeface="Avenir Next"/>
              </a:rPr>
              <a:t>Class 3–5 learning   ·   5</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6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