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Greet the principal and thank them for their time. Do not mention the product yet. Say: “We would like to talk about the children in your classrooms, and about your teachers — and listen to how you see things.”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Begin by honouring the teachers — they work hard. Then name the problem gently: the classroom does its job, but once children go home the learning rarely continues. Ask: “What do you see happening between the last bell and the next morning?” Then listen.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three columns. Pause after each and ask: “Does this match your school?” Note their exact words — they become the goals of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important slide: ask, then stay silent and listen. Take notes on maths topics, science topics, attention, confidence, parental involvement. Later in the meeting, refer back to their answers by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as what teachers and parents commonly share — not as statistics. Invite the principal to add their own causes. Do not quote numbers we do not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first: “If you could change one thing, how would you solve it?” Listen. Then go through the usual answers — each has a cost for teachers or families. End on the fourth card: what if the screen itself made children think?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this slowly. It is the heart of the meeting. Let it sit for a moment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approach before the brand: watch, think, do, unlock. Stress that the child must answer during the pause, and that a parent confirms the real-world activity — so screen time becomes active time and home joins school.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REVEAL. Only now say the name: “This is Zungga.” One sentence: short cartoon stories, the child solves the problem, then does something real at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it about them. Children gain confidence; teachers get help, not more work; families get a simple way to take part. Ask: “Which of these matters most for your school?”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story: on a hot day Rio opens a lemonade stall, spends ₹70 but earns only ₹50 — and turns to the children for help. Characters: Rio, Tara (the careful thinker), Mira (the creative one) and Thatha, the friendly grandfather. Each speaks in their own voice.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the video to play it inside the slide, with sound. Ask the principal to watch for the three pauses. Afterwards: “Would your children answer out loud here?”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it works for Class 3–5: Look builds confidence, Choose includes shy children and whole classes, Count practises real syllabus maths. After every pause the characters confirm the answer and praise the children.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Reassure that Zungga supports teachers and never replaces them. Ask which chapter they would most like to see as an episode — that becomes a pilot episode.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mission carries school into the home. Three unrelated choices at the same effort — movement, family, creative — so every child, including those who cannot do physical activity, can take part. The parent approves with a PIN and the next story unlocks.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screen and data worries directly: the app never tracks children; parents confirm activities themselves with a separate login and PIN; no ads; minimal data with parental consent, following India’s DPDP Act for children.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ask small and low-risk. Fill in the cost before the meeting. Be honest that Episode 1 is complete and the rest are being produced for the pilot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Agree a start date. Measurement respects privacy: teacher feedback forms, class participation, a count of approved missions, and children’s own drawings or sentences — reviewed with you in week 4, where we decide the next step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question, not a statement: “Which class would you like to begin with, and could we start on [date]?” Then 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principal. Offer to send the episode and a one-page pilot summary the same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8595360" y="0"/>
            <a:ext cx="3596335" cy="68580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1234440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BDBDBD"/>
                </a:solidFill>
                <a:latin typeface="Inter"/>
              </a:rPr>
              <a:t>A CONVERSATION ABOUT THE CHILDREN IN YOUR CLASSROOMS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1828800"/>
            <a:ext cx="7589520" cy="2743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800" b="0" i="0">
                <a:solidFill>
                  <a:srgbClr val="F7F7F5"/>
                </a:solidFill>
                <a:latin typeface="Instrument Serif"/>
              </a:rPr>
              <a:t>Every child in your school</a:t>
            </a:r>
          </a:p>
          <a:p>
            <a:pPr algn="l">
              <a:lnSpc>
                <a:spcPct val="95000"/>
              </a:lnSpc>
            </a:pPr>
            <a:r>
              <a:rPr sz="6800" b="0" i="0">
                <a:solidFill>
                  <a:srgbClr val="F7F7F5"/>
                </a:solidFill>
                <a:latin typeface="Instrument Serif"/>
              </a:rPr>
              <a:t>can learn to </a:t>
            </a:r>
            <a:r>
              <a:rPr sz="6800" b="0" i="1">
                <a:solidFill>
                  <a:srgbClr val="F7F7F5"/>
                </a:solidFill>
                <a:latin typeface="Instrument Serif"/>
              </a:rPr>
              <a:t>think.</a:t>
            </a:r>
          </a:p>
        </p:txBody>
      </p:sp>
      <p:sp>
        <p:nvSpPr>
          <p:cNvPr id="5" name="!!rule"/>
          <p:cNvSpPr/>
          <p:nvPr/>
        </p:nvSpPr>
        <p:spPr>
          <a:xfrm>
            <a:off x="822960" y="4343400"/>
            <a:ext cx="1280160" cy="18288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sub"/>
          <p:cNvSpPr txBox="1"/>
          <p:nvPr/>
        </p:nvSpPr>
        <p:spPr>
          <a:xfrm>
            <a:off x="822960" y="4526280"/>
            <a:ext cx="731520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BDBDBD"/>
                </a:solidFill>
                <a:latin typeface="Inter"/>
              </a:rPr>
              <a:t>How your teachers, your children and their families can make every hour of learning count.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 spc="250">
                <a:solidFill>
                  <a:srgbClr val="6E6E6E"/>
                </a:solidFill>
                <a:latin typeface="Inter"/>
              </a:rPr>
              <a:t>[SCHOOL NAME]   · 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6E6E6E"/>
                </a:solidFill>
                <a:latin typeface="Inter"/>
              </a:rPr>
              <a:t>YOUR SCHOOL TODAY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1417320"/>
            <a:ext cx="10241280" cy="2926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0" i="0">
                <a:solidFill>
                  <a:srgbClr val="111111"/>
                </a:solidFill>
                <a:latin typeface="Instrument Serif"/>
              </a:rPr>
              <a:t>Your teachers give everything</a:t>
            </a:r>
          </a:p>
          <a:p>
            <a:pPr algn="l">
              <a:lnSpc>
                <a:spcPct val="100000"/>
              </a:lnSpc>
            </a:pPr>
            <a:r>
              <a:rPr sz="5400" b="0" i="0">
                <a:solidFill>
                  <a:srgbClr val="111111"/>
                </a:solidFill>
                <a:latin typeface="Instrument Serif"/>
              </a:rPr>
              <a:t>inside the classroom.</a:t>
            </a:r>
          </a:p>
          <a:p>
            <a:pPr algn="l">
              <a:lnSpc>
                <a:spcPct val="100000"/>
              </a:lnSpc>
            </a:pPr>
            <a:r>
              <a:rPr sz="5400" b="0" i="0">
                <a:solidFill>
                  <a:srgbClr val="111111"/>
                </a:solidFill>
                <a:latin typeface="Instrument Serif"/>
              </a:rPr>
              <a:t>But learning often </a:t>
            </a:r>
            <a:r>
              <a:rPr sz="5400" b="0" i="1">
                <a:solidFill>
                  <a:srgbClr val="111111"/>
                </a:solidFill>
                <a:latin typeface="Instrument Serif"/>
              </a:rPr>
              <a:t>stops at the school gate.</a:t>
            </a:r>
          </a:p>
        </p:txBody>
      </p:sp>
      <p:sp>
        <p:nvSpPr>
          <p:cNvPr id="5" name="!!sub"/>
          <p:cNvSpPr txBox="1"/>
          <p:nvPr/>
        </p:nvSpPr>
        <p:spPr>
          <a:xfrm>
            <a:off x="841248" y="4663440"/>
            <a:ext cx="9601200" cy="8229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6E6E6E"/>
                </a:solidFill>
                <a:latin typeface="Inter"/>
              </a:rPr>
              <a:t>Between the last bell and the next morning, what happens to what the children learned today?</a:t>
            </a:r>
          </a:p>
        </p:txBody>
      </p:sp>
      <p:sp>
        <p:nvSpPr>
          <p:cNvPr id="6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6E6E6E"/>
                </a:solidFill>
                <a:latin typeface="Inter"/>
              </a:rPr>
              <a:t>Class 3–5 learning  · 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6E6E6E"/>
                </a:solidFill>
                <a:latin typeface="Inter"/>
              </a:rPr>
              <a:t>THE PROBLEM, FROM THREE SIDES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896112"/>
            <a:ext cx="103327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0" i="0">
                <a:solidFill>
                  <a:srgbClr val="111111"/>
                </a:solidFill>
                <a:latin typeface="Instrument Serif"/>
              </a:rPr>
              <a:t>Children, teachers and families all feel it</a:t>
            </a:r>
          </a:p>
        </p:txBody>
      </p:sp>
      <p:sp>
        <p:nvSpPr>
          <p:cNvPr id="5" name="!!num0"/>
          <p:cNvSpPr txBox="1"/>
          <p:nvPr/>
        </p:nvSpPr>
        <p:spPr>
          <a:xfrm>
            <a:off x="822960" y="2606040"/>
            <a:ext cx="32461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0" i="0">
                <a:solidFill>
                  <a:srgbClr val="111111"/>
                </a:solidFill>
                <a:latin typeface="Instrument Serif"/>
              </a:rPr>
              <a:t>i.</a:t>
            </a:r>
          </a:p>
        </p:txBody>
      </p:sp>
      <p:sp>
        <p:nvSpPr>
          <p:cNvPr id="6" name="!!colrule0"/>
          <p:cNvSpPr/>
          <p:nvPr/>
        </p:nvSpPr>
        <p:spPr>
          <a:xfrm>
            <a:off x="822960" y="3447288"/>
            <a:ext cx="324612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ch0"/>
          <p:cNvSpPr txBox="1"/>
          <p:nvPr/>
        </p:nvSpPr>
        <p:spPr>
          <a:xfrm>
            <a:off x="822960" y="3611880"/>
            <a:ext cx="32461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For children</a:t>
            </a:r>
          </a:p>
        </p:txBody>
      </p:sp>
      <p:sp>
        <p:nvSpPr>
          <p:cNvPr id="8" name="!!cb0"/>
          <p:cNvSpPr txBox="1"/>
          <p:nvPr/>
        </p:nvSpPr>
        <p:spPr>
          <a:xfrm>
            <a:off x="822960" y="4087368"/>
            <a:ext cx="32461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Inter"/>
              </a:rPr>
              <a:t>Attention drops quickly. Many are afraid of giving the wrong answer, so they stay quiet.</a:t>
            </a:r>
          </a:p>
        </p:txBody>
      </p:sp>
      <p:sp>
        <p:nvSpPr>
          <p:cNvPr id="9" name="!!num1"/>
          <p:cNvSpPr txBox="1"/>
          <p:nvPr/>
        </p:nvSpPr>
        <p:spPr>
          <a:xfrm>
            <a:off x="4434840" y="2606040"/>
            <a:ext cx="32461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0" i="0">
                <a:solidFill>
                  <a:srgbClr val="111111"/>
                </a:solidFill>
                <a:latin typeface="Instrument Serif"/>
              </a:rPr>
              <a:t>ii.</a:t>
            </a:r>
          </a:p>
        </p:txBody>
      </p:sp>
      <p:sp>
        <p:nvSpPr>
          <p:cNvPr id="10" name="!!colrule1"/>
          <p:cNvSpPr/>
          <p:nvPr/>
        </p:nvSpPr>
        <p:spPr>
          <a:xfrm>
            <a:off x="4434840" y="3447288"/>
            <a:ext cx="324612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ch1"/>
          <p:cNvSpPr txBox="1"/>
          <p:nvPr/>
        </p:nvSpPr>
        <p:spPr>
          <a:xfrm>
            <a:off x="4434840" y="3611880"/>
            <a:ext cx="32461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For teachers</a:t>
            </a:r>
          </a:p>
        </p:txBody>
      </p:sp>
      <p:sp>
        <p:nvSpPr>
          <p:cNvPr id="12" name="!!cb1"/>
          <p:cNvSpPr txBox="1"/>
          <p:nvPr/>
        </p:nvSpPr>
        <p:spPr>
          <a:xfrm>
            <a:off x="4434840" y="4087368"/>
            <a:ext cx="32461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Inter"/>
              </a:rPr>
              <a:t>Forty children, one syllabus, limited periods — little time to make every concept feel real.</a:t>
            </a:r>
          </a:p>
        </p:txBody>
      </p:sp>
      <p:sp>
        <p:nvSpPr>
          <p:cNvPr id="13" name="!!num2"/>
          <p:cNvSpPr txBox="1"/>
          <p:nvPr/>
        </p:nvSpPr>
        <p:spPr>
          <a:xfrm>
            <a:off x="8046720" y="2606040"/>
            <a:ext cx="32461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0" i="0">
                <a:solidFill>
                  <a:srgbClr val="111111"/>
                </a:solidFill>
                <a:latin typeface="Instrument Serif"/>
              </a:rPr>
              <a:t>iii.</a:t>
            </a:r>
          </a:p>
        </p:txBody>
      </p:sp>
      <p:sp>
        <p:nvSpPr>
          <p:cNvPr id="14" name="!!colrule2"/>
          <p:cNvSpPr/>
          <p:nvPr/>
        </p:nvSpPr>
        <p:spPr>
          <a:xfrm>
            <a:off x="8046720" y="3447288"/>
            <a:ext cx="324612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ch2"/>
          <p:cNvSpPr txBox="1"/>
          <p:nvPr/>
        </p:nvSpPr>
        <p:spPr>
          <a:xfrm>
            <a:off x="8046720" y="3611880"/>
            <a:ext cx="32461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At home</a:t>
            </a:r>
          </a:p>
        </p:txBody>
      </p:sp>
      <p:sp>
        <p:nvSpPr>
          <p:cNvPr id="16" name="!!cb2"/>
          <p:cNvSpPr txBox="1"/>
          <p:nvPr/>
        </p:nvSpPr>
        <p:spPr>
          <a:xfrm>
            <a:off x="8046720" y="4087368"/>
            <a:ext cx="32461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Inter"/>
              </a:rPr>
              <a:t>Evenings fill with screens. Parents want to help, but are unsure how, or short of time.</a:t>
            </a:r>
          </a:p>
        </p:txBody>
      </p:sp>
      <p:sp>
        <p:nvSpPr>
          <p:cNvPr id="17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6E6E6E"/>
                </a:solidFill>
                <a:latin typeface="Inter"/>
              </a:rPr>
              <a:t>Class 3–5 learning  · 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8595360" y="0"/>
            <a:ext cx="3596335" cy="68580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BDBDBD"/>
                </a:solidFill>
                <a:latin typeface="Inter"/>
              </a:rPr>
              <a:t>WE WOULD LIKE TO HEAR FROM YOU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896112"/>
            <a:ext cx="7498079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0" i="0">
                <a:solidFill>
                  <a:srgbClr val="F7F7F5"/>
                </a:solidFill>
                <a:latin typeface="Instrument Serif"/>
              </a:rPr>
              <a:t>Where do your Class 3–5 children struggle most?</a:t>
            </a:r>
          </a:p>
        </p:txBody>
      </p:sp>
      <p:sp>
        <p:nvSpPr>
          <p:cNvPr id="5" name="!!q0"/>
          <p:cNvSpPr txBox="1"/>
          <p:nvPr/>
        </p:nvSpPr>
        <p:spPr>
          <a:xfrm>
            <a:off x="822960" y="2880360"/>
            <a:ext cx="731520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F7F7F5"/>
                </a:solidFill>
                <a:latin typeface="Instrument Serif"/>
              </a:rPr>
              <a:t>01   </a:t>
            </a:r>
            <a:r>
              <a:rPr sz="1800" b="0" i="0">
                <a:solidFill>
                  <a:srgbClr val="BDBDBD"/>
                </a:solidFill>
                <a:latin typeface="Inter"/>
              </a:rPr>
              <a:t>Which subjects or topics do children find hardest?</a:t>
            </a:r>
          </a:p>
        </p:txBody>
      </p:sp>
      <p:sp>
        <p:nvSpPr>
          <p:cNvPr id="6" name="!!q1"/>
          <p:cNvSpPr txBox="1"/>
          <p:nvPr/>
        </p:nvSpPr>
        <p:spPr>
          <a:xfrm>
            <a:off x="822960" y="3593591"/>
            <a:ext cx="731520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F7F7F5"/>
                </a:solidFill>
                <a:latin typeface="Instrument Serif"/>
              </a:rPr>
              <a:t>02   </a:t>
            </a:r>
            <a:r>
              <a:rPr sz="1800" b="0" i="0">
                <a:solidFill>
                  <a:srgbClr val="BDBDBD"/>
                </a:solidFill>
                <a:latin typeface="Inter"/>
              </a:rPr>
              <a:t>When in a lesson do you see attention drop?</a:t>
            </a:r>
          </a:p>
        </p:txBody>
      </p:sp>
      <p:sp>
        <p:nvSpPr>
          <p:cNvPr id="7" name="!!q2"/>
          <p:cNvSpPr txBox="1"/>
          <p:nvPr/>
        </p:nvSpPr>
        <p:spPr>
          <a:xfrm>
            <a:off x="822960" y="4306824"/>
            <a:ext cx="731520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F7F7F5"/>
                </a:solidFill>
                <a:latin typeface="Instrument Serif"/>
              </a:rPr>
              <a:t>03   </a:t>
            </a:r>
            <a:r>
              <a:rPr sz="1800" b="0" i="0">
                <a:solidFill>
                  <a:srgbClr val="BDBDBD"/>
                </a:solidFill>
                <a:latin typeface="Inter"/>
              </a:rPr>
              <a:t>Do children use what they learn outside the book?</a:t>
            </a:r>
          </a:p>
        </p:txBody>
      </p:sp>
      <p:sp>
        <p:nvSpPr>
          <p:cNvPr id="8" name="!!q3"/>
          <p:cNvSpPr txBox="1"/>
          <p:nvPr/>
        </p:nvSpPr>
        <p:spPr>
          <a:xfrm>
            <a:off x="822960" y="5020056"/>
            <a:ext cx="731520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F7F7F5"/>
                </a:solidFill>
                <a:latin typeface="Instrument Serif"/>
              </a:rPr>
              <a:t>04   </a:t>
            </a:r>
            <a:r>
              <a:rPr sz="1800" b="0" i="0">
                <a:solidFill>
                  <a:srgbClr val="BDBDBD"/>
                </a:solidFill>
                <a:latin typeface="Inter"/>
              </a:rPr>
              <a:t>How involved are parents in learning at home?</a:t>
            </a:r>
          </a:p>
        </p:txBody>
      </p:sp>
      <p:sp>
        <p:nvSpPr>
          <p:cNvPr id="9" name="aside"/>
          <p:cNvSpPr txBox="1"/>
          <p:nvPr/>
        </p:nvSpPr>
        <p:spPr>
          <a:xfrm>
            <a:off x="9006840" y="2377440"/>
            <a:ext cx="2743200" cy="21945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 b="0" i="0">
                <a:solidFill>
                  <a:srgbClr val="F7F7F5"/>
                </a:solidFill>
                <a:latin typeface="Instrument Serif"/>
              </a:rPr>
              <a:t>“</a:t>
            </a:r>
          </a:p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BDBDBD"/>
                </a:solidFill>
                <a:latin typeface="Inter"/>
              </a:rPr>
              <a:t>Your answers shape everything we propose today.</a:t>
            </a:r>
          </a:p>
        </p:txBody>
      </p:sp>
      <p:sp>
        <p:nvSpPr>
          <p:cNvPr id="10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8A8A8A"/>
                </a:solidFill>
                <a:latin typeface="Inter"/>
              </a:rPr>
              <a:t>Class 3–5 learning  · 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6E6E6E"/>
                </a:solidFill>
                <a:latin typeface="Inter"/>
              </a:rPr>
              <a:t>WHY IT HAPPENS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896112"/>
            <a:ext cx="103327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0" i="0">
                <a:solidFill>
                  <a:srgbClr val="111111"/>
                </a:solidFill>
                <a:latin typeface="Instrument Serif"/>
              </a:rPr>
              <a:t>Four causes teachers tell us about</a:t>
            </a:r>
          </a:p>
        </p:txBody>
      </p:sp>
      <p:sp>
        <p:nvSpPr>
          <p:cNvPr id="5" name="!!cn0"/>
          <p:cNvSpPr txBox="1"/>
          <p:nvPr/>
        </p:nvSpPr>
        <p:spPr>
          <a:xfrm>
            <a:off x="822960" y="2148840"/>
            <a:ext cx="82296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0" i="0">
                <a:solidFill>
                  <a:srgbClr val="111111"/>
                </a:solidFill>
                <a:latin typeface="Instrument Serif"/>
              </a:rPr>
              <a:t>01</a:t>
            </a:r>
          </a:p>
        </p:txBody>
      </p:sp>
      <p:sp>
        <p:nvSpPr>
          <p:cNvPr id="6" name="!!ch0"/>
          <p:cNvSpPr txBox="1"/>
          <p:nvPr/>
        </p:nvSpPr>
        <p:spPr>
          <a:xfrm>
            <a:off x="1737360" y="2221992"/>
            <a:ext cx="420624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111111"/>
                </a:solidFill>
                <a:latin typeface="Inter"/>
              </a:rPr>
              <a:t>Screens are passive</a:t>
            </a:r>
          </a:p>
        </p:txBody>
      </p:sp>
      <p:sp>
        <p:nvSpPr>
          <p:cNvPr id="7" name="!!cb0"/>
          <p:cNvSpPr txBox="1"/>
          <p:nvPr/>
        </p:nvSpPr>
        <p:spPr>
          <a:xfrm>
            <a:off x="1737360" y="2697480"/>
            <a:ext cx="42062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Inter"/>
              </a:rPr>
              <a:t>Children watch for hours, but nothing asks them to think.</a:t>
            </a:r>
          </a:p>
        </p:txBody>
      </p:sp>
      <p:sp>
        <p:nvSpPr>
          <p:cNvPr id="8" name="!!cn1"/>
          <p:cNvSpPr txBox="1"/>
          <p:nvPr/>
        </p:nvSpPr>
        <p:spPr>
          <a:xfrm>
            <a:off x="6217920" y="2148840"/>
            <a:ext cx="82296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0" i="0">
                <a:solidFill>
                  <a:srgbClr val="111111"/>
                </a:solidFill>
                <a:latin typeface="Instrument Serif"/>
              </a:rPr>
              <a:t>02</a:t>
            </a:r>
          </a:p>
        </p:txBody>
      </p:sp>
      <p:sp>
        <p:nvSpPr>
          <p:cNvPr id="9" name="!!ch1"/>
          <p:cNvSpPr txBox="1"/>
          <p:nvPr/>
        </p:nvSpPr>
        <p:spPr>
          <a:xfrm>
            <a:off x="7132320" y="2221992"/>
            <a:ext cx="420624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111111"/>
                </a:solidFill>
                <a:latin typeface="Inter"/>
              </a:rPr>
              <a:t>Learning stays in the book</a:t>
            </a:r>
          </a:p>
        </p:txBody>
      </p:sp>
      <p:sp>
        <p:nvSpPr>
          <p:cNvPr id="10" name="!!cb1"/>
          <p:cNvSpPr txBox="1"/>
          <p:nvPr/>
        </p:nvSpPr>
        <p:spPr>
          <a:xfrm>
            <a:off x="7132320" y="2697480"/>
            <a:ext cx="42062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Inter"/>
              </a:rPr>
              <a:t>Concepts rarely meet the child’s own world — money, shops, home.</a:t>
            </a:r>
          </a:p>
        </p:txBody>
      </p:sp>
      <p:sp>
        <p:nvSpPr>
          <p:cNvPr id="11" name="!!cn2"/>
          <p:cNvSpPr txBox="1"/>
          <p:nvPr/>
        </p:nvSpPr>
        <p:spPr>
          <a:xfrm>
            <a:off x="822960" y="3931920"/>
            <a:ext cx="82296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0" i="0">
                <a:solidFill>
                  <a:srgbClr val="111111"/>
                </a:solidFill>
                <a:latin typeface="Instrument Serif"/>
              </a:rPr>
              <a:t>03</a:t>
            </a:r>
          </a:p>
        </p:txBody>
      </p:sp>
      <p:sp>
        <p:nvSpPr>
          <p:cNvPr id="12" name="!!ch2"/>
          <p:cNvSpPr txBox="1"/>
          <p:nvPr/>
        </p:nvSpPr>
        <p:spPr>
          <a:xfrm>
            <a:off x="1737360" y="4005072"/>
            <a:ext cx="420624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111111"/>
                </a:solidFill>
                <a:latin typeface="Inter"/>
              </a:rPr>
              <a:t>Practice feels like a chore</a:t>
            </a:r>
          </a:p>
        </p:txBody>
      </p:sp>
      <p:sp>
        <p:nvSpPr>
          <p:cNvPr id="13" name="!!cb2"/>
          <p:cNvSpPr txBox="1"/>
          <p:nvPr/>
        </p:nvSpPr>
        <p:spPr>
          <a:xfrm>
            <a:off x="1737360" y="4480559"/>
            <a:ext cx="42062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Inter"/>
              </a:rPr>
              <a:t>Repetition without a story loses a young child quickly.</a:t>
            </a:r>
          </a:p>
        </p:txBody>
      </p:sp>
      <p:sp>
        <p:nvSpPr>
          <p:cNvPr id="14" name="!!cn3"/>
          <p:cNvSpPr txBox="1"/>
          <p:nvPr/>
        </p:nvSpPr>
        <p:spPr>
          <a:xfrm>
            <a:off x="6217920" y="3931920"/>
            <a:ext cx="82296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0" i="0">
                <a:solidFill>
                  <a:srgbClr val="111111"/>
                </a:solidFill>
                <a:latin typeface="Instrument Serif"/>
              </a:rPr>
              <a:t>04</a:t>
            </a:r>
          </a:p>
        </p:txBody>
      </p:sp>
      <p:sp>
        <p:nvSpPr>
          <p:cNvPr id="15" name="!!ch3"/>
          <p:cNvSpPr txBox="1"/>
          <p:nvPr/>
        </p:nvSpPr>
        <p:spPr>
          <a:xfrm>
            <a:off x="7132320" y="4005072"/>
            <a:ext cx="420624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111111"/>
                </a:solidFill>
                <a:latin typeface="Inter"/>
              </a:rPr>
              <a:t>Home is cut off from school</a:t>
            </a:r>
          </a:p>
        </p:txBody>
      </p:sp>
      <p:sp>
        <p:nvSpPr>
          <p:cNvPr id="16" name="!!cb3"/>
          <p:cNvSpPr txBox="1"/>
          <p:nvPr/>
        </p:nvSpPr>
        <p:spPr>
          <a:xfrm>
            <a:off x="7132320" y="4480559"/>
            <a:ext cx="42062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Inter"/>
              </a:rPr>
              <a:t>Parents are willing, but have no simple way to join in.</a:t>
            </a:r>
          </a:p>
        </p:txBody>
      </p:sp>
      <p:sp>
        <p:nvSpPr>
          <p:cNvPr id="17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6E6E6E"/>
                </a:solidFill>
                <a:latin typeface="Inter"/>
              </a:rPr>
              <a:t>Class 3–5 learning  ·  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6E6E6E"/>
                </a:solidFill>
                <a:latin typeface="Inter"/>
              </a:rPr>
              <a:t>THE QUESTION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896112"/>
            <a:ext cx="103327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0" i="0">
                <a:solidFill>
                  <a:srgbClr val="111111"/>
                </a:solidFill>
                <a:latin typeface="Instrument Serif"/>
              </a:rPr>
              <a:t>How would your school solve this?</a:t>
            </a:r>
          </a:p>
        </p:txBody>
      </p:sp>
      <p:sp>
        <p:nvSpPr>
          <p:cNvPr id="5" name="!!opt0"/>
          <p:cNvSpPr/>
          <p:nvPr/>
        </p:nvSpPr>
        <p:spPr>
          <a:xfrm>
            <a:off x="822960" y="2194560"/>
            <a:ext cx="25146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"/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111111"/>
                </a:solidFill>
                <a:latin typeface="Instrument Serif"/>
              </a:rPr>
              <a:t>01</a:t>
            </a:r>
          </a:p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Less screen time?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Inter"/>
              </a:rPr>
              <a:t>Hard to enforce at home.</a:t>
            </a:r>
          </a:p>
        </p:txBody>
      </p:sp>
      <p:sp>
        <p:nvSpPr>
          <p:cNvPr id="6" name="!!opt1"/>
          <p:cNvSpPr/>
          <p:nvPr/>
        </p:nvSpPr>
        <p:spPr>
          <a:xfrm>
            <a:off x="3520440" y="2194560"/>
            <a:ext cx="25146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"/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111111"/>
                </a:solidFill>
                <a:latin typeface="Instrument Serif"/>
              </a:rPr>
              <a:t>02</a:t>
            </a:r>
          </a:p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More homework?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Inter"/>
              </a:rPr>
              <a:t>More pressure, not more interest.</a:t>
            </a:r>
          </a:p>
        </p:txBody>
      </p:sp>
      <p:sp>
        <p:nvSpPr>
          <p:cNvPr id="7" name="!!opt2"/>
          <p:cNvSpPr/>
          <p:nvPr/>
        </p:nvSpPr>
        <p:spPr>
          <a:xfrm>
            <a:off x="6217920" y="2194560"/>
            <a:ext cx="25146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"/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111111"/>
                </a:solidFill>
                <a:latin typeface="Instrument Serif"/>
              </a:rPr>
              <a:t>03</a:t>
            </a:r>
          </a:p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More drills in class?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Inter"/>
              </a:rPr>
              <a:t>Periods are already full.</a:t>
            </a:r>
          </a:p>
        </p:txBody>
      </p:sp>
      <p:sp>
        <p:nvSpPr>
          <p:cNvPr id="8" name="!!opt3"/>
          <p:cNvSpPr/>
          <p:nvPr/>
        </p:nvSpPr>
        <p:spPr>
          <a:xfrm>
            <a:off x="8915400" y="2194560"/>
            <a:ext cx="2514600" cy="30175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"/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F7F7F5"/>
                </a:solidFill>
                <a:latin typeface="Instrument Serif"/>
              </a:rPr>
              <a:t>04</a:t>
            </a:r>
          </a:p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F7F7F5"/>
                </a:solidFill>
                <a:latin typeface="Inter"/>
              </a:rPr>
              <a:t>Or make screen time make children think?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BDBDBD"/>
                </a:solidFill>
                <a:latin typeface="Inter"/>
              </a:rPr>
              <a:t>Turn the screen into a reason to learn.</a:t>
            </a:r>
          </a:p>
        </p:txBody>
      </p:sp>
      <p:sp>
        <p:nvSpPr>
          <p:cNvPr id="9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6E6E6E"/>
                </a:solidFill>
                <a:latin typeface="Inter"/>
              </a:rPr>
              <a:t>Class 3–5 learning  ·  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head"/>
          <p:cNvSpPr txBox="1"/>
          <p:nvPr/>
        </p:nvSpPr>
        <p:spPr>
          <a:xfrm>
            <a:off x="822960" y="1828800"/>
            <a:ext cx="10607040" cy="2743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0" i="0">
                <a:solidFill>
                  <a:srgbClr val="F7F7F5"/>
                </a:solidFill>
                <a:latin typeface="Instrument Serif"/>
              </a:rPr>
              <a:t>Children don’t lack curiosity.</a:t>
            </a:r>
          </a:p>
          <a:p>
            <a:pPr algn="l">
              <a:lnSpc>
                <a:spcPct val="100000"/>
              </a:lnSpc>
            </a:pPr>
            <a:r>
              <a:rPr sz="6600" b="0" i="0">
                <a:solidFill>
                  <a:srgbClr val="F7F7F5"/>
                </a:solidFill>
                <a:latin typeface="Instrument Serif"/>
              </a:rPr>
              <a:t>They lack a </a:t>
            </a:r>
            <a:r>
              <a:rPr sz="6600" b="0" i="1">
                <a:solidFill>
                  <a:srgbClr val="F7F7F5"/>
                </a:solidFill>
                <a:latin typeface="Instrument Serif"/>
              </a:rPr>
              <a:t>reason to lean in.</a:t>
            </a:r>
          </a:p>
        </p:txBody>
      </p:sp>
      <p:sp>
        <p:nvSpPr>
          <p:cNvPr id="4" name="!!rule"/>
          <p:cNvSpPr/>
          <p:nvPr/>
        </p:nvSpPr>
        <p:spPr>
          <a:xfrm>
            <a:off x="822960" y="4251960"/>
            <a:ext cx="1280160" cy="18288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sub"/>
          <p:cNvSpPr txBox="1"/>
          <p:nvPr/>
        </p:nvSpPr>
        <p:spPr>
          <a:xfrm>
            <a:off x="822960" y="4434840"/>
            <a:ext cx="914400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BDBDBD"/>
                </a:solidFill>
                <a:latin typeface="Inter"/>
              </a:rPr>
              <a:t>Give a child a character who needs their help — and the child starts to think.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6E6E6E"/>
                </a:solidFill>
                <a:latin typeface="Inter"/>
              </a:rPr>
              <a:t>A DIFFERENT KIND OF SCREEN TIME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896112"/>
            <a:ext cx="103327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0" i="0">
                <a:solidFill>
                  <a:srgbClr val="111111"/>
                </a:solidFill>
                <a:latin typeface="Instrument Serif"/>
              </a:rPr>
              <a:t>Watch.  Think.  Do.  Unlock.</a:t>
            </a:r>
          </a:p>
        </p:txBody>
      </p:sp>
      <p:sp>
        <p:nvSpPr>
          <p:cNvPr id="5" name="!!num0"/>
          <p:cNvSpPr txBox="1"/>
          <p:nvPr/>
        </p:nvSpPr>
        <p:spPr>
          <a:xfrm>
            <a:off x="822960" y="2148840"/>
            <a:ext cx="242316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0" i="0">
                <a:solidFill>
                  <a:srgbClr val="111111"/>
                </a:solidFill>
                <a:latin typeface="Instrument Serif"/>
              </a:rPr>
              <a:t>01</a:t>
            </a:r>
          </a:p>
        </p:txBody>
      </p:sp>
      <p:sp>
        <p:nvSpPr>
          <p:cNvPr id="6" name="!!colrule0"/>
          <p:cNvSpPr/>
          <p:nvPr/>
        </p:nvSpPr>
        <p:spPr>
          <a:xfrm>
            <a:off x="822960" y="2990088"/>
            <a:ext cx="242316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ch0"/>
          <p:cNvSpPr txBox="1"/>
          <p:nvPr/>
        </p:nvSpPr>
        <p:spPr>
          <a:xfrm>
            <a:off x="822960" y="3154680"/>
            <a:ext cx="242316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Watch</a:t>
            </a:r>
          </a:p>
        </p:txBody>
      </p:sp>
      <p:sp>
        <p:nvSpPr>
          <p:cNvPr id="8" name="!!cb0"/>
          <p:cNvSpPr txBox="1"/>
          <p:nvPr/>
        </p:nvSpPr>
        <p:spPr>
          <a:xfrm>
            <a:off x="822960" y="3630168"/>
            <a:ext cx="242316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Inter"/>
              </a:rPr>
              <a:t>A short cartoon story where a character faces a real problem.</a:t>
            </a:r>
          </a:p>
        </p:txBody>
      </p:sp>
      <p:sp>
        <p:nvSpPr>
          <p:cNvPr id="9" name="!!num1"/>
          <p:cNvSpPr txBox="1"/>
          <p:nvPr/>
        </p:nvSpPr>
        <p:spPr>
          <a:xfrm>
            <a:off x="3520440" y="2148840"/>
            <a:ext cx="242316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0" i="0">
                <a:solidFill>
                  <a:srgbClr val="111111"/>
                </a:solidFill>
                <a:latin typeface="Instrument Serif"/>
              </a:rPr>
              <a:t>02</a:t>
            </a:r>
          </a:p>
        </p:txBody>
      </p:sp>
      <p:sp>
        <p:nvSpPr>
          <p:cNvPr id="10" name="!!colrule1"/>
          <p:cNvSpPr/>
          <p:nvPr/>
        </p:nvSpPr>
        <p:spPr>
          <a:xfrm>
            <a:off x="3520440" y="2990088"/>
            <a:ext cx="242316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ch1"/>
          <p:cNvSpPr txBox="1"/>
          <p:nvPr/>
        </p:nvSpPr>
        <p:spPr>
          <a:xfrm>
            <a:off x="3520440" y="3154680"/>
            <a:ext cx="242316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Think</a:t>
            </a:r>
          </a:p>
        </p:txBody>
      </p:sp>
      <p:sp>
        <p:nvSpPr>
          <p:cNvPr id="12" name="!!cb1"/>
          <p:cNvSpPr txBox="1"/>
          <p:nvPr/>
        </p:nvSpPr>
        <p:spPr>
          <a:xfrm>
            <a:off x="3520440" y="3630168"/>
            <a:ext cx="242316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Inter"/>
              </a:rPr>
              <a:t>The story pauses. The child looks, chooses or counts — out loud.</a:t>
            </a:r>
          </a:p>
        </p:txBody>
      </p:sp>
      <p:sp>
        <p:nvSpPr>
          <p:cNvPr id="13" name="!!num2"/>
          <p:cNvSpPr txBox="1"/>
          <p:nvPr/>
        </p:nvSpPr>
        <p:spPr>
          <a:xfrm>
            <a:off x="6217920" y="2148840"/>
            <a:ext cx="242316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0" i="0">
                <a:solidFill>
                  <a:srgbClr val="111111"/>
                </a:solidFill>
                <a:latin typeface="Instrument Serif"/>
              </a:rPr>
              <a:t>03</a:t>
            </a:r>
          </a:p>
        </p:txBody>
      </p:sp>
      <p:sp>
        <p:nvSpPr>
          <p:cNvPr id="14" name="!!colrule2"/>
          <p:cNvSpPr/>
          <p:nvPr/>
        </p:nvSpPr>
        <p:spPr>
          <a:xfrm>
            <a:off x="6217920" y="2990088"/>
            <a:ext cx="242316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ch2"/>
          <p:cNvSpPr txBox="1"/>
          <p:nvPr/>
        </p:nvSpPr>
        <p:spPr>
          <a:xfrm>
            <a:off x="6217920" y="3154680"/>
            <a:ext cx="242316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Do</a:t>
            </a:r>
          </a:p>
        </p:txBody>
      </p:sp>
      <p:sp>
        <p:nvSpPr>
          <p:cNvPr id="16" name="!!cb2"/>
          <p:cNvSpPr txBox="1"/>
          <p:nvPr/>
        </p:nvSpPr>
        <p:spPr>
          <a:xfrm>
            <a:off x="6217920" y="3630168"/>
            <a:ext cx="242316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Inter"/>
              </a:rPr>
              <a:t>A real-world mission at home: move, help the family, or create.</a:t>
            </a:r>
          </a:p>
        </p:txBody>
      </p:sp>
      <p:sp>
        <p:nvSpPr>
          <p:cNvPr id="17" name="!!num3"/>
          <p:cNvSpPr txBox="1"/>
          <p:nvPr/>
        </p:nvSpPr>
        <p:spPr>
          <a:xfrm>
            <a:off x="8915400" y="2148840"/>
            <a:ext cx="242316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0" i="0">
                <a:solidFill>
                  <a:srgbClr val="111111"/>
                </a:solidFill>
                <a:latin typeface="Instrument Serif"/>
              </a:rPr>
              <a:t>04</a:t>
            </a:r>
          </a:p>
        </p:txBody>
      </p:sp>
      <p:sp>
        <p:nvSpPr>
          <p:cNvPr id="18" name="!!colrule3"/>
          <p:cNvSpPr/>
          <p:nvPr/>
        </p:nvSpPr>
        <p:spPr>
          <a:xfrm>
            <a:off x="8915400" y="2990088"/>
            <a:ext cx="242316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ch3"/>
          <p:cNvSpPr txBox="1"/>
          <p:nvPr/>
        </p:nvSpPr>
        <p:spPr>
          <a:xfrm>
            <a:off x="8915400" y="3154680"/>
            <a:ext cx="242316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Unlock</a:t>
            </a:r>
          </a:p>
        </p:txBody>
      </p:sp>
      <p:sp>
        <p:nvSpPr>
          <p:cNvPr id="20" name="!!cb3"/>
          <p:cNvSpPr txBox="1"/>
          <p:nvPr/>
        </p:nvSpPr>
        <p:spPr>
          <a:xfrm>
            <a:off x="8915400" y="3630168"/>
            <a:ext cx="242316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Inter"/>
              </a:rPr>
              <a:t>A grown-up confirms with a PIN, and the next story opens.</a:t>
            </a:r>
          </a:p>
        </p:txBody>
      </p:sp>
      <p:sp>
        <p:nvSpPr>
          <p:cNvPr id="21" name="!!sub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1">
                <a:solidFill>
                  <a:srgbClr val="111111"/>
                </a:solidFill>
                <a:latin typeface="Instrument Serif"/>
              </a:rPr>
              <a:t>The screen becomes the start of learning — not the end of it.</a:t>
            </a:r>
          </a:p>
        </p:txBody>
      </p:sp>
      <p:sp>
        <p:nvSpPr>
          <p:cNvPr id="22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6E6E6E"/>
                </a:solidFill>
                <a:latin typeface="Inter"/>
              </a:rPr>
              <a:t>Class 3–5 learning  ·  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400">
                <a:solidFill>
                  <a:srgbClr val="BDBDBD"/>
                </a:solidFill>
                <a:latin typeface="Inter"/>
              </a:rPr>
              <a:t>THAT IS WHY WE BUILT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1965960"/>
            <a:ext cx="10515600" cy="20116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0" b="0" i="0">
                <a:solidFill>
                  <a:srgbClr val="F7F7F5"/>
                </a:solidFill>
                <a:latin typeface="Instrument Serif"/>
              </a:rPr>
              <a:t>Zungga</a:t>
            </a:r>
          </a:p>
        </p:txBody>
      </p:sp>
      <p:sp>
        <p:nvSpPr>
          <p:cNvPr id="5" name="!!rule"/>
          <p:cNvSpPr/>
          <p:nvPr/>
        </p:nvSpPr>
        <p:spPr>
          <a:xfrm>
            <a:off x="5458968" y="4224528"/>
            <a:ext cx="1280160" cy="18288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sub"/>
          <p:cNvSpPr txBox="1"/>
          <p:nvPr/>
        </p:nvSpPr>
        <p:spPr>
          <a:xfrm>
            <a:off x="1737360" y="4434840"/>
            <a:ext cx="868680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>
                <a:solidFill>
                  <a:srgbClr val="BDBDBD"/>
                </a:solidFill>
                <a:latin typeface="Inter"/>
              </a:rPr>
              <a:t>Short cartoon stories where the child solves the problem — and then does something real.</a:t>
            </a:r>
          </a:p>
        </p:txBody>
      </p:sp>
      <p:sp>
        <p:nvSpPr>
          <p:cNvPr id="7" name="tag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 spc="400">
                <a:solidFill>
                  <a:srgbClr val="6E6E6E"/>
                </a:solidFill>
                <a:latin typeface="Inter"/>
              </a:rPr>
              <a:t>LEARN   ·   CREATE   ·   GROW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6E6E6E"/>
                </a:solidFill>
                <a:latin typeface="Inter"/>
              </a:rPr>
              <a:t>WHAT IT MEANS FOR YOUR SCHOOL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896112"/>
            <a:ext cx="103327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0" i="0">
                <a:solidFill>
                  <a:srgbClr val="111111"/>
                </a:solidFill>
                <a:latin typeface="Instrument Serif"/>
              </a:rPr>
              <a:t>Built for your children, your teachers and your families</a:t>
            </a:r>
          </a:p>
        </p:txBody>
      </p:sp>
      <p:sp>
        <p:nvSpPr>
          <p:cNvPr id="5" name="!!num0"/>
          <p:cNvSpPr txBox="1"/>
          <p:nvPr/>
        </p:nvSpPr>
        <p:spPr>
          <a:xfrm>
            <a:off x="822960" y="2606040"/>
            <a:ext cx="32461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0" i="0">
                <a:solidFill>
                  <a:srgbClr val="111111"/>
                </a:solidFill>
                <a:latin typeface="Instrument Serif"/>
              </a:rPr>
              <a:t>i.</a:t>
            </a:r>
          </a:p>
        </p:txBody>
      </p:sp>
      <p:sp>
        <p:nvSpPr>
          <p:cNvPr id="6" name="!!colrule0"/>
          <p:cNvSpPr/>
          <p:nvPr/>
        </p:nvSpPr>
        <p:spPr>
          <a:xfrm>
            <a:off x="822960" y="3447288"/>
            <a:ext cx="324612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ch0"/>
          <p:cNvSpPr txBox="1"/>
          <p:nvPr/>
        </p:nvSpPr>
        <p:spPr>
          <a:xfrm>
            <a:off x="822960" y="3611880"/>
            <a:ext cx="32461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Children</a:t>
            </a:r>
          </a:p>
        </p:txBody>
      </p:sp>
      <p:sp>
        <p:nvSpPr>
          <p:cNvPr id="8" name="!!cb0"/>
          <p:cNvSpPr txBox="1"/>
          <p:nvPr/>
        </p:nvSpPr>
        <p:spPr>
          <a:xfrm>
            <a:off x="822960" y="4087368"/>
            <a:ext cx="32461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Inter"/>
              </a:rPr>
              <a:t>Speak up without fear — every answer is welcomed. Learn money, maths and science by solving a story.</a:t>
            </a:r>
          </a:p>
        </p:txBody>
      </p:sp>
      <p:sp>
        <p:nvSpPr>
          <p:cNvPr id="9" name="!!num1"/>
          <p:cNvSpPr txBox="1"/>
          <p:nvPr/>
        </p:nvSpPr>
        <p:spPr>
          <a:xfrm>
            <a:off x="4434840" y="2606040"/>
            <a:ext cx="32461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0" i="0">
                <a:solidFill>
                  <a:srgbClr val="111111"/>
                </a:solidFill>
                <a:latin typeface="Instrument Serif"/>
              </a:rPr>
              <a:t>ii.</a:t>
            </a:r>
          </a:p>
        </p:txBody>
      </p:sp>
      <p:sp>
        <p:nvSpPr>
          <p:cNvPr id="10" name="!!colrule1"/>
          <p:cNvSpPr/>
          <p:nvPr/>
        </p:nvSpPr>
        <p:spPr>
          <a:xfrm>
            <a:off x="4434840" y="3447288"/>
            <a:ext cx="324612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ch1"/>
          <p:cNvSpPr txBox="1"/>
          <p:nvPr/>
        </p:nvSpPr>
        <p:spPr>
          <a:xfrm>
            <a:off x="4434840" y="3611880"/>
            <a:ext cx="32461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Teachers</a:t>
            </a:r>
          </a:p>
        </p:txBody>
      </p:sp>
      <p:sp>
        <p:nvSpPr>
          <p:cNvPr id="12" name="!!cb1"/>
          <p:cNvSpPr txBox="1"/>
          <p:nvPr/>
        </p:nvSpPr>
        <p:spPr>
          <a:xfrm>
            <a:off x="4434840" y="4087368"/>
            <a:ext cx="32461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Inter"/>
              </a:rPr>
              <a:t>A ready 5-minute lesson starter. The whole class answers together. No extra preparation.</a:t>
            </a:r>
          </a:p>
        </p:txBody>
      </p:sp>
      <p:sp>
        <p:nvSpPr>
          <p:cNvPr id="13" name="!!num2"/>
          <p:cNvSpPr txBox="1"/>
          <p:nvPr/>
        </p:nvSpPr>
        <p:spPr>
          <a:xfrm>
            <a:off x="8046720" y="2606040"/>
            <a:ext cx="32461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0" i="0">
                <a:solidFill>
                  <a:srgbClr val="111111"/>
                </a:solidFill>
                <a:latin typeface="Instrument Serif"/>
              </a:rPr>
              <a:t>iii.</a:t>
            </a:r>
          </a:p>
        </p:txBody>
      </p:sp>
      <p:sp>
        <p:nvSpPr>
          <p:cNvPr id="14" name="!!colrule2"/>
          <p:cNvSpPr/>
          <p:nvPr/>
        </p:nvSpPr>
        <p:spPr>
          <a:xfrm>
            <a:off x="8046720" y="3447288"/>
            <a:ext cx="324612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ch2"/>
          <p:cNvSpPr txBox="1"/>
          <p:nvPr/>
        </p:nvSpPr>
        <p:spPr>
          <a:xfrm>
            <a:off x="8046720" y="3611880"/>
            <a:ext cx="32461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Families</a:t>
            </a:r>
          </a:p>
        </p:txBody>
      </p:sp>
      <p:sp>
        <p:nvSpPr>
          <p:cNvPr id="16" name="!!cb2"/>
          <p:cNvSpPr txBox="1"/>
          <p:nvPr/>
        </p:nvSpPr>
        <p:spPr>
          <a:xfrm>
            <a:off x="8046720" y="4087368"/>
            <a:ext cx="32461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Inter"/>
              </a:rPr>
              <a:t>One small mission each evening. Parents join learning in minutes, and see the progress.</a:t>
            </a:r>
          </a:p>
        </p:txBody>
      </p:sp>
      <p:sp>
        <p:nvSpPr>
          <p:cNvPr id="17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6E6E6E"/>
                </a:solidFill>
                <a:latin typeface="Inter"/>
              </a:rPr>
              <a:t>Zungga  ·  School pilot proposal  ·  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8595360" y="0"/>
            <a:ext cx="3596335" cy="68580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phone_frame"/>
          <p:cNvSpPr/>
          <p:nvPr/>
        </p:nvSpPr>
        <p:spPr>
          <a:xfrm>
            <a:off x="9034272" y="713232"/>
            <a:ext cx="3054096" cy="5329936"/>
          </a:xfrm>
          <a:prstGeom prst="roundRect">
            <a:avLst>
              <a:gd name="adj" fmla="val 7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!!phone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777240"/>
            <a:ext cx="2926080" cy="5201920"/>
          </a:xfrm>
          <a:prstGeom prst="rect">
            <a:avLst/>
          </a:prstGeom>
        </p:spPr>
      </p:pic>
      <p:sp>
        <p:nvSpPr>
          <p:cNvPr id="5" name="!!kicker"/>
          <p:cNvSpPr txBox="1"/>
          <p:nvPr/>
        </p:nvSpPr>
        <p:spPr>
          <a:xfrm>
            <a:off x="822960" y="1051560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BDBDBD"/>
                </a:solidFill>
                <a:latin typeface="Inter"/>
              </a:rPr>
              <a:t>EPISODE 1 · READY TODAY</a:t>
            </a:r>
          </a:p>
        </p:txBody>
      </p:sp>
      <p:sp>
        <p:nvSpPr>
          <p:cNvPr id="6" name="!!head"/>
          <p:cNvSpPr txBox="1"/>
          <p:nvPr/>
        </p:nvSpPr>
        <p:spPr>
          <a:xfrm>
            <a:off x="822960" y="1371600"/>
            <a:ext cx="7498079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0" i="0">
                <a:solidFill>
                  <a:srgbClr val="F7F7F5"/>
                </a:solidFill>
                <a:latin typeface="Instrument Serif"/>
              </a:rPr>
              <a:t>Rio’s Lemonade Stall</a:t>
            </a:r>
          </a:p>
        </p:txBody>
      </p:sp>
      <p:sp>
        <p:nvSpPr>
          <p:cNvPr id="7" name="!!fk0"/>
          <p:cNvSpPr txBox="1"/>
          <p:nvPr/>
        </p:nvSpPr>
        <p:spPr>
          <a:xfrm>
            <a:off x="822960" y="2743200"/>
            <a:ext cx="173736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50">
                <a:solidFill>
                  <a:srgbClr val="6E6E6E"/>
                </a:solidFill>
                <a:latin typeface="Inter"/>
              </a:rPr>
              <a:t>CLASS</a:t>
            </a:r>
          </a:p>
        </p:txBody>
      </p:sp>
      <p:sp>
        <p:nvSpPr>
          <p:cNvPr id="8" name="!!fv0"/>
          <p:cNvSpPr txBox="1"/>
          <p:nvPr/>
        </p:nvSpPr>
        <p:spPr>
          <a:xfrm>
            <a:off x="2560320" y="2743200"/>
            <a:ext cx="548640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F7F7F5"/>
                </a:solidFill>
                <a:latin typeface="Inter"/>
              </a:rPr>
              <a:t>3 – 5</a:t>
            </a:r>
          </a:p>
        </p:txBody>
      </p:sp>
      <p:sp>
        <p:nvSpPr>
          <p:cNvPr id="9" name="!!fr0"/>
          <p:cNvSpPr/>
          <p:nvPr/>
        </p:nvSpPr>
        <p:spPr>
          <a:xfrm>
            <a:off x="822960" y="3255264"/>
            <a:ext cx="7040880" cy="1828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k1"/>
          <p:cNvSpPr txBox="1"/>
          <p:nvPr/>
        </p:nvSpPr>
        <p:spPr>
          <a:xfrm>
            <a:off x="822960" y="3310128"/>
            <a:ext cx="173736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50">
                <a:solidFill>
                  <a:srgbClr val="6E6E6E"/>
                </a:solidFill>
                <a:latin typeface="Inter"/>
              </a:rPr>
              <a:t>SUBJECT</a:t>
            </a:r>
          </a:p>
        </p:txBody>
      </p:sp>
      <p:sp>
        <p:nvSpPr>
          <p:cNvPr id="11" name="!!fv1"/>
          <p:cNvSpPr txBox="1"/>
          <p:nvPr/>
        </p:nvSpPr>
        <p:spPr>
          <a:xfrm>
            <a:off x="2560320" y="3310128"/>
            <a:ext cx="548640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F7F7F5"/>
                </a:solidFill>
                <a:latin typeface="Inter"/>
              </a:rPr>
              <a:t>Maths · Money</a:t>
            </a:r>
          </a:p>
        </p:txBody>
      </p:sp>
      <p:sp>
        <p:nvSpPr>
          <p:cNvPr id="12" name="!!fr1"/>
          <p:cNvSpPr/>
          <p:nvPr/>
        </p:nvSpPr>
        <p:spPr>
          <a:xfrm>
            <a:off x="822960" y="3822191"/>
            <a:ext cx="7040880" cy="1828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fk2"/>
          <p:cNvSpPr txBox="1"/>
          <p:nvPr/>
        </p:nvSpPr>
        <p:spPr>
          <a:xfrm>
            <a:off x="822960" y="3877056"/>
            <a:ext cx="173736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50">
                <a:solidFill>
                  <a:srgbClr val="6E6E6E"/>
                </a:solidFill>
                <a:latin typeface="Inter"/>
              </a:rPr>
              <a:t>CONCEPTS</a:t>
            </a:r>
          </a:p>
        </p:txBody>
      </p:sp>
      <p:sp>
        <p:nvSpPr>
          <p:cNvPr id="14" name="!!fv2"/>
          <p:cNvSpPr txBox="1"/>
          <p:nvPr/>
        </p:nvSpPr>
        <p:spPr>
          <a:xfrm>
            <a:off x="2560320" y="3877056"/>
            <a:ext cx="548640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F7F7F5"/>
                </a:solidFill>
                <a:latin typeface="Inter"/>
              </a:rPr>
              <a:t>Spent and earned · Profit and loss</a:t>
            </a:r>
          </a:p>
        </p:txBody>
      </p:sp>
      <p:sp>
        <p:nvSpPr>
          <p:cNvPr id="15" name="!!fr2"/>
          <p:cNvSpPr/>
          <p:nvPr/>
        </p:nvSpPr>
        <p:spPr>
          <a:xfrm>
            <a:off x="822960" y="4389120"/>
            <a:ext cx="7040880" cy="1828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fk3"/>
          <p:cNvSpPr txBox="1"/>
          <p:nvPr/>
        </p:nvSpPr>
        <p:spPr>
          <a:xfrm>
            <a:off x="822960" y="4443983"/>
            <a:ext cx="173736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50">
                <a:solidFill>
                  <a:srgbClr val="6E6E6E"/>
                </a:solidFill>
                <a:latin typeface="Inter"/>
              </a:rPr>
              <a:t>LENGTH</a:t>
            </a:r>
          </a:p>
        </p:txBody>
      </p:sp>
      <p:sp>
        <p:nvSpPr>
          <p:cNvPr id="17" name="!!fv3"/>
          <p:cNvSpPr txBox="1"/>
          <p:nvPr/>
        </p:nvSpPr>
        <p:spPr>
          <a:xfrm>
            <a:off x="2560320" y="4443983"/>
            <a:ext cx="548640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F7F7F5"/>
                </a:solidFill>
                <a:latin typeface="Inter"/>
              </a:rPr>
              <a:t>3 minutes 18 seconds</a:t>
            </a:r>
          </a:p>
        </p:txBody>
      </p:sp>
      <p:sp>
        <p:nvSpPr>
          <p:cNvPr id="18" name="!!fr3"/>
          <p:cNvSpPr/>
          <p:nvPr/>
        </p:nvSpPr>
        <p:spPr>
          <a:xfrm>
            <a:off x="822960" y="4956048"/>
            <a:ext cx="7040880" cy="1828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fk4"/>
          <p:cNvSpPr txBox="1"/>
          <p:nvPr/>
        </p:nvSpPr>
        <p:spPr>
          <a:xfrm>
            <a:off x="822960" y="5010912"/>
            <a:ext cx="173736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50">
                <a:solidFill>
                  <a:srgbClr val="6E6E6E"/>
                </a:solidFill>
                <a:latin typeface="Inter"/>
              </a:rPr>
              <a:t>BOARDS</a:t>
            </a:r>
          </a:p>
        </p:txBody>
      </p:sp>
      <p:sp>
        <p:nvSpPr>
          <p:cNvPr id="20" name="!!fv4"/>
          <p:cNvSpPr txBox="1"/>
          <p:nvPr/>
        </p:nvSpPr>
        <p:spPr>
          <a:xfrm>
            <a:off x="2560320" y="5010912"/>
            <a:ext cx="548640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F7F7F5"/>
                </a:solidFill>
                <a:latin typeface="Inter"/>
              </a:rPr>
              <a:t>Tamil Nadu &amp; Karnataka · English</a:t>
            </a:r>
          </a:p>
        </p:txBody>
      </p:sp>
      <p:sp>
        <p:nvSpPr>
          <p:cNvPr id="21" name="!!fr4"/>
          <p:cNvSpPr/>
          <p:nvPr/>
        </p:nvSpPr>
        <p:spPr>
          <a:xfrm>
            <a:off x="822960" y="5522976"/>
            <a:ext cx="7040880" cy="1828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8A8A8A"/>
                </a:solidFill>
                <a:latin typeface="Inter"/>
              </a:rPr>
              <a:t>Zungga  ·  School pilot proposal  ·  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phone_frame"/>
          <p:cNvSpPr/>
          <p:nvPr/>
        </p:nvSpPr>
        <p:spPr>
          <a:xfrm>
            <a:off x="4408779" y="479552"/>
            <a:ext cx="3374136" cy="5898895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episode 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472787" y="543560"/>
            <a:ext cx="3246120" cy="5770880"/>
          </a:xfrm>
          <a:prstGeom prst="rect">
            <a:avLst/>
          </a:prstGeom>
        </p:spPr>
      </p:pic>
      <p:sp>
        <p:nvSpPr>
          <p:cNvPr id="5" name="!!head"/>
          <p:cNvSpPr txBox="1"/>
          <p:nvPr/>
        </p:nvSpPr>
        <p:spPr>
          <a:xfrm>
            <a:off x="822960" y="2468880"/>
            <a:ext cx="329184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0" i="0">
                <a:solidFill>
                  <a:srgbClr val="F7F7F5"/>
                </a:solidFill>
                <a:latin typeface="Instrument Serif"/>
              </a:rPr>
              <a:t>Let’s watch</a:t>
            </a:r>
          </a:p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BDBDBD"/>
                </a:solidFill>
                <a:latin typeface="Inter"/>
              </a:rPr>
              <a:t>three minutes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8321040" y="2468880"/>
            <a:ext cx="3108960" cy="1828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DBDBD"/>
                </a:solidFill>
                <a:latin typeface="Inter"/>
              </a:rPr>
              <a:t>Watch for the </a:t>
            </a:r>
            <a:r>
              <a:rPr sz="1800" b="0" i="1">
                <a:solidFill>
                  <a:srgbClr val="F7F7F5"/>
                </a:solidFill>
                <a:latin typeface="Inter"/>
              </a:rPr>
              <a:t>three pauses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DBDBD"/>
                </a:solidFill>
                <a:latin typeface="Inter"/>
              </a:rPr>
              <a:t>where every child answers.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6E6E6E"/>
                </a:solidFill>
                <a:latin typeface="Inter"/>
              </a:rPr>
              <a:t>EVERY CHILD CAN ANSWER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896112"/>
            <a:ext cx="103327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0" i="0">
                <a:solidFill>
                  <a:srgbClr val="111111"/>
                </a:solidFill>
                <a:latin typeface="Instrument Serif"/>
              </a:rPr>
              <a:t>Three pauses, three kinds of thinking</a:t>
            </a:r>
          </a:p>
        </p:txBody>
      </p:sp>
      <p:sp>
        <p:nvSpPr>
          <p:cNvPr id="5" name="!!ph0_frame"/>
          <p:cNvSpPr/>
          <p:nvPr/>
        </p:nvSpPr>
        <p:spPr>
          <a:xfrm>
            <a:off x="804671" y="1947672"/>
            <a:ext cx="1728216" cy="2972816"/>
          </a:xfrm>
          <a:prstGeom prst="roundRect">
            <a:avLst>
              <a:gd name="adj" fmla="val 7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!!ph0" descr="l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1600200" cy="2844800"/>
          </a:xfrm>
          <a:prstGeom prst="rect">
            <a:avLst/>
          </a:prstGeom>
        </p:spPr>
      </p:pic>
      <p:sp>
        <p:nvSpPr>
          <p:cNvPr id="7" name="!!pn0"/>
          <p:cNvSpPr txBox="1"/>
          <p:nvPr/>
        </p:nvSpPr>
        <p:spPr>
          <a:xfrm>
            <a:off x="2651760" y="2057400"/>
            <a:ext cx="182880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111111"/>
                </a:solidFill>
                <a:latin typeface="Instrument Serif"/>
              </a:rPr>
              <a:t>01</a:t>
            </a:r>
          </a:p>
        </p:txBody>
      </p:sp>
      <p:sp>
        <p:nvSpPr>
          <p:cNvPr id="8" name="!!ph_0"/>
          <p:cNvSpPr txBox="1"/>
          <p:nvPr/>
        </p:nvSpPr>
        <p:spPr>
          <a:xfrm>
            <a:off x="2651760" y="2697480"/>
            <a:ext cx="18288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Look</a:t>
            </a:r>
          </a:p>
        </p:txBody>
      </p:sp>
      <p:sp>
        <p:nvSpPr>
          <p:cNvPr id="9" name="!!pb0"/>
          <p:cNvSpPr txBox="1"/>
          <p:nvPr/>
        </p:nvSpPr>
        <p:spPr>
          <a:xfrm>
            <a:off x="2651760" y="3154680"/>
            <a:ext cx="1783080" cy="2103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E6E6E"/>
                </a:solidFill>
                <a:latin typeface="Inter"/>
              </a:rPr>
              <a:t>The answer is on screen. Every child gets an easy first success — and confidence.</a:t>
            </a:r>
          </a:p>
        </p:txBody>
      </p:sp>
      <p:sp>
        <p:nvSpPr>
          <p:cNvPr id="10" name="!!phone_frame"/>
          <p:cNvSpPr/>
          <p:nvPr/>
        </p:nvSpPr>
        <p:spPr>
          <a:xfrm>
            <a:off x="4553712" y="1947672"/>
            <a:ext cx="1728216" cy="2972816"/>
          </a:xfrm>
          <a:prstGeom prst="roundRect">
            <a:avLst>
              <a:gd name="adj" fmla="val 7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!!phone" descr="choo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011680"/>
            <a:ext cx="1600200" cy="2844800"/>
          </a:xfrm>
          <a:prstGeom prst="rect">
            <a:avLst/>
          </a:prstGeom>
        </p:spPr>
      </p:pic>
      <p:sp>
        <p:nvSpPr>
          <p:cNvPr id="12" name="!!pn1"/>
          <p:cNvSpPr txBox="1"/>
          <p:nvPr/>
        </p:nvSpPr>
        <p:spPr>
          <a:xfrm>
            <a:off x="6400800" y="2057400"/>
            <a:ext cx="182880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111111"/>
                </a:solidFill>
                <a:latin typeface="Instrument Serif"/>
              </a:rPr>
              <a:t>02</a:t>
            </a:r>
          </a:p>
        </p:txBody>
      </p:sp>
      <p:sp>
        <p:nvSpPr>
          <p:cNvPr id="13" name="!!ph_1"/>
          <p:cNvSpPr txBox="1"/>
          <p:nvPr/>
        </p:nvSpPr>
        <p:spPr>
          <a:xfrm>
            <a:off x="6400800" y="2697480"/>
            <a:ext cx="18288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Choose</a:t>
            </a:r>
          </a:p>
        </p:txBody>
      </p:sp>
      <p:sp>
        <p:nvSpPr>
          <p:cNvPr id="14" name="!!pb1"/>
          <p:cNvSpPr txBox="1"/>
          <p:nvPr/>
        </p:nvSpPr>
        <p:spPr>
          <a:xfrm>
            <a:off x="6400800" y="3154680"/>
            <a:ext cx="1783080" cy="2103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E6E6E"/>
                </a:solidFill>
                <a:latin typeface="Inter"/>
              </a:rPr>
              <a:t>Three picture cards. Shy children answer with their fingers; the whole class can join.</a:t>
            </a:r>
          </a:p>
        </p:txBody>
      </p:sp>
      <p:sp>
        <p:nvSpPr>
          <p:cNvPr id="15" name="!!ph2_frame"/>
          <p:cNvSpPr/>
          <p:nvPr/>
        </p:nvSpPr>
        <p:spPr>
          <a:xfrm>
            <a:off x="8302751" y="1947672"/>
            <a:ext cx="1728216" cy="2972816"/>
          </a:xfrm>
          <a:prstGeom prst="roundRect">
            <a:avLst>
              <a:gd name="adj" fmla="val 7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!!ph2" descr="cou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59" y="2011680"/>
            <a:ext cx="1600200" cy="2844800"/>
          </a:xfrm>
          <a:prstGeom prst="rect">
            <a:avLst/>
          </a:prstGeom>
        </p:spPr>
      </p:pic>
      <p:sp>
        <p:nvSpPr>
          <p:cNvPr id="17" name="!!pn2"/>
          <p:cNvSpPr txBox="1"/>
          <p:nvPr/>
        </p:nvSpPr>
        <p:spPr>
          <a:xfrm>
            <a:off x="10149839" y="2057400"/>
            <a:ext cx="182880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111111"/>
                </a:solidFill>
                <a:latin typeface="Instrument Serif"/>
              </a:rPr>
              <a:t>03</a:t>
            </a:r>
          </a:p>
        </p:txBody>
      </p:sp>
      <p:sp>
        <p:nvSpPr>
          <p:cNvPr id="18" name="!!ph_2"/>
          <p:cNvSpPr txBox="1"/>
          <p:nvPr/>
        </p:nvSpPr>
        <p:spPr>
          <a:xfrm>
            <a:off x="10149839" y="2697480"/>
            <a:ext cx="18288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Count</a:t>
            </a:r>
          </a:p>
        </p:txBody>
      </p:sp>
      <p:sp>
        <p:nvSpPr>
          <p:cNvPr id="19" name="!!pb2"/>
          <p:cNvSpPr txBox="1"/>
          <p:nvPr/>
        </p:nvSpPr>
        <p:spPr>
          <a:xfrm>
            <a:off x="10149839" y="3154680"/>
            <a:ext cx="1783080" cy="2103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E6E6E"/>
                </a:solidFill>
                <a:latin typeface="Inter"/>
              </a:rPr>
              <a:t>Syllabus maths, out loud: count in tens, then add.</a:t>
            </a:r>
          </a:p>
        </p:txBody>
      </p:sp>
      <p:sp>
        <p:nvSpPr>
          <p:cNvPr id="20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6E6E6E"/>
                </a:solidFill>
                <a:latin typeface="Inter"/>
              </a:rPr>
              <a:t>Zungga  ·  School pilot proposal  ·  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6E6E6E"/>
                </a:solidFill>
                <a:latin typeface="Inter"/>
              </a:rPr>
              <a:t>FOR YOUR TEACHERS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896112"/>
            <a:ext cx="103327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0" i="0">
                <a:solidFill>
                  <a:srgbClr val="111111"/>
                </a:solidFill>
                <a:latin typeface="Instrument Serif"/>
              </a:rPr>
              <a:t>Help for teachers — never extra work</a:t>
            </a:r>
          </a:p>
        </p:txBody>
      </p:sp>
      <p:sp>
        <p:nvSpPr>
          <p:cNvPr id="5" name="!!tr0"/>
          <p:cNvSpPr/>
          <p:nvPr/>
        </p:nvSpPr>
        <p:spPr>
          <a:xfrm>
            <a:off x="822960" y="2103120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th0"/>
          <p:cNvSpPr txBox="1"/>
          <p:nvPr/>
        </p:nvSpPr>
        <p:spPr>
          <a:xfrm>
            <a:off x="822960" y="2267712"/>
            <a:ext cx="329184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Ready to use</a:t>
            </a:r>
          </a:p>
        </p:txBody>
      </p:sp>
      <p:sp>
        <p:nvSpPr>
          <p:cNvPr id="7" name="!!tb0"/>
          <p:cNvSpPr txBox="1"/>
          <p:nvPr/>
        </p:nvSpPr>
        <p:spPr>
          <a:xfrm>
            <a:off x="4206240" y="2267712"/>
            <a:ext cx="71323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6E6E6E"/>
                </a:solidFill>
                <a:latin typeface="Inter"/>
              </a:rPr>
              <a:t>Each episode is a complete 5-minute lesson starter, mapped to a Class 3–5 chapter.</a:t>
            </a:r>
          </a:p>
        </p:txBody>
      </p:sp>
      <p:sp>
        <p:nvSpPr>
          <p:cNvPr id="8" name="!!tr1"/>
          <p:cNvSpPr/>
          <p:nvPr/>
        </p:nvSpPr>
        <p:spPr>
          <a:xfrm>
            <a:off x="822960" y="3035808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h1"/>
          <p:cNvSpPr txBox="1"/>
          <p:nvPr/>
        </p:nvSpPr>
        <p:spPr>
          <a:xfrm>
            <a:off x="822960" y="3200400"/>
            <a:ext cx="329184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Whole-class mode</a:t>
            </a:r>
          </a:p>
        </p:txBody>
      </p:sp>
      <p:sp>
        <p:nvSpPr>
          <p:cNvPr id="10" name="!!tb1"/>
          <p:cNvSpPr txBox="1"/>
          <p:nvPr/>
        </p:nvSpPr>
        <p:spPr>
          <a:xfrm>
            <a:off x="4206240" y="3200400"/>
            <a:ext cx="71323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6E6E6E"/>
                </a:solidFill>
                <a:latin typeface="Inter"/>
              </a:rPr>
              <a:t>The teacher plays it on the classroom screen; the class answers the pauses together.</a:t>
            </a:r>
          </a:p>
        </p:txBody>
      </p:sp>
      <p:sp>
        <p:nvSpPr>
          <p:cNvPr id="11" name="!!tr2"/>
          <p:cNvSpPr/>
          <p:nvPr/>
        </p:nvSpPr>
        <p:spPr>
          <a:xfrm>
            <a:off x="822960" y="3968496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th2"/>
          <p:cNvSpPr txBox="1"/>
          <p:nvPr/>
        </p:nvSpPr>
        <p:spPr>
          <a:xfrm>
            <a:off x="822960" y="4133087"/>
            <a:ext cx="329184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Fits the syllabus</a:t>
            </a:r>
          </a:p>
        </p:txBody>
      </p:sp>
      <p:sp>
        <p:nvSpPr>
          <p:cNvPr id="13" name="!!tb2"/>
          <p:cNvSpPr txBox="1"/>
          <p:nvPr/>
        </p:nvSpPr>
        <p:spPr>
          <a:xfrm>
            <a:off x="4206240" y="4133087"/>
            <a:ext cx="71323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6E6E6E"/>
                </a:solidFill>
                <a:latin typeface="Inter"/>
              </a:rPr>
              <a:t>Tamil Nadu and Karnataka state boards, in English — maths and money first, science next.</a:t>
            </a:r>
          </a:p>
        </p:txBody>
      </p:sp>
      <p:sp>
        <p:nvSpPr>
          <p:cNvPr id="14" name="!!tr3"/>
          <p:cNvSpPr/>
          <p:nvPr/>
        </p:nvSpPr>
        <p:spPr>
          <a:xfrm>
            <a:off x="822960" y="4901183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th3"/>
          <p:cNvSpPr txBox="1"/>
          <p:nvPr/>
        </p:nvSpPr>
        <p:spPr>
          <a:xfrm>
            <a:off x="822960" y="5065775"/>
            <a:ext cx="329184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Experiential learning</a:t>
            </a:r>
          </a:p>
        </p:txBody>
      </p:sp>
      <p:sp>
        <p:nvSpPr>
          <p:cNvPr id="16" name="!!tb3"/>
          <p:cNvSpPr txBox="1"/>
          <p:nvPr/>
        </p:nvSpPr>
        <p:spPr>
          <a:xfrm>
            <a:off x="4206240" y="5065775"/>
            <a:ext cx="71323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6E6E6E"/>
                </a:solidFill>
                <a:latin typeface="Inter"/>
              </a:rPr>
              <a:t>Thinking, problem-solving and doing — as NEP 2020 encourages.</a:t>
            </a:r>
          </a:p>
        </p:txBody>
      </p:sp>
      <p:sp>
        <p:nvSpPr>
          <p:cNvPr id="17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6E6E6E"/>
                </a:solidFill>
                <a:latin typeface="Inter"/>
              </a:rPr>
              <a:t>Zungga  ·  School pilot proposal  · 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8595360" y="0"/>
            <a:ext cx="3596335" cy="68580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phone_frame"/>
          <p:cNvSpPr/>
          <p:nvPr/>
        </p:nvSpPr>
        <p:spPr>
          <a:xfrm>
            <a:off x="9034272" y="713232"/>
            <a:ext cx="3054096" cy="5329936"/>
          </a:xfrm>
          <a:prstGeom prst="roundRect">
            <a:avLst>
              <a:gd name="adj" fmla="val 7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!!phone" descr="mi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777240"/>
            <a:ext cx="2926080" cy="5201920"/>
          </a:xfrm>
          <a:prstGeom prst="rect">
            <a:avLst/>
          </a:prstGeom>
        </p:spPr>
      </p:pic>
      <p:sp>
        <p:nvSpPr>
          <p:cNvPr id="5" name="!!kicker"/>
          <p:cNvSpPr txBox="1"/>
          <p:nvPr/>
        </p:nvSpPr>
        <p:spPr>
          <a:xfrm>
            <a:off x="822960" y="1051560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BDBDBD"/>
                </a:solidFill>
                <a:latin typeface="Inter"/>
              </a:rPr>
              <a:t>LEARNING THAT REACHES HOME</a:t>
            </a:r>
          </a:p>
        </p:txBody>
      </p:sp>
      <p:sp>
        <p:nvSpPr>
          <p:cNvPr id="6" name="!!head"/>
          <p:cNvSpPr txBox="1"/>
          <p:nvPr/>
        </p:nvSpPr>
        <p:spPr>
          <a:xfrm>
            <a:off x="822960" y="1371600"/>
            <a:ext cx="75895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F7F7F5"/>
                </a:solidFill>
                <a:latin typeface="Instrument Serif"/>
              </a:rPr>
              <a:t>Every story ends with a mission</a:t>
            </a:r>
          </a:p>
        </p:txBody>
      </p:sp>
      <p:sp>
        <p:nvSpPr>
          <p:cNvPr id="7" name="!!mn0"/>
          <p:cNvSpPr txBox="1"/>
          <p:nvPr/>
        </p:nvSpPr>
        <p:spPr>
          <a:xfrm>
            <a:off x="822960" y="2743200"/>
            <a:ext cx="73152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0" i="0">
                <a:solidFill>
                  <a:srgbClr val="F7F7F5"/>
                </a:solidFill>
                <a:latin typeface="Instrument Serif"/>
              </a:rPr>
              <a:t>01</a:t>
            </a:r>
          </a:p>
        </p:txBody>
      </p:sp>
      <p:sp>
        <p:nvSpPr>
          <p:cNvPr id="8" name="!!mt0"/>
          <p:cNvSpPr txBox="1"/>
          <p:nvPr/>
        </p:nvSpPr>
        <p:spPr>
          <a:xfrm>
            <a:off x="1600200" y="2788920"/>
            <a:ext cx="62179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F7F7F5"/>
                </a:solidFill>
                <a:latin typeface="Inter"/>
              </a:rPr>
              <a:t>Move  —  </a:t>
            </a:r>
            <a:r>
              <a:rPr sz="1700" b="0" i="0">
                <a:solidFill>
                  <a:srgbClr val="BDBDBD"/>
                </a:solidFill>
                <a:latin typeface="Inter"/>
              </a:rPr>
              <a:t>10 “lemon-squeeze” jumps</a:t>
            </a:r>
          </a:p>
        </p:txBody>
      </p:sp>
      <p:sp>
        <p:nvSpPr>
          <p:cNvPr id="9" name="!!mn1"/>
          <p:cNvSpPr txBox="1"/>
          <p:nvPr/>
        </p:nvSpPr>
        <p:spPr>
          <a:xfrm>
            <a:off x="822960" y="3611880"/>
            <a:ext cx="73152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0" i="0">
                <a:solidFill>
                  <a:srgbClr val="F7F7F5"/>
                </a:solidFill>
                <a:latin typeface="Instrument Serif"/>
              </a:rPr>
              <a:t>02</a:t>
            </a:r>
          </a:p>
        </p:txBody>
      </p:sp>
      <p:sp>
        <p:nvSpPr>
          <p:cNvPr id="10" name="!!mt1"/>
          <p:cNvSpPr txBox="1"/>
          <p:nvPr/>
        </p:nvSpPr>
        <p:spPr>
          <a:xfrm>
            <a:off x="1600200" y="3657600"/>
            <a:ext cx="62179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F7F7F5"/>
                </a:solidFill>
                <a:latin typeface="Inter"/>
              </a:rPr>
              <a:t>Family  —  </a:t>
            </a:r>
            <a:r>
              <a:rPr sz="1700" b="0" i="0">
                <a:solidFill>
                  <a:srgbClr val="BDBDBD"/>
                </a:solidFill>
                <a:latin typeface="Inter"/>
              </a:rPr>
              <a:t>Help a grown-up put the shopping away and find three price tags</a:t>
            </a:r>
          </a:p>
        </p:txBody>
      </p:sp>
      <p:sp>
        <p:nvSpPr>
          <p:cNvPr id="11" name="!!mn2"/>
          <p:cNvSpPr txBox="1"/>
          <p:nvPr/>
        </p:nvSpPr>
        <p:spPr>
          <a:xfrm>
            <a:off x="822960" y="4480560"/>
            <a:ext cx="73152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0" i="0">
                <a:solidFill>
                  <a:srgbClr val="F7F7F5"/>
                </a:solidFill>
                <a:latin typeface="Instrument Serif"/>
              </a:rPr>
              <a:t>03</a:t>
            </a:r>
          </a:p>
        </p:txBody>
      </p:sp>
      <p:sp>
        <p:nvSpPr>
          <p:cNvPr id="12" name="!!mt2"/>
          <p:cNvSpPr txBox="1"/>
          <p:nvPr/>
        </p:nvSpPr>
        <p:spPr>
          <a:xfrm>
            <a:off x="1600200" y="4526280"/>
            <a:ext cx="62179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F7F7F5"/>
                </a:solidFill>
                <a:latin typeface="Inter"/>
              </a:rPr>
              <a:t>Create  —  </a:t>
            </a:r>
            <a:r>
              <a:rPr sz="1700" b="0" i="0">
                <a:solidFill>
                  <a:srgbClr val="BDBDBD"/>
                </a:solidFill>
                <a:latin typeface="Inter"/>
              </a:rPr>
              <a:t>Draw your own shop sign with a price</a:t>
            </a:r>
          </a:p>
        </p:txBody>
      </p:sp>
      <p:sp>
        <p:nvSpPr>
          <p:cNvPr id="13" name="!!sub"/>
          <p:cNvSpPr txBox="1"/>
          <p:nvPr/>
        </p:nvSpPr>
        <p:spPr>
          <a:xfrm>
            <a:off x="822960" y="5440680"/>
            <a:ext cx="7498079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E6E6E"/>
                </a:solidFill>
                <a:latin typeface="Inter"/>
              </a:rPr>
              <a:t>Always three different choices at the same effort, so no child is left out. A grown-up at home approves with a PIN.</a:t>
            </a:r>
          </a:p>
        </p:txBody>
      </p:sp>
      <p:sp>
        <p:nvSpPr>
          <p:cNvPr id="14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8A8A8A"/>
                </a:solidFill>
                <a:latin typeface="Inter"/>
              </a:rPr>
              <a:t>Zungga  ·  School pilot proposal  · 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6E6E6E"/>
                </a:solidFill>
                <a:latin typeface="Inter"/>
              </a:rPr>
              <a:t>PARENTS STAY IN CONTROL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896112"/>
            <a:ext cx="103327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0" i="0">
                <a:solidFill>
                  <a:srgbClr val="111111"/>
                </a:solidFill>
                <a:latin typeface="Instrument Serif"/>
              </a:rPr>
              <a:t>Safe for children, by design</a:t>
            </a:r>
          </a:p>
        </p:txBody>
      </p:sp>
      <p:sp>
        <p:nvSpPr>
          <p:cNvPr id="5" name="!!sr0"/>
          <p:cNvSpPr/>
          <p:nvPr/>
        </p:nvSpPr>
        <p:spPr>
          <a:xfrm>
            <a:off x="822960" y="2194560"/>
            <a:ext cx="329184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sh0"/>
          <p:cNvSpPr txBox="1"/>
          <p:nvPr/>
        </p:nvSpPr>
        <p:spPr>
          <a:xfrm>
            <a:off x="822960" y="2359152"/>
            <a:ext cx="329184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No tracking</a:t>
            </a:r>
          </a:p>
        </p:txBody>
      </p:sp>
      <p:sp>
        <p:nvSpPr>
          <p:cNvPr id="7" name="!!sb0"/>
          <p:cNvSpPr txBox="1"/>
          <p:nvPr/>
        </p:nvSpPr>
        <p:spPr>
          <a:xfrm>
            <a:off x="822960" y="2816352"/>
            <a:ext cx="32918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Inter"/>
              </a:rPr>
              <a:t>No monitoring, location or behaviour profiling of any child.</a:t>
            </a:r>
          </a:p>
        </p:txBody>
      </p:sp>
      <p:sp>
        <p:nvSpPr>
          <p:cNvPr id="8" name="!!sr1"/>
          <p:cNvSpPr/>
          <p:nvPr/>
        </p:nvSpPr>
        <p:spPr>
          <a:xfrm>
            <a:off x="4434840" y="2194560"/>
            <a:ext cx="329184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sh1"/>
          <p:cNvSpPr txBox="1"/>
          <p:nvPr/>
        </p:nvSpPr>
        <p:spPr>
          <a:xfrm>
            <a:off x="4434840" y="2359152"/>
            <a:ext cx="329184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Parent login and PIN</a:t>
            </a:r>
          </a:p>
        </p:txBody>
      </p:sp>
      <p:sp>
        <p:nvSpPr>
          <p:cNvPr id="10" name="!!sb1"/>
          <p:cNvSpPr txBox="1"/>
          <p:nvPr/>
        </p:nvSpPr>
        <p:spPr>
          <a:xfrm>
            <a:off x="4434840" y="2816352"/>
            <a:ext cx="32918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Inter"/>
              </a:rPr>
              <a:t>Every approval needs the parent’s own PIN.</a:t>
            </a:r>
          </a:p>
        </p:txBody>
      </p:sp>
      <p:sp>
        <p:nvSpPr>
          <p:cNvPr id="11" name="!!sr2"/>
          <p:cNvSpPr/>
          <p:nvPr/>
        </p:nvSpPr>
        <p:spPr>
          <a:xfrm>
            <a:off x="8046720" y="2194560"/>
            <a:ext cx="329184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sh2"/>
          <p:cNvSpPr txBox="1"/>
          <p:nvPr/>
        </p:nvSpPr>
        <p:spPr>
          <a:xfrm>
            <a:off x="8046720" y="2359152"/>
            <a:ext cx="329184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No advertising</a:t>
            </a:r>
          </a:p>
        </p:txBody>
      </p:sp>
      <p:sp>
        <p:nvSpPr>
          <p:cNvPr id="13" name="!!sb2"/>
          <p:cNvSpPr txBox="1"/>
          <p:nvPr/>
        </p:nvSpPr>
        <p:spPr>
          <a:xfrm>
            <a:off x="8046720" y="2816352"/>
            <a:ext cx="32918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Inter"/>
              </a:rPr>
              <a:t>Nothing is ever sold to children.</a:t>
            </a:r>
          </a:p>
        </p:txBody>
      </p:sp>
      <p:sp>
        <p:nvSpPr>
          <p:cNvPr id="14" name="!!sr3"/>
          <p:cNvSpPr/>
          <p:nvPr/>
        </p:nvSpPr>
        <p:spPr>
          <a:xfrm>
            <a:off x="822960" y="4023360"/>
            <a:ext cx="329184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sh3"/>
          <p:cNvSpPr txBox="1"/>
          <p:nvPr/>
        </p:nvSpPr>
        <p:spPr>
          <a:xfrm>
            <a:off x="822960" y="4187952"/>
            <a:ext cx="329184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Minimal data</a:t>
            </a:r>
          </a:p>
        </p:txBody>
      </p:sp>
      <p:sp>
        <p:nvSpPr>
          <p:cNvPr id="16" name="!!sb3"/>
          <p:cNvSpPr txBox="1"/>
          <p:nvPr/>
        </p:nvSpPr>
        <p:spPr>
          <a:xfrm>
            <a:off x="822960" y="4645152"/>
            <a:ext cx="32918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Inter"/>
              </a:rPr>
              <a:t>No child email. Only a name and learning progress.</a:t>
            </a:r>
          </a:p>
        </p:txBody>
      </p:sp>
      <p:sp>
        <p:nvSpPr>
          <p:cNvPr id="17" name="!!sr4"/>
          <p:cNvSpPr/>
          <p:nvPr/>
        </p:nvSpPr>
        <p:spPr>
          <a:xfrm>
            <a:off x="4434840" y="4023360"/>
            <a:ext cx="329184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sh4"/>
          <p:cNvSpPr txBox="1"/>
          <p:nvPr/>
        </p:nvSpPr>
        <p:spPr>
          <a:xfrm>
            <a:off x="4434840" y="4187952"/>
            <a:ext cx="329184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Kind feedback</a:t>
            </a:r>
          </a:p>
        </p:txBody>
      </p:sp>
      <p:sp>
        <p:nvSpPr>
          <p:cNvPr id="19" name="!!sb4"/>
          <p:cNvSpPr txBox="1"/>
          <p:nvPr/>
        </p:nvSpPr>
        <p:spPr>
          <a:xfrm>
            <a:off x="4434840" y="4645152"/>
            <a:ext cx="32918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Inter"/>
              </a:rPr>
              <a:t>Every answer is welcomed; praise always comes first.</a:t>
            </a:r>
          </a:p>
        </p:txBody>
      </p:sp>
      <p:sp>
        <p:nvSpPr>
          <p:cNvPr id="20" name="!!sr5"/>
          <p:cNvSpPr/>
          <p:nvPr/>
        </p:nvSpPr>
        <p:spPr>
          <a:xfrm>
            <a:off x="8046720" y="4023360"/>
            <a:ext cx="329184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sh5"/>
          <p:cNvSpPr txBox="1"/>
          <p:nvPr/>
        </p:nvSpPr>
        <p:spPr>
          <a:xfrm>
            <a:off x="8046720" y="4187952"/>
            <a:ext cx="329184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Inter"/>
              </a:rPr>
              <a:t>Made for India</a:t>
            </a:r>
          </a:p>
        </p:txBody>
      </p:sp>
      <p:sp>
        <p:nvSpPr>
          <p:cNvPr id="22" name="!!sb5"/>
          <p:cNvSpPr txBox="1"/>
          <p:nvPr/>
        </p:nvSpPr>
        <p:spPr>
          <a:xfrm>
            <a:off x="8046720" y="4645152"/>
            <a:ext cx="32918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Inter"/>
              </a:rPr>
              <a:t>Designed around India’s child data rules (DPDP Act).</a:t>
            </a:r>
          </a:p>
        </p:txBody>
      </p:sp>
      <p:sp>
        <p:nvSpPr>
          <p:cNvPr id="23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6E6E6E"/>
                </a:solidFill>
                <a:latin typeface="Inter"/>
              </a:rPr>
              <a:t>Zungga  ·  School pilot proposal  ·  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BDBDBD"/>
                </a:solidFill>
                <a:latin typeface="Inter"/>
              </a:rPr>
              <a:t>OUR PROPOSAL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896112"/>
            <a:ext cx="103327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0" i="0">
                <a:solidFill>
                  <a:srgbClr val="F7F7F5"/>
                </a:solidFill>
                <a:latin typeface="Instrument Serif"/>
              </a:rPr>
              <a:t>A small, simple four-week pilot</a:t>
            </a:r>
          </a:p>
        </p:txBody>
      </p:sp>
      <p:sp>
        <p:nvSpPr>
          <p:cNvPr id="5" name="!!bn0"/>
          <p:cNvSpPr txBox="1"/>
          <p:nvPr/>
        </p:nvSpPr>
        <p:spPr>
          <a:xfrm>
            <a:off x="822960" y="2148840"/>
            <a:ext cx="2514600" cy="1097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000" b="0" i="0">
                <a:solidFill>
                  <a:srgbClr val="F7F7F5"/>
                </a:solidFill>
                <a:latin typeface="Instrument Serif"/>
              </a:rPr>
              <a:t>1</a:t>
            </a:r>
          </a:p>
        </p:txBody>
      </p:sp>
      <p:sp>
        <p:nvSpPr>
          <p:cNvPr id="6" name="!!br0"/>
          <p:cNvSpPr/>
          <p:nvPr/>
        </p:nvSpPr>
        <p:spPr>
          <a:xfrm>
            <a:off x="822960" y="3429000"/>
            <a:ext cx="2377440" cy="1828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bu0"/>
          <p:cNvSpPr txBox="1"/>
          <p:nvPr/>
        </p:nvSpPr>
        <p:spPr>
          <a:xfrm>
            <a:off x="822960" y="3566160"/>
            <a:ext cx="25146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50">
                <a:solidFill>
                  <a:srgbClr val="F7F7F5"/>
                </a:solidFill>
                <a:latin typeface="Inter"/>
              </a:rPr>
              <a:t>CLASS GROUP</a:t>
            </a:r>
          </a:p>
        </p:txBody>
      </p:sp>
      <p:sp>
        <p:nvSpPr>
          <p:cNvPr id="8" name="!!bb0"/>
          <p:cNvSpPr txBox="1"/>
          <p:nvPr/>
        </p:nvSpPr>
        <p:spPr>
          <a:xfrm>
            <a:off x="822960" y="4023360"/>
            <a:ext cx="23774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BDBDBD"/>
                </a:solidFill>
                <a:latin typeface="Inter"/>
              </a:rPr>
              <a:t>Class 3, 4 or 5 — sections of your choice</a:t>
            </a:r>
          </a:p>
        </p:txBody>
      </p:sp>
      <p:sp>
        <p:nvSpPr>
          <p:cNvPr id="9" name="!!bn1"/>
          <p:cNvSpPr txBox="1"/>
          <p:nvPr/>
        </p:nvSpPr>
        <p:spPr>
          <a:xfrm>
            <a:off x="3520440" y="2148840"/>
            <a:ext cx="2514600" cy="1097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000" b="0" i="0">
                <a:solidFill>
                  <a:srgbClr val="F7F7F5"/>
                </a:solidFill>
                <a:latin typeface="Instrument Serif"/>
              </a:rPr>
              <a:t>4</a:t>
            </a:r>
          </a:p>
        </p:txBody>
      </p:sp>
      <p:sp>
        <p:nvSpPr>
          <p:cNvPr id="10" name="!!br1"/>
          <p:cNvSpPr/>
          <p:nvPr/>
        </p:nvSpPr>
        <p:spPr>
          <a:xfrm>
            <a:off x="3520440" y="3429000"/>
            <a:ext cx="2377440" cy="1828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bu1"/>
          <p:cNvSpPr txBox="1"/>
          <p:nvPr/>
        </p:nvSpPr>
        <p:spPr>
          <a:xfrm>
            <a:off x="3520440" y="3566160"/>
            <a:ext cx="25146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50">
                <a:solidFill>
                  <a:srgbClr val="F7F7F5"/>
                </a:solidFill>
                <a:latin typeface="Inter"/>
              </a:rPr>
              <a:t>WEEKS</a:t>
            </a:r>
          </a:p>
        </p:txBody>
      </p:sp>
      <p:sp>
        <p:nvSpPr>
          <p:cNvPr id="12" name="!!bb1"/>
          <p:cNvSpPr txBox="1"/>
          <p:nvPr/>
        </p:nvSpPr>
        <p:spPr>
          <a:xfrm>
            <a:off x="3520440" y="4023360"/>
            <a:ext cx="23774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BDBDBD"/>
                </a:solidFill>
                <a:latin typeface="Inter"/>
              </a:rPr>
              <a:t>Two short sessions a week</a:t>
            </a:r>
          </a:p>
        </p:txBody>
      </p:sp>
      <p:sp>
        <p:nvSpPr>
          <p:cNvPr id="13" name="!!bn2"/>
          <p:cNvSpPr txBox="1"/>
          <p:nvPr/>
        </p:nvSpPr>
        <p:spPr>
          <a:xfrm>
            <a:off x="6217920" y="2148840"/>
            <a:ext cx="2514600" cy="1097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000" b="0" i="0">
                <a:solidFill>
                  <a:srgbClr val="F7F7F5"/>
                </a:solidFill>
                <a:latin typeface="Instrument Serif"/>
              </a:rPr>
              <a:t>6–8</a:t>
            </a:r>
          </a:p>
        </p:txBody>
      </p:sp>
      <p:sp>
        <p:nvSpPr>
          <p:cNvPr id="14" name="!!br2"/>
          <p:cNvSpPr/>
          <p:nvPr/>
        </p:nvSpPr>
        <p:spPr>
          <a:xfrm>
            <a:off x="6217920" y="3429000"/>
            <a:ext cx="2377440" cy="1828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bu2"/>
          <p:cNvSpPr txBox="1"/>
          <p:nvPr/>
        </p:nvSpPr>
        <p:spPr>
          <a:xfrm>
            <a:off x="6217920" y="3566160"/>
            <a:ext cx="25146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50">
                <a:solidFill>
                  <a:srgbClr val="F7F7F5"/>
                </a:solidFill>
                <a:latin typeface="Inter"/>
              </a:rPr>
              <a:t>STORIES</a:t>
            </a:r>
          </a:p>
        </p:txBody>
      </p:sp>
      <p:sp>
        <p:nvSpPr>
          <p:cNvPr id="16" name="!!bb2"/>
          <p:cNvSpPr txBox="1"/>
          <p:nvPr/>
        </p:nvSpPr>
        <p:spPr>
          <a:xfrm>
            <a:off x="6217920" y="4023360"/>
            <a:ext cx="23774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BDBDBD"/>
                </a:solidFill>
                <a:latin typeface="Inter"/>
              </a:rPr>
              <a:t>Maths and money first, science next</a:t>
            </a:r>
          </a:p>
        </p:txBody>
      </p:sp>
      <p:sp>
        <p:nvSpPr>
          <p:cNvPr id="17" name="!!bn3"/>
          <p:cNvSpPr txBox="1"/>
          <p:nvPr/>
        </p:nvSpPr>
        <p:spPr>
          <a:xfrm>
            <a:off x="8915400" y="2148840"/>
            <a:ext cx="2514600" cy="1097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000" b="0" i="0">
                <a:solidFill>
                  <a:srgbClr val="F7F7F5"/>
                </a:solidFill>
                <a:latin typeface="Instrument Serif"/>
              </a:rPr>
              <a:t>[₹__]</a:t>
            </a:r>
          </a:p>
        </p:txBody>
      </p:sp>
      <p:sp>
        <p:nvSpPr>
          <p:cNvPr id="18" name="!!br3"/>
          <p:cNvSpPr/>
          <p:nvPr/>
        </p:nvSpPr>
        <p:spPr>
          <a:xfrm>
            <a:off x="8915400" y="3429000"/>
            <a:ext cx="2377440" cy="1828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bu3"/>
          <p:cNvSpPr txBox="1"/>
          <p:nvPr/>
        </p:nvSpPr>
        <p:spPr>
          <a:xfrm>
            <a:off x="8915400" y="3566160"/>
            <a:ext cx="25146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50">
                <a:solidFill>
                  <a:srgbClr val="F7F7F5"/>
                </a:solidFill>
                <a:latin typeface="Inter"/>
              </a:rPr>
              <a:t>COST TO SCHOOL</a:t>
            </a:r>
          </a:p>
        </p:txBody>
      </p:sp>
      <p:sp>
        <p:nvSpPr>
          <p:cNvPr id="20" name="!!bb3"/>
          <p:cNvSpPr txBox="1"/>
          <p:nvPr/>
        </p:nvSpPr>
        <p:spPr>
          <a:xfrm>
            <a:off x="8915400" y="4023360"/>
            <a:ext cx="23774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BDBDBD"/>
                </a:solidFill>
                <a:latin typeface="Inter"/>
              </a:rPr>
              <a:t>[Free pilot / to be agreed]</a:t>
            </a:r>
          </a:p>
        </p:txBody>
      </p:sp>
      <p:sp>
        <p:nvSpPr>
          <p:cNvPr id="21" name="!!sub"/>
          <p:cNvSpPr txBox="1"/>
          <p:nvPr/>
        </p:nvSpPr>
        <p:spPr>
          <a:xfrm>
            <a:off x="822960" y="5349240"/>
            <a:ext cx="100584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E6E6E"/>
                </a:solidFill>
                <a:latin typeface="Inter"/>
              </a:rPr>
              <a:t>Episode 1 is ready today; the remaining stories are in production for the pilot dates.</a:t>
            </a:r>
          </a:p>
        </p:txBody>
      </p:sp>
      <p:sp>
        <p:nvSpPr>
          <p:cNvPr id="22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8A8A8A"/>
                </a:solidFill>
                <a:latin typeface="Inter"/>
              </a:rPr>
              <a:t>Zungga  ·  School pilot proposal  ·  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6E6E6E"/>
                </a:solidFill>
                <a:latin typeface="Inter"/>
              </a:rPr>
              <a:t>MEASURED TOGETHER — WITHOUT TRACKING ANY CHILD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896112"/>
            <a:ext cx="103327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0" i="0">
                <a:solidFill>
                  <a:srgbClr val="111111"/>
                </a:solidFill>
                <a:latin typeface="Instrument Serif"/>
              </a:rPr>
              <a:t>Four weeks, step by step</a:t>
            </a:r>
          </a:p>
        </p:txBody>
      </p:sp>
      <p:sp>
        <p:nvSpPr>
          <p:cNvPr id="5" name="!!track"/>
          <p:cNvSpPr/>
          <p:nvPr/>
        </p:nvSpPr>
        <p:spPr>
          <a:xfrm>
            <a:off x="822960" y="2743200"/>
            <a:ext cx="1056132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dot0"/>
          <p:cNvSpPr/>
          <p:nvPr/>
        </p:nvSpPr>
        <p:spPr>
          <a:xfrm>
            <a:off x="822960" y="2633472"/>
            <a:ext cx="219456" cy="219456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wk0"/>
          <p:cNvSpPr txBox="1"/>
          <p:nvPr/>
        </p:nvSpPr>
        <p:spPr>
          <a:xfrm>
            <a:off x="822960" y="2103120"/>
            <a:ext cx="24688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50">
                <a:solidFill>
                  <a:srgbClr val="6E6E6E"/>
                </a:solidFill>
                <a:latin typeface="Inter"/>
              </a:rPr>
              <a:t>WEEK 0</a:t>
            </a:r>
          </a:p>
        </p:txBody>
      </p:sp>
      <p:sp>
        <p:nvSpPr>
          <p:cNvPr id="8" name="!!wh0"/>
          <p:cNvSpPr txBox="1"/>
          <p:nvPr/>
        </p:nvSpPr>
        <p:spPr>
          <a:xfrm>
            <a:off x="822960" y="3063240"/>
            <a:ext cx="246888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11111"/>
                </a:solidFill>
                <a:latin typeface="Instrument Serif"/>
              </a:rPr>
              <a:t>Set-up</a:t>
            </a:r>
          </a:p>
        </p:txBody>
      </p:sp>
      <p:sp>
        <p:nvSpPr>
          <p:cNvPr id="9" name="!!wb0"/>
          <p:cNvSpPr txBox="1"/>
          <p:nvPr/>
        </p:nvSpPr>
        <p:spPr>
          <a:xfrm>
            <a:off x="822960" y="3611880"/>
            <a:ext cx="2377440" cy="1645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E6E6E"/>
                </a:solidFill>
                <a:latin typeface="Inter"/>
              </a:rPr>
              <a:t>Choose sections. Parent consent note. A 20-minute teacher walkthrough.</a:t>
            </a:r>
          </a:p>
        </p:txBody>
      </p:sp>
      <p:sp>
        <p:nvSpPr>
          <p:cNvPr id="10" name="!!dot1"/>
          <p:cNvSpPr/>
          <p:nvPr/>
        </p:nvSpPr>
        <p:spPr>
          <a:xfrm>
            <a:off x="3520440" y="2633472"/>
            <a:ext cx="219456" cy="219456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wk1"/>
          <p:cNvSpPr txBox="1"/>
          <p:nvPr/>
        </p:nvSpPr>
        <p:spPr>
          <a:xfrm>
            <a:off x="3520440" y="2103120"/>
            <a:ext cx="24688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50">
                <a:solidFill>
                  <a:srgbClr val="6E6E6E"/>
                </a:solidFill>
                <a:latin typeface="Inter"/>
              </a:rPr>
              <a:t>WEEKS 1–2</a:t>
            </a:r>
          </a:p>
        </p:txBody>
      </p:sp>
      <p:sp>
        <p:nvSpPr>
          <p:cNvPr id="12" name="!!wh1"/>
          <p:cNvSpPr txBox="1"/>
          <p:nvPr/>
        </p:nvSpPr>
        <p:spPr>
          <a:xfrm>
            <a:off x="3520440" y="3063240"/>
            <a:ext cx="246888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11111"/>
                </a:solidFill>
                <a:latin typeface="Instrument Serif"/>
              </a:rPr>
              <a:t>Stories 1–4</a:t>
            </a:r>
          </a:p>
        </p:txBody>
      </p:sp>
      <p:sp>
        <p:nvSpPr>
          <p:cNvPr id="13" name="!!wb1"/>
          <p:cNvSpPr txBox="1"/>
          <p:nvPr/>
        </p:nvSpPr>
        <p:spPr>
          <a:xfrm>
            <a:off x="3520440" y="3611880"/>
            <a:ext cx="2377440" cy="1645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E6E6E"/>
                </a:solidFill>
                <a:latin typeface="Inter"/>
              </a:rPr>
              <a:t>In class, twice a week. First home missions.</a:t>
            </a:r>
          </a:p>
        </p:txBody>
      </p:sp>
      <p:sp>
        <p:nvSpPr>
          <p:cNvPr id="14" name="!!dot2"/>
          <p:cNvSpPr/>
          <p:nvPr/>
        </p:nvSpPr>
        <p:spPr>
          <a:xfrm>
            <a:off x="6217920" y="2633472"/>
            <a:ext cx="219456" cy="219456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wk2"/>
          <p:cNvSpPr txBox="1"/>
          <p:nvPr/>
        </p:nvSpPr>
        <p:spPr>
          <a:xfrm>
            <a:off x="6217920" y="2103120"/>
            <a:ext cx="24688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50">
                <a:solidFill>
                  <a:srgbClr val="6E6E6E"/>
                </a:solidFill>
                <a:latin typeface="Inter"/>
              </a:rPr>
              <a:t>WEEK 3</a:t>
            </a:r>
          </a:p>
        </p:txBody>
      </p:sp>
      <p:sp>
        <p:nvSpPr>
          <p:cNvPr id="16" name="!!wh2"/>
          <p:cNvSpPr txBox="1"/>
          <p:nvPr/>
        </p:nvSpPr>
        <p:spPr>
          <a:xfrm>
            <a:off x="6217920" y="3063240"/>
            <a:ext cx="246888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11111"/>
                </a:solidFill>
                <a:latin typeface="Instrument Serif"/>
              </a:rPr>
              <a:t>Stories 5–8</a:t>
            </a:r>
          </a:p>
        </p:txBody>
      </p:sp>
      <p:sp>
        <p:nvSpPr>
          <p:cNvPr id="17" name="!!wb2"/>
          <p:cNvSpPr txBox="1"/>
          <p:nvPr/>
        </p:nvSpPr>
        <p:spPr>
          <a:xfrm>
            <a:off x="6217920" y="3611880"/>
            <a:ext cx="2377440" cy="1645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E6E6E"/>
                </a:solidFill>
                <a:latin typeface="Inter"/>
              </a:rPr>
              <a:t>Children lead the answers. More missions.</a:t>
            </a:r>
          </a:p>
        </p:txBody>
      </p:sp>
      <p:sp>
        <p:nvSpPr>
          <p:cNvPr id="18" name="!!dot3"/>
          <p:cNvSpPr/>
          <p:nvPr/>
        </p:nvSpPr>
        <p:spPr>
          <a:xfrm>
            <a:off x="8915400" y="2633472"/>
            <a:ext cx="219456" cy="219456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wk3"/>
          <p:cNvSpPr txBox="1"/>
          <p:nvPr/>
        </p:nvSpPr>
        <p:spPr>
          <a:xfrm>
            <a:off x="8915400" y="2103120"/>
            <a:ext cx="24688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50">
                <a:solidFill>
                  <a:srgbClr val="6E6E6E"/>
                </a:solidFill>
                <a:latin typeface="Inter"/>
              </a:rPr>
              <a:t>WEEK 4</a:t>
            </a:r>
          </a:p>
        </p:txBody>
      </p:sp>
      <p:sp>
        <p:nvSpPr>
          <p:cNvPr id="20" name="!!wh3"/>
          <p:cNvSpPr txBox="1"/>
          <p:nvPr/>
        </p:nvSpPr>
        <p:spPr>
          <a:xfrm>
            <a:off x="8915400" y="3063240"/>
            <a:ext cx="246888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11111"/>
                </a:solidFill>
                <a:latin typeface="Instrument Serif"/>
              </a:rPr>
              <a:t>Review</a:t>
            </a:r>
          </a:p>
        </p:txBody>
      </p:sp>
      <p:sp>
        <p:nvSpPr>
          <p:cNvPr id="21" name="!!wb3"/>
          <p:cNvSpPr txBox="1"/>
          <p:nvPr/>
        </p:nvSpPr>
        <p:spPr>
          <a:xfrm>
            <a:off x="8915400" y="3611880"/>
            <a:ext cx="2377440" cy="1645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E6E6E"/>
                </a:solidFill>
                <a:latin typeface="Inter"/>
              </a:rPr>
              <a:t>Teacher feedback, participation, missions approved, children’s own words — shared with you.</a:t>
            </a:r>
          </a:p>
        </p:txBody>
      </p:sp>
      <p:sp>
        <p:nvSpPr>
          <p:cNvPr id="22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6E6E6E"/>
                </a:solidFill>
                <a:latin typeface="Inter"/>
              </a:rPr>
              <a:t>Zungga  ·  School pilot proposal  ·  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6E6E6E"/>
                </a:solidFill>
                <a:latin typeface="Inter"/>
              </a:rPr>
              <a:t>TO BEGIN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896112"/>
            <a:ext cx="103327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0" i="0">
                <a:solidFill>
                  <a:srgbClr val="111111"/>
                </a:solidFill>
                <a:latin typeface="Instrument Serif"/>
              </a:rPr>
              <a:t>What we would need from you</a:t>
            </a:r>
          </a:p>
        </p:txBody>
      </p:sp>
      <p:sp>
        <p:nvSpPr>
          <p:cNvPr id="5" name="!!nn0"/>
          <p:cNvSpPr txBox="1"/>
          <p:nvPr/>
        </p:nvSpPr>
        <p:spPr>
          <a:xfrm>
            <a:off x="822960" y="2194560"/>
            <a:ext cx="82296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0" i="0">
                <a:solidFill>
                  <a:srgbClr val="111111"/>
                </a:solidFill>
                <a:latin typeface="Instrument Serif"/>
              </a:rPr>
              <a:t>01</a:t>
            </a:r>
          </a:p>
        </p:txBody>
      </p:sp>
      <p:sp>
        <p:nvSpPr>
          <p:cNvPr id="6" name="!!nt0"/>
          <p:cNvSpPr txBox="1"/>
          <p:nvPr/>
        </p:nvSpPr>
        <p:spPr>
          <a:xfrm>
            <a:off x="1737360" y="2304288"/>
            <a:ext cx="868680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111111"/>
                </a:solidFill>
                <a:latin typeface="Inter"/>
              </a:rPr>
              <a:t>A class group for the pilot — Class 3, 4 or 5</a:t>
            </a:r>
          </a:p>
        </p:txBody>
      </p:sp>
      <p:sp>
        <p:nvSpPr>
          <p:cNvPr id="7" name="!!nr0"/>
          <p:cNvSpPr/>
          <p:nvPr/>
        </p:nvSpPr>
        <p:spPr>
          <a:xfrm>
            <a:off x="1737360" y="2907791"/>
            <a:ext cx="777240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nn1"/>
          <p:cNvSpPr txBox="1"/>
          <p:nvPr/>
        </p:nvSpPr>
        <p:spPr>
          <a:xfrm>
            <a:off x="822960" y="3063239"/>
            <a:ext cx="82296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0" i="0">
                <a:solidFill>
                  <a:srgbClr val="111111"/>
                </a:solidFill>
                <a:latin typeface="Instrument Serif"/>
              </a:rPr>
              <a:t>02</a:t>
            </a:r>
          </a:p>
        </p:txBody>
      </p:sp>
      <p:sp>
        <p:nvSpPr>
          <p:cNvPr id="9" name="!!nt1"/>
          <p:cNvSpPr txBox="1"/>
          <p:nvPr/>
        </p:nvSpPr>
        <p:spPr>
          <a:xfrm>
            <a:off x="1737360" y="3172968"/>
            <a:ext cx="868680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111111"/>
                </a:solidFill>
                <a:latin typeface="Inter"/>
              </a:rPr>
              <a:t>One teacher who will champion it</a:t>
            </a:r>
          </a:p>
        </p:txBody>
      </p:sp>
      <p:sp>
        <p:nvSpPr>
          <p:cNvPr id="10" name="!!nr1"/>
          <p:cNvSpPr/>
          <p:nvPr/>
        </p:nvSpPr>
        <p:spPr>
          <a:xfrm>
            <a:off x="1737360" y="3776472"/>
            <a:ext cx="777240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nn2"/>
          <p:cNvSpPr txBox="1"/>
          <p:nvPr/>
        </p:nvSpPr>
        <p:spPr>
          <a:xfrm>
            <a:off x="822960" y="3931920"/>
            <a:ext cx="82296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0" i="0">
                <a:solidFill>
                  <a:srgbClr val="111111"/>
                </a:solidFill>
                <a:latin typeface="Instrument Serif"/>
              </a:rPr>
              <a:t>03</a:t>
            </a:r>
          </a:p>
        </p:txBody>
      </p:sp>
      <p:sp>
        <p:nvSpPr>
          <p:cNvPr id="12" name="!!nt2"/>
          <p:cNvSpPr txBox="1"/>
          <p:nvPr/>
        </p:nvSpPr>
        <p:spPr>
          <a:xfrm>
            <a:off x="1737360" y="4041648"/>
            <a:ext cx="868680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111111"/>
                </a:solidFill>
                <a:latin typeface="Inter"/>
              </a:rPr>
              <a:t>Two 15-minute slots a week</a:t>
            </a:r>
          </a:p>
        </p:txBody>
      </p:sp>
      <p:sp>
        <p:nvSpPr>
          <p:cNvPr id="13" name="!!nr2"/>
          <p:cNvSpPr/>
          <p:nvPr/>
        </p:nvSpPr>
        <p:spPr>
          <a:xfrm>
            <a:off x="1737360" y="4645152"/>
            <a:ext cx="777240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n3"/>
          <p:cNvSpPr txBox="1"/>
          <p:nvPr/>
        </p:nvSpPr>
        <p:spPr>
          <a:xfrm>
            <a:off x="822960" y="4800600"/>
            <a:ext cx="82296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0" i="0">
                <a:solidFill>
                  <a:srgbClr val="111111"/>
                </a:solidFill>
                <a:latin typeface="Instrument Serif"/>
              </a:rPr>
              <a:t>04</a:t>
            </a:r>
          </a:p>
        </p:txBody>
      </p:sp>
      <p:sp>
        <p:nvSpPr>
          <p:cNvPr id="15" name="!!nt3"/>
          <p:cNvSpPr txBox="1"/>
          <p:nvPr/>
        </p:nvSpPr>
        <p:spPr>
          <a:xfrm>
            <a:off x="1737360" y="4910328"/>
            <a:ext cx="868680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111111"/>
                </a:solidFill>
                <a:latin typeface="Inter"/>
              </a:rPr>
              <a:t>Permission to send a parent consent note</a:t>
            </a:r>
          </a:p>
        </p:txBody>
      </p:sp>
      <p:sp>
        <p:nvSpPr>
          <p:cNvPr id="16" name="!!nr3"/>
          <p:cNvSpPr/>
          <p:nvPr/>
        </p:nvSpPr>
        <p:spPr>
          <a:xfrm>
            <a:off x="1737360" y="5513832"/>
            <a:ext cx="777240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6E6E6E"/>
                </a:solidFill>
                <a:latin typeface="Inter"/>
              </a:rPr>
              <a:t>Zungga  ·  School pilot proposal  ·  19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8595360" y="0"/>
            <a:ext cx="3596335" cy="68580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head"/>
          <p:cNvSpPr txBox="1"/>
          <p:nvPr/>
        </p:nvSpPr>
        <p:spPr>
          <a:xfrm>
            <a:off x="822960" y="1828800"/>
            <a:ext cx="7589520" cy="23774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5600" b="0" i="0">
                <a:solidFill>
                  <a:srgbClr val="F7F7F5"/>
                </a:solidFill>
                <a:latin typeface="Instrument Serif"/>
              </a:rPr>
              <a:t>Together, let’s help</a:t>
            </a:r>
          </a:p>
          <a:p>
            <a:pPr algn="l">
              <a:lnSpc>
                <a:spcPct val="98000"/>
              </a:lnSpc>
            </a:pPr>
            <a:r>
              <a:rPr sz="5600" b="0" i="0">
                <a:solidFill>
                  <a:srgbClr val="F7F7F5"/>
                </a:solidFill>
                <a:latin typeface="Instrument Serif"/>
              </a:rPr>
              <a:t>every child learn to </a:t>
            </a:r>
            <a:r>
              <a:rPr sz="5600" b="0" i="1">
                <a:solidFill>
                  <a:srgbClr val="F7F7F5"/>
                </a:solidFill>
                <a:latin typeface="Instrument Serif"/>
              </a:rPr>
              <a:t>think.</a:t>
            </a:r>
          </a:p>
        </p:txBody>
      </p:sp>
      <p:sp>
        <p:nvSpPr>
          <p:cNvPr id="4" name="!!rule"/>
          <p:cNvSpPr/>
          <p:nvPr/>
        </p:nvSpPr>
        <p:spPr>
          <a:xfrm>
            <a:off x="822960" y="4160520"/>
            <a:ext cx="1280160" cy="18288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sub"/>
          <p:cNvSpPr txBox="1"/>
          <p:nvPr/>
        </p:nvSpPr>
        <p:spPr>
          <a:xfrm>
            <a:off x="822960" y="4389120"/>
            <a:ext cx="7315200" cy="1280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i="0">
                <a:solidFill>
                  <a:srgbClr val="F7F7F5"/>
                </a:solidFill>
                <a:latin typeface="Instrument Serif"/>
              </a:rPr>
              <a:t>Thank you.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BDBDBD"/>
                </a:solidFill>
                <a:latin typeface="Instrument Serif"/>
              </a:rPr>
              <a:t>[Your name]   ·   [Phone]   ·   [Email]</a:t>
            </a:r>
          </a:p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F7F7F5"/>
                </a:solidFill>
                <a:latin typeface="Instrument Serif"/>
              </a:rPr>
              <a:t>zungga.com</a:t>
            </a:r>
          </a:p>
        </p:txBody>
      </p:sp>
      <p:sp>
        <p:nvSpPr>
          <p:cNvPr id="6" name="tag"/>
          <p:cNvSpPr txBox="1"/>
          <p:nvPr/>
        </p:nvSpPr>
        <p:spPr>
          <a:xfrm>
            <a:off x="8778240" y="3063240"/>
            <a:ext cx="320040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4000" b="0" i="0">
                <a:solidFill>
                  <a:srgbClr val="F7F7F5"/>
                </a:solidFill>
                <a:latin typeface="Instrument Serif"/>
              </a:rPr>
              <a:t>Zungga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